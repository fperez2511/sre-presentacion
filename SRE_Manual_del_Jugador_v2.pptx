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6256000" cy="9144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Hoy les presento "SRE: El Manual del Jugador". La idea es sencilla: vamos a mirar las operaciones de TI como si fueran un problema de ingeniería de software, y para hacerlo más ameno lo vamos a contar como si fuera una partida de rol. Al final de la sesión van a tener las reglas básicas del juego: qué es SRE, cómo se mide la confiabilidad y cómo se decide cuándo acelerar y cuándo frenar.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empezar, una breve presentación. Soy Fabricio Perez y trabajo en UPS Costa Rica. Empecé como Ingeniero de Software en 2001, así que he visto cómo evolucionó la forma de operar sistemas desde mucho antes de que existiera el término SRE. Soy bachiller en Ingeniería Informática por la Universidad Latina y las certificaciones Microsoft Azure Solutions Architect Expert y Azure Administrator Associate, además de formación de Red Hat en microservicios con Istio y OpenShift Service Mesh. Lo que van a ver hoy es lo que he aprendido sobre cómo construir sistemas que se mantienen en pie sin que el equipo se queme. Pueden contactarme en LinkedIn: linkedin.com/in/fabperez.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el mapa del mundo. A la izquierda está el Viejo Reino: la administración de sistemas tradicional, con operaciones manuales, trabajo reactivo y un objetivo muy simple, que nada se caiga. El problema es que ese enfoque frena la innovación. A la derecha está el Nuevo Dominio: Site Reliability Engineering, que trata las operaciones como software y construye defensas automatizadas. La misión de SRE es equilibrar la velocidad de entrega de los desarrolladores con la estabilidad de los sistemas. Ni correr a ciegas ni congelar todo.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 partida empieza eligiendo clase. El Administrador de Sistemas es El Guerrero: pelea cuerpo a cuerpo contra cada incidente y reacciona al daño uno a uno, con gestión manual de servidores y scripts ad hoc. Su debilidad crítica es que escala linealmente: si la infraestructura se duplica, el equipo también. El Site Reliability Engineer es El Artífice: escribe encantamientos, o sea código, para crear defensas automatizadas, con CI/CD, infraestructura como código y observabilidad. Su ventaja es el crecimiento exponencial: el mismo código gestiona 10 o 10,000 servidores sin esfuerzo adicional.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buen manual tiene un bestiario, y nuestro monstruo principal es el Toil, el trabajo rutinario. Lo reconocen por cuatro rasgos: es manual, requiere intervención humana paso a paso; es repetitivo, como limpiar logs o reiniciar servicios; es automatizable, una máquina podría hacerlo con el script correcto; y es reactivo, resuelve el momento pero no deja mejoras arquitectónicas. Su habilidad especial es escalar linealmente: si el servicio crece al doble, el toil se duplica y devora los recursos del equipo. Por eso el primer paso siempre es identificarlo y medirlo.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Aquí aparece la regla de la economía de acción: la regla del 50%. Google establece que el toil nunca debe superar la mitad del tiempo del equipo. En la barra, la parte roja es el combate reactivo: apagar incendios, tareas manuales, despliegues sin automatizar y guardias. La parte azul es la creación de artefactos: automatizar, mejorar la observabilidad, reducir el MTTR y construir arquitectura resiliente. Si el toil supera el límite, el ingeniero entra en la condición de agotamiento: queda atrapado en la rutina, se paraliza el desarrollo de producto y el sistema queda en riesgo.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la tríada de la confiabilidad, tres conceptos que se confunden mucho. El SLI es el Sentido: el indicador crudo y real de cómo está el sistema en este instante. El SLO es el Juramento: la meta interna que hemos acordado alcanzar. Y el Presupuesto de Error es la Vida: el margen de falla aceptable antes del Game Over. Los tres juntos forman la confiabilidad. Con los siguientes slides vamos a entrar en cada uno.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Empecemos por el SLI, nuestras tiradas de percepción: ¿qué métricas observamos en la infraestructura real? Hay cuatro clásicas. Vitalidad: la disponibilidad o uptime, la proporción de solicitudes respondidas con éxito. Tiempo de reacción: la latencia, cuántos milisegundos tarda el servicio en procesar y responder. Fuerza: el rendimiento o throughput, el volumen de datos o peticiones procesadas en un intervalo. Y Precisión: la correctitud, la protección contra la corrupción y la exactitud de la información. Lo importante es medir lo que el usuario realmente siente.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SLO es el juramento de la misión: el punto de equilibrio entre velocidad y estabilidad. Es una meta numérica acordada internamente, entre Dev y Ops, que dicta cuándo aceleramos la entrega de producto y cuándo nos detenemos a estabilizar. A la derecha está la falacia del 100%: apuntar al 100% de disponibilidad es un error costoso, porque paraliza la innovación y no aporta valor real al usuario final. Cada nueve adicional cuesta mucho más y rinde cada vez menos: es el rendimiento decreciente. Por eso hablamos de 99.9% y no de perfección.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aquí sale el presupuesto de error, nuestros puntos de golpe. La cuenta es simple: 100% de perfección menos 99.9% de tu SLO es igual a 0.1% de presupuesto de error. Esa es la vida tolerable. La matriz de daño: un ataque menor, como un bug en un nuevo lanzamiento, resta HP lentamente; un daño crítico, como la caída total de la base de datos, resta cantidades masivas; y la recuperación llega con el inicio de un nuevo mes o trimestre, cuando la barra se reinicia. La regla de oro: si tienes presupuesto de error, el sistema está sano; si llega a cero, el servicio está herido de gravedad.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con eso se toman decisiones. La pregunta es una sola: ¿tenemos presupuesto de error disponible, o sea HP mayor a cero? Si la respuesta es sí, sigue explorando la mazmorra: hay autorización para lanzamientos rápidos, los desarrolladores pueden empujar nuevas funciones a producción y el riesgo operativo es aceptable. Si es no, haz un descanso largo: se congela el lanzamiento de nuevas funciones y todo el equipo, Dev y Ops, prioriza estabilidad, refactorización y pruebas de recuperación. Lo valioso es que la decisión no es una discusión política, la dicta el dato.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Ahora construimos la fortaleza, la arquitectura de confiabilidad. Son cuatro defensas y para cada una les muestro las herramientas reales que se usan hoy en AWS, Azure y GCP.</a:t>
            </a:r>
          </a:p>
          <a:p/>
          <a:p>
            <a:r>
              <a:t>1) Murallas expansibles, escalabilidad horizontal: múltiples capas que se clonan ante un pico de tráfico. AWS: EC2 Auto Scaling, Elastic Load Balancing y EKS. Azure: Virtual Machine Scale Sets, Application Gateway y AKS. GCP: Managed Instance Groups, Cloud Load Balancing y GKE.</a:t>
            </a:r>
          </a:p>
          <a:p/>
          <a:p>
            <a:r>
              <a:t>2) Torres de vigilancia, observabilidad: detección temprana de fallos con logs y métricas para reducir el MTTR. AWS: CloudWatch, X-Ray y Managed Grafana. Azure: Azure Monitor y Application Insights. GCP: Cloud Monitoring, Cloud Logging y Cloud Trace.</a:t>
            </a:r>
          </a:p>
          <a:p/>
          <a:p>
            <a:r>
              <a:t>3) Bóvedas espejo, redundancia de datos: replicar artefactos en distintas regiones para sobrevivir a un colapso. AWS: replicación entre regiones de S3, Aurora Global Database y DynamoDB Global Tables. Azure: almacenamiento geo-redundante, Cosmos DB multirregión y geo-replicación de Azure SQL. GCP: Spanner y Cloud Storage multirregión.</a:t>
            </a:r>
          </a:p>
          <a:p/>
          <a:p>
            <a:r>
              <a:t>4) Salidas de emergencia, degradación elegante: si la puerta principal cae, el castillo sigue operando funciones básicas. AWS: Route 53 con failover, CloudFront y Resilience Hub. Azure: Front Door, Traffic Manager y Chaos Studio para probarlo. GCP: Cloud Load Balancing, Cloud CDN y Cloud Service Mesh.</a:t>
            </a:r>
          </a:p>
          <a:p/>
          <a:p>
            <a:r>
              <a:t>La idea no es memorizar productos, sino ver que las tres nubes ofrecen un equivalente para cada defensa.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Juntemos todo en el mapa completo: el bucle virtuoso de SRE. Uno: automatizamos y eliminamos toil. Dos: eso libera tiempo, y los SREs se enfocan mínimo el 50% en arquitectura. Tres: aparecen sistemas resilientes, la infraestructura soporta mejor la carga. Cuatro: se preserva el presupuesto, los SLIs se mantienen dentro de los SLOs y el HP queda intacto. Cinco: con HP disponible, los desarrolladores despliegan más rápido, y eso genera más oportunidades de automatizar. En el centro está el resultado: innovación sostenible.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prepara tus dados; tres pasos que pueden dar esta semana. Paso uno: mide tu toil. Identifica esa tarea manual recurrente y audita cuánto tiempo drena de tu equipo. Paso dos: escribe tu primer SLO. Elige el flujo más crítico para el usuario, por ejemplo el login, y establece una meta realista, por ejemplo 99%. Paso tres: automatiza una defensa. Asigna a un ingeniero para reemplazar un script manual por un pipeline completamente automatizado. Su infraestructura es ahora un problema de código. Juega inteligentemente. Gracias, y quedo atento a sus preguntas.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 con esto cerramos la partida. Si se llevan una sola idea, que sea esta: la confiabilidad no es suerte ni heroísmo, es ingeniería, y se mide, se presupuesta y se automatiza. Gracias por su tiempo y su atención. Con gusto recibo sus preguntas, y pueden encontrarme en LinkedIn: linkedin.com/in/fabperez.</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hyperlink" Target="https://linkedin.com/in/fabperez" TargetMode="Externa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 descr="Ilustración de fondo de la diapositiva 1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1063255" y="6272212"/>
            <a:ext cx="14129488" cy="1133475"/>
          </a:xfrm>
          <a:prstGeom prst="rect">
            <a:avLst/>
          </a:prstGeom>
          <a:noFill/>
        </p:spPr>
        <p:txBody>
          <a:bodyPr wrap="square" lIns="0" rIns="0" tIns="0" bIns="0" anchor="t">
            <a:spAutoFit/>
          </a:bodyPr>
          <a:lstStyle/>
          <a:p>
            <a:pPr algn="ctr">
              <a:lnSpc>
                <a:spcPts val="8372"/>
              </a:lnSpc>
            </a:pPr>
            <a:r>
              <a:rPr sz="7000" b="1" i="0">
                <a:solidFill>
                  <a:srgbClr val="5B5448"/>
                </a:solidFill>
                <a:latin typeface="Georgia"/>
              </a:rPr>
              <a:t>SRE: El Manual del Jugador</a:t>
            </a:r>
          </a:p>
        </p:txBody>
      </p:sp>
      <p:sp>
        <p:nvSpPr>
          <p:cNvPr id="4" name="Texto 2"/>
          <p:cNvSpPr txBox="1"/>
          <p:nvPr/>
        </p:nvSpPr>
        <p:spPr>
          <a:xfrm>
            <a:off x="1417674" y="7960617"/>
            <a:ext cx="13420651" cy="590351"/>
          </a:xfrm>
          <a:prstGeom prst="rect">
            <a:avLst/>
          </a:prstGeom>
          <a:noFill/>
        </p:spPr>
        <p:txBody>
          <a:bodyPr wrap="square" lIns="0" rIns="0" tIns="0" bIns="0" anchor="t">
            <a:spAutoFit/>
          </a:bodyPr>
          <a:lstStyle/>
          <a:p>
            <a:pPr algn="ctr">
              <a:lnSpc>
                <a:spcPts val="4093"/>
              </a:lnSpc>
            </a:pPr>
            <a:r>
              <a:rPr sz="3350" b="0" i="0">
                <a:solidFill>
                  <a:srgbClr val="222222"/>
                </a:solidFill>
                <a:latin typeface="Arial"/>
              </a:rPr>
              <a:t>Operaciones de TI como un problema de ingeniería de software.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4" descr="Ilustración de fondo de la diapositiva 14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400" b="0" i="0">
                <a:solidFill>
                  <a:srgbClr val="2B2016"/>
                </a:solidFill>
                <a:latin typeface="Georgia"/>
              </a:rPr>
              <a:t>Conoce al presentador</a:t>
            </a:r>
          </a:p>
        </p:txBody>
      </p:sp>
      <p:sp>
        <p:nvSpPr>
          <p:cNvPr id="4" name="Texto 2"/>
          <p:cNvSpPr txBox="1"/>
          <p:nvPr/>
        </p:nvSpPr>
        <p:spPr>
          <a:xfrm>
            <a:off x="2540000" y="1891803"/>
            <a:ext cx="4690139" cy="543123"/>
          </a:xfrm>
          <a:prstGeom prst="rect">
            <a:avLst/>
          </a:prstGeom>
          <a:noFill/>
        </p:spPr>
        <p:txBody>
          <a:bodyPr wrap="square" lIns="0" rIns="0" tIns="0" bIns="0" anchor="t">
            <a:spAutoFit/>
          </a:bodyPr>
          <a:lstStyle/>
          <a:p>
            <a:pPr algn="ctr">
              <a:lnSpc>
                <a:spcPts val="3720"/>
              </a:lnSpc>
            </a:pPr>
            <a:r>
              <a:rPr sz="3150" b="0" i="0">
                <a:solidFill>
                  <a:srgbClr val="2B2016"/>
                </a:solidFill>
                <a:latin typeface="Georgia"/>
              </a:rPr>
              <a:t>Fabricio Perez</a:t>
            </a:r>
          </a:p>
        </p:txBody>
      </p:sp>
      <p:sp>
        <p:nvSpPr>
          <p:cNvPr id="5" name="Texto 3"/>
          <p:cNvSpPr txBox="1"/>
          <p:nvPr/>
        </p:nvSpPr>
        <p:spPr>
          <a:xfrm>
            <a:off x="2835348" y="2600225"/>
            <a:ext cx="4134883" cy="425053"/>
          </a:xfrm>
          <a:prstGeom prst="rect">
            <a:avLst/>
          </a:prstGeom>
          <a:noFill/>
        </p:spPr>
        <p:txBody>
          <a:bodyPr wrap="square" lIns="0" rIns="0" tIns="0" bIns="0" anchor="t">
            <a:spAutoFit/>
          </a:bodyPr>
          <a:lstStyle/>
          <a:p>
            <a:pPr algn="l">
              <a:lnSpc>
                <a:spcPts val="2790"/>
              </a:lnSpc>
            </a:pPr>
            <a:r>
              <a:rPr sz="2050" b="0" i="0">
                <a:solidFill>
                  <a:srgbClr val="2B2016"/>
                </a:solidFill>
                <a:latin typeface="Georgia"/>
              </a:rPr>
              <a:t>UPS Costa Rica</a:t>
            </a:r>
          </a:p>
        </p:txBody>
      </p:sp>
      <p:sp>
        <p:nvSpPr>
          <p:cNvPr id="6" name="Texto 4"/>
          <p:cNvSpPr txBox="1"/>
          <p:nvPr/>
        </p:nvSpPr>
        <p:spPr>
          <a:xfrm>
            <a:off x="3248837" y="3344068"/>
            <a:ext cx="1949302" cy="425053"/>
          </a:xfrm>
          <a:prstGeom prst="rect">
            <a:avLst/>
          </a:prstGeom>
          <a:noFill/>
        </p:spPr>
        <p:txBody>
          <a:bodyPr wrap="square" lIns="0" rIns="0" tIns="0" bIns="0" anchor="t">
            <a:spAutoFit/>
          </a:bodyPr>
          <a:lstStyle/>
          <a:p>
            <a:pPr algn="ctr">
              <a:lnSpc>
                <a:spcPts val="2790"/>
              </a:lnSpc>
            </a:pPr>
            <a:r>
              <a:rPr sz="2300" b="0" i="0">
                <a:solidFill>
                  <a:srgbClr val="2B2016"/>
                </a:solidFill>
                <a:latin typeface="Georgia"/>
              </a:rPr>
              <a:t>Trayectoria</a:t>
            </a:r>
          </a:p>
        </p:txBody>
      </p:sp>
      <p:sp>
        <p:nvSpPr>
          <p:cNvPr id="7" name="Texto 5"/>
          <p:cNvSpPr txBox="1"/>
          <p:nvPr/>
        </p:nvSpPr>
        <p:spPr>
          <a:xfrm>
            <a:off x="1394046" y="4002310"/>
            <a:ext cx="5398976" cy="1835993"/>
          </a:xfrm>
          <a:prstGeom prst="rect">
            <a:avLst/>
          </a:prstGeom>
          <a:noFill/>
        </p:spPr>
        <p:txBody>
          <a:bodyPr wrap="square" lIns="0" rIns="0" tIns="0" bIns="0" anchor="t">
            <a:spAutoFit/>
          </a:bodyPr>
          <a:lstStyle/>
          <a:p>
            <a:pPr algn="l" marL="283534" indent="-283534">
              <a:lnSpc>
                <a:spcPts val="2651"/>
              </a:lnSpc>
              <a:buFont typeface="Arial"/>
              <a:buChar char="•"/>
            </a:pPr>
            <a:r>
              <a:rPr sz="2000" b="0" i="0">
                <a:solidFill>
                  <a:srgbClr val="2B2016"/>
                </a:solidFill>
                <a:latin typeface="Georgia"/>
              </a:rPr>
              <a:t>Ingeniero de Software desde 2001</a:t>
            </a:r>
          </a:p>
          <a:p>
            <a:pPr algn="l" marL="283534" indent="-283534">
              <a:lnSpc>
                <a:spcPts val="2651"/>
              </a:lnSpc>
              <a:spcBef>
                <a:spcPts val="651"/>
              </a:spcBef>
              <a:buFont typeface="Arial"/>
              <a:buChar char="•"/>
            </a:pPr>
            <a:r>
              <a:rPr sz="2000" b="0" i="0">
                <a:solidFill>
                  <a:srgbClr val="2B2016"/>
                </a:solidFill>
                <a:latin typeface="Georgia"/>
              </a:rPr>
              <a:t>Hoy en UPS Costa Rica</a:t>
            </a:r>
          </a:p>
        </p:txBody>
      </p:sp>
      <p:sp>
        <p:nvSpPr>
          <p:cNvPr id="8" name="Texto 6"/>
          <p:cNvSpPr txBox="1"/>
          <p:nvPr/>
        </p:nvSpPr>
        <p:spPr>
          <a:xfrm>
            <a:off x="2776279" y="6343054"/>
            <a:ext cx="2599069" cy="472281"/>
          </a:xfrm>
          <a:prstGeom prst="rect">
            <a:avLst/>
          </a:prstGeom>
          <a:noFill/>
        </p:spPr>
        <p:txBody>
          <a:bodyPr wrap="square" lIns="0" rIns="0" tIns="0" bIns="0" anchor="t">
            <a:spAutoFit/>
          </a:bodyPr>
          <a:lstStyle/>
          <a:p>
            <a:pPr algn="ctr">
              <a:lnSpc>
                <a:spcPts val="3162"/>
              </a:lnSpc>
            </a:pPr>
            <a:r>
              <a:rPr sz="2300" b="0" i="0">
                <a:solidFill>
                  <a:srgbClr val="2B2016"/>
                </a:solidFill>
                <a:latin typeface="Georgia"/>
              </a:rPr>
              <a:t>Conecta conmigo</a:t>
            </a:r>
          </a:p>
        </p:txBody>
      </p:sp>
      <p:sp>
        <p:nvSpPr>
          <p:cNvPr id="9" name="Texto 7"/>
          <p:cNvSpPr txBox="1"/>
          <p:nvPr/>
        </p:nvSpPr>
        <p:spPr>
          <a:xfrm>
            <a:off x="1559441" y="6859612"/>
            <a:ext cx="4961860" cy="1080343"/>
          </a:xfrm>
          <a:prstGeom prst="rect">
            <a:avLst/>
          </a:prstGeom>
          <a:noFill/>
        </p:spPr>
        <p:txBody>
          <a:bodyPr wrap="square" lIns="0" rIns="0" tIns="0" bIns="0" anchor="t">
            <a:spAutoFit/>
          </a:bodyPr>
          <a:lstStyle/>
          <a:p>
            <a:pPr algn="l">
              <a:lnSpc>
                <a:spcPts val="2651"/>
              </a:lnSpc>
            </a:pPr>
            <a:r>
              <a:rPr sz="2100" b="1" i="0" u="sng">
                <a:solidFill>
                  <a:srgbClr val="2B2016"/>
                </a:solidFill>
                <a:latin typeface="Georgia"/>
                <a:hlinkClick r:id="rId3"/>
              </a:rPr>
              <a:t>linkedin.com/in/fabperez</a:t>
            </a:r>
          </a:p>
          <a:p>
            <a:pPr algn="l">
              <a:lnSpc>
                <a:spcPts val="2651"/>
              </a:lnSpc>
            </a:pPr>
            <a:r>
              <a:rPr sz="2100" b="0" i="0">
                <a:solidFill>
                  <a:srgbClr val="2B2016"/>
                </a:solidFill>
                <a:latin typeface="Georgia"/>
              </a:rPr>
              <a:t>Conversemos de SRE.</a:t>
            </a:r>
          </a:p>
        </p:txBody>
      </p:sp>
      <p:sp>
        <p:nvSpPr>
          <p:cNvPr id="10" name="Texto 8"/>
          <p:cNvSpPr txBox="1"/>
          <p:nvPr/>
        </p:nvSpPr>
        <p:spPr>
          <a:xfrm>
            <a:off x="10691627" y="1891803"/>
            <a:ext cx="4690139" cy="543123"/>
          </a:xfrm>
          <a:prstGeom prst="rect">
            <a:avLst/>
          </a:prstGeom>
          <a:noFill/>
        </p:spPr>
        <p:txBody>
          <a:bodyPr wrap="square" lIns="0" rIns="0" tIns="0" bIns="0" anchor="t">
            <a:spAutoFit/>
          </a:bodyPr>
          <a:lstStyle/>
          <a:p>
            <a:pPr algn="ctr">
              <a:lnSpc>
                <a:spcPts val="3720"/>
              </a:lnSpc>
            </a:pPr>
            <a:r>
              <a:rPr sz="3150" b="0" i="0">
                <a:solidFill>
                  <a:srgbClr val="2B2016"/>
                </a:solidFill>
                <a:latin typeface="Georgia"/>
              </a:rPr>
              <a:t>Nube y Resiliencia</a:t>
            </a:r>
          </a:p>
        </p:txBody>
      </p:sp>
      <p:sp>
        <p:nvSpPr>
          <p:cNvPr id="11" name="Texto 9"/>
          <p:cNvSpPr txBox="1"/>
          <p:nvPr/>
        </p:nvSpPr>
        <p:spPr>
          <a:xfrm>
            <a:off x="10986976" y="2600225"/>
            <a:ext cx="4134883" cy="425053"/>
          </a:xfrm>
          <a:prstGeom prst="rect">
            <a:avLst/>
          </a:prstGeom>
          <a:noFill/>
        </p:spPr>
        <p:txBody>
          <a:bodyPr wrap="square" lIns="0" rIns="0" tIns="0" bIns="0" anchor="t">
            <a:spAutoFit/>
          </a:bodyPr>
          <a:lstStyle/>
          <a:p>
            <a:pPr algn="l">
              <a:lnSpc>
                <a:spcPts val="2790"/>
              </a:lnSpc>
            </a:pPr>
            <a:r>
              <a:rPr sz="2200" b="0" i="0">
                <a:solidFill>
                  <a:srgbClr val="2B2016"/>
                </a:solidFill>
                <a:latin typeface="Georgia"/>
              </a:rPr>
              <a:t>Microservicios y Service Mesh</a:t>
            </a:r>
          </a:p>
        </p:txBody>
      </p:sp>
      <p:sp>
        <p:nvSpPr>
          <p:cNvPr id="12" name="Texto 10"/>
          <p:cNvSpPr txBox="1"/>
          <p:nvPr/>
        </p:nvSpPr>
        <p:spPr>
          <a:xfrm>
            <a:off x="11400465" y="3344068"/>
            <a:ext cx="1949302" cy="425053"/>
          </a:xfrm>
          <a:prstGeom prst="rect">
            <a:avLst/>
          </a:prstGeom>
          <a:noFill/>
        </p:spPr>
        <p:txBody>
          <a:bodyPr wrap="square" lIns="0" rIns="0" tIns="0" bIns="0" anchor="t">
            <a:spAutoFit/>
          </a:bodyPr>
          <a:lstStyle/>
          <a:p>
            <a:pPr algn="ctr">
              <a:lnSpc>
                <a:spcPts val="2790"/>
              </a:lnSpc>
            </a:pPr>
            <a:r>
              <a:rPr sz="2300" b="0" i="0">
                <a:solidFill>
                  <a:srgbClr val="2B2016"/>
                </a:solidFill>
                <a:latin typeface="Georgia"/>
              </a:rPr>
              <a:t>Credenciales</a:t>
            </a:r>
          </a:p>
        </p:txBody>
      </p:sp>
      <p:sp>
        <p:nvSpPr>
          <p:cNvPr id="13" name="Texto 11"/>
          <p:cNvSpPr txBox="1"/>
          <p:nvPr/>
        </p:nvSpPr>
        <p:spPr>
          <a:xfrm>
            <a:off x="9545674" y="4011166"/>
            <a:ext cx="5398976" cy="1771054"/>
          </a:xfrm>
          <a:prstGeom prst="rect">
            <a:avLst/>
          </a:prstGeom>
          <a:noFill/>
        </p:spPr>
        <p:txBody>
          <a:bodyPr wrap="square" lIns="0" rIns="0" tIns="0" bIns="0" anchor="t">
            <a:spAutoFit/>
          </a:bodyPr>
          <a:lstStyle/>
          <a:p>
            <a:pPr algn="l" marL="283534" indent="-283534">
              <a:lnSpc>
                <a:spcPts val="2511"/>
              </a:lnSpc>
              <a:buFont typeface="Arial"/>
              <a:buChar char="•"/>
            </a:pPr>
            <a:r>
              <a:rPr sz="1750" b="0" i="0">
                <a:solidFill>
                  <a:srgbClr val="2B2016"/>
                </a:solidFill>
                <a:latin typeface="Georgia"/>
              </a:rPr>
              <a:t>Microsoft: Azure Solutions Architect Expert</a:t>
            </a:r>
          </a:p>
          <a:p>
            <a:pPr algn="l" marL="283534" indent="-283534">
              <a:lnSpc>
                <a:spcPts val="2511"/>
              </a:lnSpc>
              <a:spcBef>
                <a:spcPts val="279"/>
              </a:spcBef>
              <a:buFont typeface="Arial"/>
              <a:buChar char="•"/>
            </a:pPr>
            <a:r>
              <a:rPr sz="1750" b="0" i="0">
                <a:solidFill>
                  <a:srgbClr val="2B2016"/>
                </a:solidFill>
                <a:latin typeface="Georgia"/>
              </a:rPr>
              <a:t>Microsoft: Azure Administrator Associate</a:t>
            </a:r>
          </a:p>
          <a:p>
            <a:pPr algn="l" marL="283534" indent="-283534">
              <a:lnSpc>
                <a:spcPts val="2511"/>
              </a:lnSpc>
              <a:spcBef>
                <a:spcPts val="279"/>
              </a:spcBef>
              <a:buFont typeface="Arial"/>
              <a:buChar char="•"/>
            </a:pPr>
            <a:r>
              <a:rPr sz="1750" b="0" i="0">
                <a:solidFill>
                  <a:srgbClr val="2B2016"/>
                </a:solidFill>
                <a:latin typeface="Georgia"/>
              </a:rPr>
              <a:t>Red Hat: Istio y OpenShift Service Mesh (DO328)</a:t>
            </a:r>
          </a:p>
          <a:p>
            <a:pPr algn="l" marL="283534" indent="-283534">
              <a:lnSpc>
                <a:spcPts val="2511"/>
              </a:lnSpc>
              <a:spcBef>
                <a:spcPts val="279"/>
              </a:spcBef>
              <a:buFont typeface="Arial"/>
              <a:buChar char="•"/>
            </a:pPr>
            <a:r>
              <a:rPr sz="1750" b="0" i="0">
                <a:solidFill>
                  <a:srgbClr val="2B2016"/>
                </a:solidFill>
                <a:latin typeface="Georgia"/>
              </a:rPr>
              <a:t>Google Cloud: fundamentos de DevOps</a:t>
            </a:r>
          </a:p>
        </p:txBody>
      </p:sp>
      <p:sp>
        <p:nvSpPr>
          <p:cNvPr id="14" name="Texto 12"/>
          <p:cNvSpPr txBox="1"/>
          <p:nvPr/>
        </p:nvSpPr>
        <p:spPr>
          <a:xfrm>
            <a:off x="10927906" y="6343054"/>
            <a:ext cx="2599069" cy="472281"/>
          </a:xfrm>
          <a:prstGeom prst="rect">
            <a:avLst/>
          </a:prstGeom>
          <a:noFill/>
        </p:spPr>
        <p:txBody>
          <a:bodyPr wrap="square" lIns="0" rIns="0" tIns="0" bIns="0" anchor="t">
            <a:spAutoFit/>
          </a:bodyPr>
          <a:lstStyle/>
          <a:p>
            <a:pPr algn="ctr">
              <a:lnSpc>
                <a:spcPts val="3162"/>
              </a:lnSpc>
            </a:pPr>
            <a:r>
              <a:rPr sz="2500" b="0" i="0">
                <a:solidFill>
                  <a:srgbClr val="2B2016"/>
                </a:solidFill>
                <a:latin typeface="Georgia"/>
              </a:rPr>
              <a:t>Formación</a:t>
            </a:r>
          </a:p>
        </p:txBody>
      </p:sp>
      <p:sp>
        <p:nvSpPr>
          <p:cNvPr id="15" name="Texto 13"/>
          <p:cNvSpPr txBox="1"/>
          <p:nvPr/>
        </p:nvSpPr>
        <p:spPr>
          <a:xfrm>
            <a:off x="9711069" y="6859612"/>
            <a:ext cx="4961860" cy="1080343"/>
          </a:xfrm>
          <a:prstGeom prst="rect">
            <a:avLst/>
          </a:prstGeom>
          <a:noFill/>
        </p:spPr>
        <p:txBody>
          <a:bodyPr wrap="square" lIns="0" rIns="0" tIns="0" bIns="0" anchor="t">
            <a:spAutoFit/>
          </a:bodyPr>
          <a:lstStyle/>
          <a:p>
            <a:pPr algn="l">
              <a:lnSpc>
                <a:spcPts val="2651"/>
              </a:lnSpc>
            </a:pPr>
            <a:r>
              <a:rPr sz="2100" b="0" i="0">
                <a:solidFill>
                  <a:srgbClr val="2B2016"/>
                </a:solidFill>
                <a:latin typeface="Georgia"/>
              </a:rPr>
              <a:t>Bachillerato en Ingeniería Informática, Universidad Latina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2" descr="Ilustración de fondo de la diapositiva 2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5020930" y="4028876"/>
            <a:ext cx="6320465" cy="1204317"/>
          </a:xfrm>
          <a:prstGeom prst="rect">
            <a:avLst/>
          </a:prstGeom>
          <a:noFill/>
        </p:spPr>
        <p:txBody>
          <a:bodyPr wrap="square" lIns="0" rIns="0" tIns="0" bIns="0" anchor="t">
            <a:spAutoFit/>
          </a:bodyPr>
          <a:lstStyle/>
          <a:p>
            <a:pPr algn="ctr">
              <a:lnSpc>
                <a:spcPts val="2976"/>
              </a:lnSpc>
            </a:pPr>
            <a:r>
              <a:rPr sz="2350" b="0" i="0">
                <a:solidFill>
                  <a:srgbClr val="2B2016"/>
                </a:solidFill>
                <a:latin typeface="Georgia"/>
              </a:rPr>
              <a:t>La misión de SRE es equilibrar la velocidad de entrega de los desarrolladores con la estabilidad de los sistemas.</a:t>
            </a:r>
          </a:p>
        </p:txBody>
      </p:sp>
      <p:sp>
        <p:nvSpPr>
          <p:cNvPr id="4" name="Texto 2"/>
          <p:cNvSpPr txBox="1"/>
          <p:nvPr/>
        </p:nvSpPr>
        <p:spPr>
          <a:xfrm>
            <a:off x="1772093" y="6402089"/>
            <a:ext cx="4489302" cy="448667"/>
          </a:xfrm>
          <a:prstGeom prst="rect">
            <a:avLst/>
          </a:prstGeom>
          <a:noFill/>
        </p:spPr>
        <p:txBody>
          <a:bodyPr wrap="square" lIns="0" rIns="0" tIns="0" bIns="0" anchor="t">
            <a:spAutoFit/>
          </a:bodyPr>
          <a:lstStyle/>
          <a:p>
            <a:pPr algn="ctr">
              <a:lnSpc>
                <a:spcPts val="2976"/>
              </a:lnSpc>
            </a:pPr>
            <a:r>
              <a:rPr sz="2400" b="0" i="0">
                <a:solidFill>
                  <a:srgbClr val="2B2016"/>
                </a:solidFill>
                <a:latin typeface="Georgia"/>
              </a:rPr>
              <a:t>El Viejo Reino: SysAdmin</a:t>
            </a:r>
          </a:p>
        </p:txBody>
      </p:sp>
      <p:sp>
        <p:nvSpPr>
          <p:cNvPr id="5" name="Texto 3"/>
          <p:cNvSpPr txBox="1"/>
          <p:nvPr/>
        </p:nvSpPr>
        <p:spPr>
          <a:xfrm>
            <a:off x="9923720" y="6402089"/>
            <a:ext cx="4489302" cy="448667"/>
          </a:xfrm>
          <a:prstGeom prst="rect">
            <a:avLst/>
          </a:prstGeom>
          <a:noFill/>
        </p:spPr>
        <p:txBody>
          <a:bodyPr wrap="square" lIns="0" rIns="0" tIns="0" bIns="0" anchor="t">
            <a:spAutoFit/>
          </a:bodyPr>
          <a:lstStyle/>
          <a:p>
            <a:pPr algn="ctr">
              <a:lnSpc>
                <a:spcPts val="2976"/>
              </a:lnSpc>
            </a:pPr>
            <a:r>
              <a:rPr sz="2300" b="0" i="0">
                <a:solidFill>
                  <a:srgbClr val="2B2016"/>
                </a:solidFill>
                <a:latin typeface="Georgia"/>
              </a:rPr>
              <a:t>El Nuevo Dominio: SRE</a:t>
            </a:r>
          </a:p>
        </p:txBody>
      </p:sp>
      <p:sp>
        <p:nvSpPr>
          <p:cNvPr id="6" name="Texto 4"/>
          <p:cNvSpPr txBox="1"/>
          <p:nvPr/>
        </p:nvSpPr>
        <p:spPr>
          <a:xfrm>
            <a:off x="1228651" y="6911563"/>
            <a:ext cx="5505302" cy="1588045"/>
          </a:xfrm>
          <a:prstGeom prst="rect">
            <a:avLst/>
          </a:prstGeom>
          <a:noFill/>
        </p:spPr>
        <p:txBody>
          <a:bodyPr wrap="square" lIns="0" rIns="0" tIns="0" bIns="0" anchor="t">
            <a:spAutoFit/>
          </a:bodyPr>
          <a:lstStyle/>
          <a:p>
            <a:pPr algn="l" marL="283534" indent="-283534">
              <a:lnSpc>
                <a:spcPts val="2390"/>
              </a:lnSpc>
              <a:buFont typeface="Arial"/>
              <a:buChar char="•"/>
            </a:pPr>
            <a:r>
              <a:rPr sz="2100" b="0" i="0">
                <a:solidFill>
                  <a:srgbClr val="2B2016"/>
                </a:solidFill>
                <a:latin typeface="Georgia"/>
              </a:rPr>
              <a:t>Enfoque tradicional</a:t>
            </a:r>
          </a:p>
          <a:p>
            <a:pPr algn="l" marL="283534" indent="-283534">
              <a:lnSpc>
                <a:spcPts val="2390"/>
              </a:lnSpc>
              <a:buFont typeface="Arial"/>
              <a:buChar char="•"/>
            </a:pPr>
            <a:r>
              <a:rPr sz="2100" b="0" i="0">
                <a:solidFill>
                  <a:srgbClr val="2B2016"/>
                </a:solidFill>
                <a:latin typeface="Georgia"/>
              </a:rPr>
              <a:t>Operaciones manuales</a:t>
            </a:r>
          </a:p>
          <a:p>
            <a:pPr algn="l" marL="283534" indent="-283534">
              <a:lnSpc>
                <a:spcPts val="2390"/>
              </a:lnSpc>
              <a:buFont typeface="Arial"/>
              <a:buChar char="•"/>
            </a:pPr>
            <a:r>
              <a:rPr sz="2100" b="0" i="0">
                <a:solidFill>
                  <a:srgbClr val="2B2016"/>
                </a:solidFill>
                <a:latin typeface="Georgia"/>
              </a:rPr>
              <a:t>Trabajo reactivo</a:t>
            </a:r>
          </a:p>
          <a:p>
            <a:pPr algn="l" marL="283534" indent="-283534">
              <a:lnSpc>
                <a:spcPts val="2390"/>
              </a:lnSpc>
              <a:buFont typeface="Arial"/>
              <a:buChar char="•"/>
            </a:pPr>
            <a:r>
              <a:rPr sz="2100" b="0" i="0">
                <a:solidFill>
                  <a:srgbClr val="2B2016"/>
                </a:solidFill>
                <a:latin typeface="Georgia"/>
              </a:rPr>
              <a:t>Objetivo: Que nada se caiga</a:t>
            </a:r>
          </a:p>
          <a:p>
            <a:pPr algn="l" marL="283534" indent="-283534">
              <a:lnSpc>
                <a:spcPts val="2390"/>
              </a:lnSpc>
              <a:buFont typeface="Arial"/>
              <a:buChar char="•"/>
            </a:pPr>
            <a:r>
              <a:rPr sz="2100" b="0" i="0">
                <a:solidFill>
                  <a:srgbClr val="2B2016"/>
                </a:solidFill>
                <a:latin typeface="Georgia"/>
              </a:rPr>
              <a:t>Frena la innovación</a:t>
            </a:r>
          </a:p>
        </p:txBody>
      </p:sp>
      <p:sp>
        <p:nvSpPr>
          <p:cNvPr id="7" name="Texto 5"/>
          <p:cNvSpPr txBox="1"/>
          <p:nvPr/>
        </p:nvSpPr>
        <p:spPr>
          <a:xfrm>
            <a:off x="9498418" y="6911563"/>
            <a:ext cx="5505302" cy="1588045"/>
          </a:xfrm>
          <a:prstGeom prst="rect">
            <a:avLst/>
          </a:prstGeom>
          <a:noFill/>
        </p:spPr>
        <p:txBody>
          <a:bodyPr wrap="square" lIns="0" rIns="0" tIns="0" bIns="0" anchor="t">
            <a:spAutoFit/>
          </a:bodyPr>
          <a:lstStyle/>
          <a:p>
            <a:pPr algn="l" marL="283534" indent="-283534">
              <a:lnSpc>
                <a:spcPts val="2390"/>
              </a:lnSpc>
              <a:buFont typeface="Arial"/>
              <a:buChar char="•"/>
            </a:pPr>
            <a:r>
              <a:rPr sz="2100" b="0" i="0">
                <a:solidFill>
                  <a:srgbClr val="2B2016"/>
                </a:solidFill>
                <a:latin typeface="Georgia"/>
              </a:rPr>
              <a:t>Site Reliability Engineering</a:t>
            </a:r>
          </a:p>
          <a:p>
            <a:pPr algn="l" marL="283534" indent="-283534">
              <a:lnSpc>
                <a:spcPts val="2390"/>
              </a:lnSpc>
              <a:buFont typeface="Arial"/>
              <a:buChar char="•"/>
            </a:pPr>
            <a:r>
              <a:rPr sz="2100" b="0" i="0">
                <a:solidFill>
                  <a:srgbClr val="2B2016"/>
                </a:solidFill>
                <a:latin typeface="Georgia"/>
              </a:rPr>
              <a:t>Operaciones como software</a:t>
            </a:r>
          </a:p>
          <a:p>
            <a:pPr algn="l" marL="283534" indent="-283534">
              <a:lnSpc>
                <a:spcPts val="2390"/>
              </a:lnSpc>
              <a:buFont typeface="Arial"/>
              <a:buChar char="•"/>
            </a:pPr>
            <a:r>
              <a:rPr sz="2100" b="0" i="0">
                <a:solidFill>
                  <a:srgbClr val="2B2016"/>
                </a:solidFill>
                <a:latin typeface="Georgia"/>
              </a:rPr>
              <a:t>Defensas automatizadas</a:t>
            </a:r>
          </a:p>
          <a:p>
            <a:pPr algn="l" marL="283534" indent="-283534">
              <a:lnSpc>
                <a:spcPts val="2390"/>
              </a:lnSpc>
              <a:buFont typeface="Arial"/>
              <a:buChar char="•"/>
            </a:pPr>
            <a:r>
              <a:rPr sz="2100" b="0" i="0">
                <a:solidFill>
                  <a:srgbClr val="2B2016"/>
                </a:solidFill>
                <a:latin typeface="Georgia"/>
              </a:rPr>
              <a:t>Objetivo: Resiliencia a escala</a:t>
            </a:r>
          </a:p>
          <a:p>
            <a:pPr algn="l" marL="283534" indent="-283534">
              <a:lnSpc>
                <a:spcPts val="2390"/>
              </a:lnSpc>
              <a:buFont typeface="Arial"/>
              <a:buChar char="•"/>
            </a:pPr>
            <a:r>
              <a:rPr sz="2100" b="0" i="0">
                <a:solidFill>
                  <a:srgbClr val="2B2016"/>
                </a:solidFill>
                <a:latin typeface="Georgia"/>
              </a:rPr>
              <a:t>Acelera el desarrollo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3" descr="Ilustración de fondo de la diapositiva 3 (sin texto)"/>
          <p:cNvPicPr>
            <a:picLocks noChangeAspect="1"/>
          </p:cNvPicPr>
          <p:nvPr/>
        </p:nvPicPr>
        <p:blipFill>
          <a:blip r:embed="rId2"/>
          <a:stretch>
            <a:fillRect/>
          </a:stretch>
        </p:blipFill>
        <p:spPr>
          <a:xfrm>
            <a:off x="0" y="38100"/>
            <a:ext cx="16256000" cy="9067800"/>
          </a:xfrm>
          <a:prstGeom prst="rect">
            <a:avLst/>
          </a:prstGeom>
        </p:spPr>
      </p:pic>
      <p:sp>
        <p:nvSpPr>
          <p:cNvPr id="3" name="Texto 2"/>
          <p:cNvSpPr txBox="1"/>
          <p:nvPr/>
        </p:nvSpPr>
        <p:spPr>
          <a:xfrm>
            <a:off x="3544186" y="463153"/>
            <a:ext cx="9167627" cy="590351"/>
          </a:xfrm>
          <a:prstGeom prst="rect">
            <a:avLst/>
          </a:prstGeom>
          <a:noFill/>
        </p:spPr>
        <p:txBody>
          <a:bodyPr wrap="square" lIns="0" rIns="0" tIns="0" bIns="0" anchor="t">
            <a:spAutoFit/>
          </a:bodyPr>
          <a:lstStyle/>
          <a:p>
            <a:pPr algn="ctr">
              <a:lnSpc>
                <a:spcPts val="4093"/>
              </a:lnSpc>
            </a:pPr>
            <a:r>
              <a:rPr sz="2800" b="0" i="0">
                <a:solidFill>
                  <a:srgbClr val="2B2016"/>
                </a:solidFill>
                <a:latin typeface="Georgia"/>
              </a:rPr>
              <a:t>Selección de Clase: El Guerrero vs. El Artífice</a:t>
            </a:r>
          </a:p>
        </p:txBody>
      </p:sp>
      <p:sp>
        <p:nvSpPr>
          <p:cNvPr id="4" name="Texto 3"/>
          <p:cNvSpPr txBox="1"/>
          <p:nvPr/>
        </p:nvSpPr>
        <p:spPr>
          <a:xfrm>
            <a:off x="2540000" y="1891803"/>
            <a:ext cx="4690139" cy="543123"/>
          </a:xfrm>
          <a:prstGeom prst="rect">
            <a:avLst/>
          </a:prstGeom>
          <a:noFill/>
        </p:spPr>
        <p:txBody>
          <a:bodyPr wrap="square" lIns="0" rIns="0" tIns="0" bIns="0" anchor="t">
            <a:spAutoFit/>
          </a:bodyPr>
          <a:lstStyle/>
          <a:p>
            <a:pPr algn="ctr">
              <a:lnSpc>
                <a:spcPts val="3720"/>
              </a:lnSpc>
            </a:pPr>
            <a:r>
              <a:rPr sz="2950" b="0" i="0">
                <a:solidFill>
                  <a:srgbClr val="2B2016"/>
                </a:solidFill>
                <a:latin typeface="Georgia"/>
              </a:rPr>
              <a:t>Administrador de Sistemas</a:t>
            </a:r>
          </a:p>
        </p:txBody>
      </p:sp>
      <p:sp>
        <p:nvSpPr>
          <p:cNvPr id="5" name="Texto 4"/>
          <p:cNvSpPr txBox="1"/>
          <p:nvPr/>
        </p:nvSpPr>
        <p:spPr>
          <a:xfrm>
            <a:off x="2835348" y="2600225"/>
            <a:ext cx="4134883" cy="425053"/>
          </a:xfrm>
          <a:prstGeom prst="rect">
            <a:avLst/>
          </a:prstGeom>
          <a:noFill/>
        </p:spPr>
        <p:txBody>
          <a:bodyPr wrap="square" lIns="0" rIns="0" tIns="0" bIns="0" anchor="t">
            <a:spAutoFit/>
          </a:bodyPr>
          <a:lstStyle/>
          <a:p>
            <a:pPr algn="l">
              <a:lnSpc>
                <a:spcPts val="2790"/>
              </a:lnSpc>
            </a:pPr>
            <a:r>
              <a:rPr sz="2250" b="0" i="0">
                <a:solidFill>
                  <a:srgbClr val="2B2016"/>
                </a:solidFill>
                <a:latin typeface="Georgia"/>
              </a:rPr>
              <a:t>Clase: El Guerrero</a:t>
            </a:r>
          </a:p>
        </p:txBody>
      </p:sp>
      <p:sp>
        <p:nvSpPr>
          <p:cNvPr id="6" name="Texto 5"/>
          <p:cNvSpPr txBox="1"/>
          <p:nvPr/>
        </p:nvSpPr>
        <p:spPr>
          <a:xfrm>
            <a:off x="3248837" y="3344068"/>
            <a:ext cx="1949302" cy="425053"/>
          </a:xfrm>
          <a:prstGeom prst="rect">
            <a:avLst/>
          </a:prstGeom>
          <a:noFill/>
        </p:spPr>
        <p:txBody>
          <a:bodyPr wrap="square" lIns="0" rIns="0" tIns="0" bIns="0" anchor="t">
            <a:spAutoFit/>
          </a:bodyPr>
          <a:lstStyle/>
          <a:p>
            <a:pPr algn="ctr">
              <a:lnSpc>
                <a:spcPts val="2790"/>
              </a:lnSpc>
            </a:pPr>
            <a:r>
              <a:rPr sz="2400" b="0" i="0">
                <a:solidFill>
                  <a:srgbClr val="2B2016"/>
                </a:solidFill>
                <a:latin typeface="Georgia"/>
              </a:rPr>
              <a:t>Atributos</a:t>
            </a:r>
          </a:p>
        </p:txBody>
      </p:sp>
      <p:sp>
        <p:nvSpPr>
          <p:cNvPr id="7" name="Texto 6"/>
          <p:cNvSpPr txBox="1"/>
          <p:nvPr/>
        </p:nvSpPr>
        <p:spPr>
          <a:xfrm>
            <a:off x="1394046" y="3943275"/>
            <a:ext cx="5753395" cy="1859607"/>
          </a:xfrm>
          <a:prstGeom prst="rect">
            <a:avLst/>
          </a:prstGeom>
          <a:noFill/>
        </p:spPr>
        <p:txBody>
          <a:bodyPr wrap="square" lIns="0" rIns="0" tIns="0" bIns="0" anchor="t">
            <a:spAutoFit/>
          </a:bodyPr>
          <a:lstStyle/>
          <a:p>
            <a:pPr algn="l">
              <a:lnSpc>
                <a:spcPts val="2651"/>
              </a:lnSpc>
            </a:pPr>
            <a:r>
              <a:rPr sz="2000" b="1" i="0">
                <a:solidFill>
                  <a:srgbClr val="2B2016"/>
                </a:solidFill>
                <a:latin typeface="Georgia"/>
              </a:rPr>
              <a:t>Estilo de Combate:</a:t>
            </a:r>
          </a:p>
          <a:p>
            <a:pPr algn="l">
              <a:lnSpc>
                <a:spcPts val="2651"/>
              </a:lnSpc>
            </a:pPr>
            <a:r>
              <a:rPr sz="2000" b="0" i="0">
                <a:solidFill>
                  <a:srgbClr val="2B2016"/>
                </a:solidFill>
                <a:latin typeface="Georgia"/>
              </a:rPr>
              <a:t>Lucha cuerpo a cuerpo contra incidentes. Reacciona al daño uno a uno.</a:t>
            </a:r>
          </a:p>
          <a:p>
            <a:pPr algn="l">
              <a:lnSpc>
                <a:spcPts val="2651"/>
              </a:lnSpc>
              <a:spcBef>
                <a:spcPts val="837"/>
              </a:spcBef>
            </a:pPr>
            <a:r>
              <a:rPr sz="2000" b="1" i="0">
                <a:solidFill>
                  <a:srgbClr val="2B2016"/>
                </a:solidFill>
                <a:latin typeface="Georgia"/>
              </a:rPr>
              <a:t>Táctica: </a:t>
            </a:r>
            <a:r>
              <a:rPr sz="2000" b="0" i="0">
                <a:solidFill>
                  <a:srgbClr val="2B2016"/>
                </a:solidFill>
                <a:latin typeface="Georgia"/>
              </a:rPr>
              <a:t>Gestión manual de servidores y configuración de scripts ad hoc.</a:t>
            </a:r>
          </a:p>
        </p:txBody>
      </p:sp>
      <p:sp>
        <p:nvSpPr>
          <p:cNvPr id="8" name="Texto 7"/>
          <p:cNvSpPr txBox="1"/>
          <p:nvPr/>
        </p:nvSpPr>
        <p:spPr>
          <a:xfrm>
            <a:off x="2776279" y="6343054"/>
            <a:ext cx="2599069" cy="472281"/>
          </a:xfrm>
          <a:prstGeom prst="rect">
            <a:avLst/>
          </a:prstGeom>
          <a:noFill/>
        </p:spPr>
        <p:txBody>
          <a:bodyPr wrap="square" lIns="0" rIns="0" tIns="0" bIns="0" anchor="t">
            <a:spAutoFit/>
          </a:bodyPr>
          <a:lstStyle/>
          <a:p>
            <a:pPr algn="ctr">
              <a:lnSpc>
                <a:spcPts val="3162"/>
              </a:lnSpc>
            </a:pPr>
            <a:r>
              <a:rPr sz="2400" b="0" i="0">
                <a:solidFill>
                  <a:srgbClr val="2B2016"/>
                </a:solidFill>
                <a:latin typeface="Georgia"/>
              </a:rPr>
              <a:t>Debilidad Crítica</a:t>
            </a:r>
          </a:p>
        </p:txBody>
      </p:sp>
      <p:sp>
        <p:nvSpPr>
          <p:cNvPr id="9" name="Texto 8"/>
          <p:cNvSpPr txBox="1"/>
          <p:nvPr/>
        </p:nvSpPr>
        <p:spPr>
          <a:xfrm>
            <a:off x="1559441" y="6859612"/>
            <a:ext cx="4961860" cy="1416843"/>
          </a:xfrm>
          <a:prstGeom prst="rect">
            <a:avLst/>
          </a:prstGeom>
          <a:noFill/>
        </p:spPr>
        <p:txBody>
          <a:bodyPr wrap="square" lIns="0" rIns="0" tIns="0" bIns="0" anchor="t">
            <a:spAutoFit/>
          </a:bodyPr>
          <a:lstStyle/>
          <a:p>
            <a:pPr algn="l">
              <a:lnSpc>
                <a:spcPts val="2651"/>
              </a:lnSpc>
            </a:pPr>
            <a:r>
              <a:rPr sz="2000" b="1" i="0">
                <a:solidFill>
                  <a:srgbClr val="2B2016"/>
                </a:solidFill>
                <a:latin typeface="Georgia"/>
              </a:rPr>
              <a:t>Escala Linealmente.</a:t>
            </a:r>
          </a:p>
          <a:p>
            <a:pPr algn="l">
              <a:lnSpc>
                <a:spcPts val="2651"/>
              </a:lnSpc>
            </a:pPr>
            <a:r>
              <a:rPr sz="2000" b="0" i="0">
                <a:solidFill>
                  <a:srgbClr val="2B2016"/>
                </a:solidFill>
                <a:latin typeface="Georgia"/>
              </a:rPr>
              <a:t>Si la infraestructura se duplica, el tamaño del equipo debe duplicarse para mantener el ritmo.</a:t>
            </a:r>
          </a:p>
        </p:txBody>
      </p:sp>
      <p:sp>
        <p:nvSpPr>
          <p:cNvPr id="10" name="Texto 9"/>
          <p:cNvSpPr txBox="1"/>
          <p:nvPr/>
        </p:nvSpPr>
        <p:spPr>
          <a:xfrm>
            <a:off x="10691627" y="1891803"/>
            <a:ext cx="4690139" cy="543123"/>
          </a:xfrm>
          <a:prstGeom prst="rect">
            <a:avLst/>
          </a:prstGeom>
          <a:noFill/>
        </p:spPr>
        <p:txBody>
          <a:bodyPr wrap="square" lIns="0" rIns="0" tIns="0" bIns="0" anchor="t">
            <a:spAutoFit/>
          </a:bodyPr>
          <a:lstStyle/>
          <a:p>
            <a:pPr algn="ctr">
              <a:lnSpc>
                <a:spcPts val="3720"/>
              </a:lnSpc>
            </a:pPr>
            <a:r>
              <a:rPr sz="2950" b="0" i="0">
                <a:solidFill>
                  <a:srgbClr val="2B2016"/>
                </a:solidFill>
                <a:latin typeface="Georgia"/>
              </a:rPr>
              <a:t>Site Reliability Engineer</a:t>
            </a:r>
          </a:p>
        </p:txBody>
      </p:sp>
      <p:sp>
        <p:nvSpPr>
          <p:cNvPr id="11" name="Texto 10"/>
          <p:cNvSpPr txBox="1"/>
          <p:nvPr/>
        </p:nvSpPr>
        <p:spPr>
          <a:xfrm>
            <a:off x="10986976" y="2600225"/>
            <a:ext cx="4134883" cy="425053"/>
          </a:xfrm>
          <a:prstGeom prst="rect">
            <a:avLst/>
          </a:prstGeom>
          <a:noFill/>
        </p:spPr>
        <p:txBody>
          <a:bodyPr wrap="square" lIns="0" rIns="0" tIns="0" bIns="0" anchor="t">
            <a:spAutoFit/>
          </a:bodyPr>
          <a:lstStyle/>
          <a:p>
            <a:pPr algn="l">
              <a:lnSpc>
                <a:spcPts val="2790"/>
              </a:lnSpc>
            </a:pPr>
            <a:r>
              <a:rPr sz="2250" b="0" i="0">
                <a:solidFill>
                  <a:srgbClr val="2B2016"/>
                </a:solidFill>
                <a:latin typeface="Georgia"/>
              </a:rPr>
              <a:t>Clase: El Artífice</a:t>
            </a:r>
          </a:p>
        </p:txBody>
      </p:sp>
      <p:sp>
        <p:nvSpPr>
          <p:cNvPr id="12" name="Texto 11"/>
          <p:cNvSpPr txBox="1"/>
          <p:nvPr/>
        </p:nvSpPr>
        <p:spPr>
          <a:xfrm>
            <a:off x="11400465" y="3344068"/>
            <a:ext cx="1949302" cy="425053"/>
          </a:xfrm>
          <a:prstGeom prst="rect">
            <a:avLst/>
          </a:prstGeom>
          <a:noFill/>
        </p:spPr>
        <p:txBody>
          <a:bodyPr wrap="square" lIns="0" rIns="0" tIns="0" bIns="0" anchor="t">
            <a:spAutoFit/>
          </a:bodyPr>
          <a:lstStyle/>
          <a:p>
            <a:pPr algn="ctr">
              <a:lnSpc>
                <a:spcPts val="2790"/>
              </a:lnSpc>
            </a:pPr>
            <a:r>
              <a:rPr sz="2400" b="0" i="0">
                <a:solidFill>
                  <a:srgbClr val="2B2016"/>
                </a:solidFill>
                <a:latin typeface="Georgia"/>
              </a:rPr>
              <a:t>Atributos</a:t>
            </a:r>
          </a:p>
        </p:txBody>
      </p:sp>
      <p:sp>
        <p:nvSpPr>
          <p:cNvPr id="13" name="Texto 12"/>
          <p:cNvSpPr txBox="1"/>
          <p:nvPr/>
        </p:nvSpPr>
        <p:spPr>
          <a:xfrm>
            <a:off x="9545674" y="3943275"/>
            <a:ext cx="5753395" cy="1859607"/>
          </a:xfrm>
          <a:prstGeom prst="rect">
            <a:avLst/>
          </a:prstGeom>
          <a:noFill/>
        </p:spPr>
        <p:txBody>
          <a:bodyPr wrap="square" lIns="0" rIns="0" tIns="0" bIns="0" anchor="t">
            <a:spAutoFit/>
          </a:bodyPr>
          <a:lstStyle/>
          <a:p>
            <a:pPr algn="l">
              <a:lnSpc>
                <a:spcPts val="2651"/>
              </a:lnSpc>
            </a:pPr>
            <a:r>
              <a:rPr sz="2000" b="1" i="0">
                <a:solidFill>
                  <a:srgbClr val="2B2016"/>
                </a:solidFill>
                <a:latin typeface="Georgia"/>
              </a:rPr>
              <a:t>Estilo de Combate:</a:t>
            </a:r>
          </a:p>
          <a:p>
            <a:pPr algn="l">
              <a:lnSpc>
                <a:spcPts val="2651"/>
              </a:lnSpc>
            </a:pPr>
            <a:r>
              <a:rPr sz="2000" b="0" i="0">
                <a:solidFill>
                  <a:srgbClr val="2B2016"/>
                </a:solidFill>
                <a:latin typeface="Georgia"/>
              </a:rPr>
              <a:t>Escribe encantamientos (código) para crear defensas automatizadas.</a:t>
            </a:r>
          </a:p>
          <a:p>
            <a:pPr algn="l">
              <a:lnSpc>
                <a:spcPts val="2651"/>
              </a:lnSpc>
              <a:spcBef>
                <a:spcPts val="837"/>
              </a:spcBef>
            </a:pPr>
            <a:r>
              <a:rPr sz="2000" b="1" i="0">
                <a:solidFill>
                  <a:srgbClr val="2B2016"/>
                </a:solidFill>
                <a:latin typeface="Georgia"/>
              </a:rPr>
              <a:t>Táctica: </a:t>
            </a:r>
            <a:r>
              <a:rPr sz="2000" b="0" i="0">
                <a:solidFill>
                  <a:srgbClr val="2B2016"/>
                </a:solidFill>
                <a:latin typeface="Georgia"/>
              </a:rPr>
              <a:t>Implementa CI/CD, infraestructura como código y observabilidad.</a:t>
            </a:r>
          </a:p>
        </p:txBody>
      </p:sp>
      <p:sp>
        <p:nvSpPr>
          <p:cNvPr id="14" name="Texto 13"/>
          <p:cNvSpPr txBox="1"/>
          <p:nvPr/>
        </p:nvSpPr>
        <p:spPr>
          <a:xfrm>
            <a:off x="10927906" y="6343054"/>
            <a:ext cx="2599069" cy="472281"/>
          </a:xfrm>
          <a:prstGeom prst="rect">
            <a:avLst/>
          </a:prstGeom>
          <a:noFill/>
        </p:spPr>
        <p:txBody>
          <a:bodyPr wrap="square" lIns="0" rIns="0" tIns="0" bIns="0" anchor="t">
            <a:spAutoFit/>
          </a:bodyPr>
          <a:lstStyle/>
          <a:p>
            <a:pPr algn="ctr">
              <a:lnSpc>
                <a:spcPts val="3162"/>
              </a:lnSpc>
            </a:pPr>
            <a:r>
              <a:rPr sz="2400" b="0" i="0">
                <a:solidFill>
                  <a:srgbClr val="2B2016"/>
                </a:solidFill>
                <a:latin typeface="Georgia"/>
              </a:rPr>
              <a:t>Ventaja Principal</a:t>
            </a:r>
          </a:p>
        </p:txBody>
      </p:sp>
      <p:sp>
        <p:nvSpPr>
          <p:cNvPr id="15" name="Texto 14"/>
          <p:cNvSpPr txBox="1"/>
          <p:nvPr/>
        </p:nvSpPr>
        <p:spPr>
          <a:xfrm>
            <a:off x="9711069" y="6859612"/>
            <a:ext cx="4961860" cy="1416843"/>
          </a:xfrm>
          <a:prstGeom prst="rect">
            <a:avLst/>
          </a:prstGeom>
          <a:noFill/>
        </p:spPr>
        <p:txBody>
          <a:bodyPr wrap="square" lIns="0" rIns="0" tIns="0" bIns="0" anchor="t">
            <a:spAutoFit/>
          </a:bodyPr>
          <a:lstStyle/>
          <a:p>
            <a:pPr algn="l">
              <a:lnSpc>
                <a:spcPts val="2651"/>
              </a:lnSpc>
            </a:pPr>
            <a:r>
              <a:rPr sz="2000" b="1" i="0">
                <a:solidFill>
                  <a:srgbClr val="2B2016"/>
                </a:solidFill>
                <a:latin typeface="Georgia"/>
              </a:rPr>
              <a:t>Crecimiento Exponencial.</a:t>
            </a:r>
          </a:p>
          <a:p>
            <a:pPr algn="l">
              <a:lnSpc>
                <a:spcPts val="2651"/>
              </a:lnSpc>
            </a:pPr>
            <a:r>
              <a:rPr sz="2000" b="0" i="0">
                <a:solidFill>
                  <a:srgbClr val="2B2016"/>
                </a:solidFill>
                <a:latin typeface="Georgia"/>
              </a:rPr>
              <a:t>El mismo código gestiona eficientemente 10 o 10,000 servidores sin esfuerzo adicional.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4" descr="Ilustración de fondo de la diapositiva 4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200" b="0" i="0">
                <a:solidFill>
                  <a:srgbClr val="2B2016"/>
                </a:solidFill>
                <a:latin typeface="Georgia"/>
              </a:rPr>
              <a:t>El Bestiario: El Toil (Trabajo Rutinario)</a:t>
            </a:r>
          </a:p>
        </p:txBody>
      </p:sp>
      <p:sp>
        <p:nvSpPr>
          <p:cNvPr id="4" name="Texto 2"/>
          <p:cNvSpPr txBox="1"/>
          <p:nvPr/>
        </p:nvSpPr>
        <p:spPr>
          <a:xfrm>
            <a:off x="9155813" y="1809154"/>
            <a:ext cx="2658139" cy="543123"/>
          </a:xfrm>
          <a:prstGeom prst="rect">
            <a:avLst/>
          </a:prstGeom>
          <a:noFill/>
        </p:spPr>
        <p:txBody>
          <a:bodyPr wrap="square" lIns="0" rIns="0" tIns="0" bIns="0" anchor="t">
            <a:spAutoFit/>
          </a:bodyPr>
          <a:lstStyle/>
          <a:p>
            <a:pPr algn="l">
              <a:lnSpc>
                <a:spcPts val="3720"/>
              </a:lnSpc>
            </a:pPr>
            <a:r>
              <a:rPr sz="2850" b="1" i="0">
                <a:solidFill>
                  <a:srgbClr val="7A2418"/>
                </a:solidFill>
                <a:latin typeface="Georgia"/>
              </a:rPr>
              <a:t>Toil</a:t>
            </a:r>
          </a:p>
        </p:txBody>
      </p:sp>
      <p:sp>
        <p:nvSpPr>
          <p:cNvPr id="5" name="Texto 3"/>
          <p:cNvSpPr txBox="1"/>
          <p:nvPr/>
        </p:nvSpPr>
        <p:spPr>
          <a:xfrm>
            <a:off x="9155813" y="2257821"/>
            <a:ext cx="5966046" cy="425053"/>
          </a:xfrm>
          <a:prstGeom prst="rect">
            <a:avLst/>
          </a:prstGeom>
          <a:noFill/>
        </p:spPr>
        <p:txBody>
          <a:bodyPr wrap="square" lIns="0" rIns="0" tIns="0" bIns="0" anchor="t">
            <a:spAutoFit/>
          </a:bodyPr>
          <a:lstStyle/>
          <a:p>
            <a:pPr algn="l">
              <a:lnSpc>
                <a:spcPts val="2790"/>
              </a:lnSpc>
            </a:pPr>
            <a:r>
              <a:rPr sz="2350" b="0" i="1">
                <a:solidFill>
                  <a:srgbClr val="2B2016"/>
                </a:solidFill>
                <a:latin typeface="Georgia"/>
              </a:rPr>
              <a:t>Enemigo de enjambre (Infraestructura)</a:t>
            </a:r>
          </a:p>
        </p:txBody>
      </p:sp>
      <p:sp>
        <p:nvSpPr>
          <p:cNvPr id="6" name="Texto 4"/>
          <p:cNvSpPr txBox="1"/>
          <p:nvPr/>
        </p:nvSpPr>
        <p:spPr>
          <a:xfrm>
            <a:off x="9155813" y="2833414"/>
            <a:ext cx="5966046" cy="696614"/>
          </a:xfrm>
          <a:prstGeom prst="rect">
            <a:avLst/>
          </a:prstGeom>
          <a:noFill/>
        </p:spPr>
        <p:txBody>
          <a:bodyPr wrap="square" lIns="0" rIns="0" tIns="0" bIns="0" anchor="t">
            <a:spAutoFit/>
          </a:bodyPr>
          <a:lstStyle/>
          <a:p>
            <a:pPr algn="l">
              <a:lnSpc>
                <a:spcPts val="2465"/>
              </a:lnSpc>
            </a:pPr>
            <a:r>
              <a:rPr sz="2050" b="1" i="0">
                <a:solidFill>
                  <a:srgbClr val="2B2016"/>
                </a:solidFill>
                <a:latin typeface="Georgia"/>
              </a:rPr>
              <a:t>Definición: </a:t>
            </a:r>
            <a:r>
              <a:rPr sz="2050" b="0" i="0">
                <a:solidFill>
                  <a:srgbClr val="2B2016"/>
                </a:solidFill>
                <a:latin typeface="Georgia"/>
              </a:rPr>
              <a:t>Trabajo operativo que carece de valor duradero.</a:t>
            </a:r>
          </a:p>
        </p:txBody>
      </p:sp>
      <p:sp>
        <p:nvSpPr>
          <p:cNvPr id="7" name="Texto 5"/>
          <p:cNvSpPr txBox="1"/>
          <p:nvPr/>
        </p:nvSpPr>
        <p:spPr>
          <a:xfrm>
            <a:off x="9592930" y="3718941"/>
            <a:ext cx="5528930" cy="696614"/>
          </a:xfrm>
          <a:prstGeom prst="rect">
            <a:avLst/>
          </a:prstGeom>
          <a:noFill/>
        </p:spPr>
        <p:txBody>
          <a:bodyPr wrap="square" lIns="0" rIns="0" tIns="0" bIns="0" anchor="t">
            <a:spAutoFit/>
          </a:bodyPr>
          <a:lstStyle/>
          <a:p>
            <a:pPr algn="l">
              <a:lnSpc>
                <a:spcPts val="2465"/>
              </a:lnSpc>
            </a:pPr>
            <a:r>
              <a:rPr sz="2050" b="1" i="0">
                <a:solidFill>
                  <a:srgbClr val="2B2016"/>
                </a:solidFill>
                <a:latin typeface="Georgia"/>
              </a:rPr>
              <a:t>Manual</a:t>
            </a:r>
            <a:r>
              <a:rPr sz="2050" b="0" i="0">
                <a:solidFill>
                  <a:srgbClr val="2B2016"/>
                </a:solidFill>
                <a:latin typeface="Georgia"/>
              </a:rPr>
              <a:t>: Requiere intervención humana paso a paso.</a:t>
            </a:r>
          </a:p>
        </p:txBody>
      </p:sp>
      <p:sp>
        <p:nvSpPr>
          <p:cNvPr id="8" name="Texto 6"/>
          <p:cNvSpPr txBox="1"/>
          <p:nvPr/>
        </p:nvSpPr>
        <p:spPr>
          <a:xfrm>
            <a:off x="9592930" y="4356521"/>
            <a:ext cx="5528930" cy="696614"/>
          </a:xfrm>
          <a:prstGeom prst="rect">
            <a:avLst/>
          </a:prstGeom>
          <a:noFill/>
        </p:spPr>
        <p:txBody>
          <a:bodyPr wrap="square" lIns="0" rIns="0" tIns="0" bIns="0" anchor="t">
            <a:spAutoFit/>
          </a:bodyPr>
          <a:lstStyle/>
          <a:p>
            <a:pPr algn="l">
              <a:lnSpc>
                <a:spcPts val="2465"/>
              </a:lnSpc>
            </a:pPr>
            <a:r>
              <a:rPr sz="2050" b="1" i="0">
                <a:solidFill>
                  <a:srgbClr val="2B2016"/>
                </a:solidFill>
                <a:latin typeface="Georgia"/>
              </a:rPr>
              <a:t>Repetitivo</a:t>
            </a:r>
            <a:r>
              <a:rPr sz="2050" b="0" i="0">
                <a:solidFill>
                  <a:srgbClr val="2B2016"/>
                </a:solidFill>
                <a:latin typeface="Georgia"/>
              </a:rPr>
              <a:t>: Tareas recurrentes (ej. limpiar logs, reiniciar servicios).</a:t>
            </a:r>
          </a:p>
        </p:txBody>
      </p:sp>
      <p:sp>
        <p:nvSpPr>
          <p:cNvPr id="9" name="Texto 7"/>
          <p:cNvSpPr txBox="1"/>
          <p:nvPr/>
        </p:nvSpPr>
        <p:spPr>
          <a:xfrm>
            <a:off x="9592930" y="5029522"/>
            <a:ext cx="5528930" cy="696614"/>
          </a:xfrm>
          <a:prstGeom prst="rect">
            <a:avLst/>
          </a:prstGeom>
          <a:noFill/>
        </p:spPr>
        <p:txBody>
          <a:bodyPr wrap="square" lIns="0" rIns="0" tIns="0" bIns="0" anchor="t">
            <a:spAutoFit/>
          </a:bodyPr>
          <a:lstStyle/>
          <a:p>
            <a:pPr algn="l">
              <a:lnSpc>
                <a:spcPts val="2465"/>
              </a:lnSpc>
            </a:pPr>
            <a:r>
              <a:rPr sz="2050" b="1" i="0">
                <a:solidFill>
                  <a:srgbClr val="2B2016"/>
                </a:solidFill>
                <a:latin typeface="Georgia"/>
              </a:rPr>
              <a:t>Automatizable</a:t>
            </a:r>
            <a:r>
              <a:rPr sz="2050" b="0" i="0">
                <a:solidFill>
                  <a:srgbClr val="2B2016"/>
                </a:solidFill>
                <a:latin typeface="Georgia"/>
              </a:rPr>
              <a:t>: Una máquina podría hacerlo con el script correcto.</a:t>
            </a:r>
          </a:p>
        </p:txBody>
      </p:sp>
      <p:sp>
        <p:nvSpPr>
          <p:cNvPr id="10" name="Texto 8"/>
          <p:cNvSpPr txBox="1"/>
          <p:nvPr/>
        </p:nvSpPr>
        <p:spPr>
          <a:xfrm>
            <a:off x="9592930" y="5667102"/>
            <a:ext cx="5528930" cy="696614"/>
          </a:xfrm>
          <a:prstGeom prst="rect">
            <a:avLst/>
          </a:prstGeom>
          <a:noFill/>
        </p:spPr>
        <p:txBody>
          <a:bodyPr wrap="square" lIns="0" rIns="0" tIns="0" bIns="0" anchor="t">
            <a:spAutoFit/>
          </a:bodyPr>
          <a:lstStyle/>
          <a:p>
            <a:pPr algn="l">
              <a:lnSpc>
                <a:spcPts val="2465"/>
              </a:lnSpc>
            </a:pPr>
            <a:r>
              <a:rPr sz="2050" b="1" i="0">
                <a:solidFill>
                  <a:srgbClr val="2B2016"/>
                </a:solidFill>
                <a:latin typeface="Georgia"/>
              </a:rPr>
              <a:t>Reactivo</a:t>
            </a:r>
            <a:r>
              <a:rPr sz="2050" b="0" i="0">
                <a:solidFill>
                  <a:srgbClr val="2B2016"/>
                </a:solidFill>
                <a:latin typeface="Georgia"/>
              </a:rPr>
              <a:t>: Resuelve el momento, no deja mejoras arquitectónicas.</a:t>
            </a:r>
          </a:p>
        </p:txBody>
      </p:sp>
      <p:sp>
        <p:nvSpPr>
          <p:cNvPr id="11" name="Texto 9"/>
          <p:cNvSpPr txBox="1"/>
          <p:nvPr/>
        </p:nvSpPr>
        <p:spPr>
          <a:xfrm>
            <a:off x="9356651" y="6555581"/>
            <a:ext cx="5670697" cy="425053"/>
          </a:xfrm>
          <a:prstGeom prst="rect">
            <a:avLst/>
          </a:prstGeom>
          <a:noFill/>
        </p:spPr>
        <p:txBody>
          <a:bodyPr wrap="square" lIns="0" rIns="0" tIns="0" bIns="0" anchor="t">
            <a:spAutoFit/>
          </a:bodyPr>
          <a:lstStyle/>
          <a:p>
            <a:pPr algn="l">
              <a:lnSpc>
                <a:spcPts val="2790"/>
              </a:lnSpc>
            </a:pPr>
            <a:r>
              <a:rPr sz="2350" b="1" i="0">
                <a:solidFill>
                  <a:srgbClr val="2B2016"/>
                </a:solidFill>
                <a:latin typeface="Georgia"/>
              </a:rPr>
              <a:t>Habilidad Especial del Monstruo</a:t>
            </a:r>
          </a:p>
        </p:txBody>
      </p:sp>
      <p:sp>
        <p:nvSpPr>
          <p:cNvPr id="12" name="Texto 10"/>
          <p:cNvSpPr txBox="1"/>
          <p:nvPr/>
        </p:nvSpPr>
        <p:spPr>
          <a:xfrm>
            <a:off x="9356651" y="6936358"/>
            <a:ext cx="5670697" cy="1275159"/>
          </a:xfrm>
          <a:prstGeom prst="rect">
            <a:avLst/>
          </a:prstGeom>
          <a:noFill/>
        </p:spPr>
        <p:txBody>
          <a:bodyPr wrap="square" lIns="0" rIns="0" tIns="0" bIns="0" anchor="t">
            <a:spAutoFit/>
          </a:bodyPr>
          <a:lstStyle/>
          <a:p>
            <a:pPr algn="l">
              <a:lnSpc>
                <a:spcPts val="2372"/>
              </a:lnSpc>
            </a:pPr>
            <a:r>
              <a:rPr sz="2000" b="1" i="0">
                <a:solidFill>
                  <a:srgbClr val="2B2016"/>
                </a:solidFill>
                <a:latin typeface="Georgia"/>
              </a:rPr>
              <a:t>Escala Linealmente</a:t>
            </a:r>
            <a:r>
              <a:rPr sz="2000" b="0" i="0">
                <a:solidFill>
                  <a:srgbClr val="2B2016"/>
                </a:solidFill>
                <a:latin typeface="Georgia"/>
              </a:rPr>
              <a:t>: Si el servicio crece al doble, la cantidad de toil se duplica instantáneamente, devorando los recursos del equipo.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5" descr="Ilustración de fondo de la diapositiva 5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050" b="0" i="0">
                <a:solidFill>
                  <a:srgbClr val="2B2016"/>
                </a:solidFill>
                <a:latin typeface="Georgia"/>
              </a:rPr>
              <a:t>La Economía de Acción: La Regla del 50%</a:t>
            </a:r>
          </a:p>
        </p:txBody>
      </p:sp>
      <p:sp>
        <p:nvSpPr>
          <p:cNvPr id="4" name="Texto 2"/>
          <p:cNvSpPr txBox="1"/>
          <p:nvPr/>
        </p:nvSpPr>
        <p:spPr>
          <a:xfrm>
            <a:off x="1181395" y="1879996"/>
            <a:ext cx="6438604" cy="401439"/>
          </a:xfrm>
          <a:prstGeom prst="rect">
            <a:avLst/>
          </a:prstGeom>
          <a:noFill/>
        </p:spPr>
        <p:txBody>
          <a:bodyPr wrap="square" lIns="0" rIns="0" tIns="0" bIns="0" anchor="t">
            <a:spAutoFit/>
          </a:bodyPr>
          <a:lstStyle/>
          <a:p>
            <a:pPr algn="l">
              <a:lnSpc>
                <a:spcPts val="2604"/>
              </a:lnSpc>
            </a:pPr>
            <a:r>
              <a:rPr sz="2350" b="1" i="0">
                <a:solidFill>
                  <a:srgbClr val="2B2016"/>
                </a:solidFill>
                <a:latin typeface="Georgia"/>
              </a:rPr>
              <a:t>Combate Reactivo</a:t>
            </a:r>
          </a:p>
        </p:txBody>
      </p:sp>
      <p:sp>
        <p:nvSpPr>
          <p:cNvPr id="5" name="Texto 3"/>
          <p:cNvSpPr txBox="1"/>
          <p:nvPr/>
        </p:nvSpPr>
        <p:spPr>
          <a:xfrm>
            <a:off x="1181395" y="2251918"/>
            <a:ext cx="6438604" cy="956369"/>
          </a:xfrm>
          <a:prstGeom prst="rect">
            <a:avLst/>
          </a:prstGeom>
          <a:noFill/>
        </p:spPr>
        <p:txBody>
          <a:bodyPr wrap="square" lIns="0" rIns="0" tIns="0" bIns="0" anchor="t">
            <a:spAutoFit/>
          </a:bodyPr>
          <a:lstStyle/>
          <a:p>
            <a:pPr algn="l">
              <a:lnSpc>
                <a:spcPts val="2325"/>
              </a:lnSpc>
            </a:pPr>
            <a:r>
              <a:rPr sz="1950" b="0" i="0">
                <a:solidFill>
                  <a:srgbClr val="2B2016"/>
                </a:solidFill>
                <a:latin typeface="Georgia"/>
              </a:rPr>
              <a:t>Apagar incendios, tareas manuales, despliegues sin automatizar y guardias (on-call). Google establece que esto nunca debe superar la mitad del tiempo.</a:t>
            </a:r>
          </a:p>
        </p:txBody>
      </p:sp>
      <p:sp>
        <p:nvSpPr>
          <p:cNvPr id="6" name="Texto 4"/>
          <p:cNvSpPr txBox="1"/>
          <p:nvPr/>
        </p:nvSpPr>
        <p:spPr>
          <a:xfrm>
            <a:off x="10514418" y="1891803"/>
            <a:ext cx="4725581" cy="401439"/>
          </a:xfrm>
          <a:prstGeom prst="rect">
            <a:avLst/>
          </a:prstGeom>
          <a:noFill/>
        </p:spPr>
        <p:txBody>
          <a:bodyPr wrap="square" lIns="0" rIns="0" tIns="0" bIns="0" anchor="t">
            <a:spAutoFit/>
          </a:bodyPr>
          <a:lstStyle/>
          <a:p>
            <a:pPr algn="l">
              <a:lnSpc>
                <a:spcPts val="2604"/>
              </a:lnSpc>
            </a:pPr>
            <a:r>
              <a:rPr sz="2300" b="1" i="0">
                <a:solidFill>
                  <a:srgbClr val="2B2016"/>
                </a:solidFill>
                <a:latin typeface="Georgia"/>
              </a:rPr>
              <a:t>Creación de Artefactos</a:t>
            </a:r>
          </a:p>
        </p:txBody>
      </p:sp>
      <p:sp>
        <p:nvSpPr>
          <p:cNvPr id="7" name="Texto 5"/>
          <p:cNvSpPr txBox="1"/>
          <p:nvPr/>
        </p:nvSpPr>
        <p:spPr>
          <a:xfrm>
            <a:off x="10514418" y="2251918"/>
            <a:ext cx="4725581" cy="1251545"/>
          </a:xfrm>
          <a:prstGeom prst="rect">
            <a:avLst/>
          </a:prstGeom>
          <a:noFill/>
        </p:spPr>
        <p:txBody>
          <a:bodyPr wrap="square" lIns="0" rIns="0" tIns="0" bIns="0" anchor="t">
            <a:spAutoFit/>
          </a:bodyPr>
          <a:lstStyle/>
          <a:p>
            <a:pPr algn="l">
              <a:lnSpc>
                <a:spcPts val="2325"/>
              </a:lnSpc>
            </a:pPr>
            <a:r>
              <a:rPr sz="1950" b="0" i="0">
                <a:solidFill>
                  <a:srgbClr val="2B2016"/>
                </a:solidFill>
                <a:latin typeface="Georgia"/>
              </a:rPr>
              <a:t>Automatizar procesos, mejorar la observabilidad, reducir el MTTR y construir arquitectura resiliente a largo plazo.</a:t>
            </a:r>
          </a:p>
        </p:txBody>
      </p:sp>
      <p:sp>
        <p:nvSpPr>
          <p:cNvPr id="8" name="Texto 6"/>
          <p:cNvSpPr txBox="1"/>
          <p:nvPr/>
        </p:nvSpPr>
        <p:spPr>
          <a:xfrm>
            <a:off x="6615813" y="3615630"/>
            <a:ext cx="3024372" cy="425053"/>
          </a:xfrm>
          <a:prstGeom prst="rect">
            <a:avLst/>
          </a:prstGeom>
          <a:noFill/>
        </p:spPr>
        <p:txBody>
          <a:bodyPr wrap="square" lIns="0" rIns="0" tIns="0" bIns="0" anchor="t">
            <a:spAutoFit/>
          </a:bodyPr>
          <a:lstStyle/>
          <a:p>
            <a:pPr algn="ctr">
              <a:lnSpc>
                <a:spcPts val="2790"/>
              </a:lnSpc>
            </a:pPr>
            <a:r>
              <a:rPr sz="2250" b="0" i="0">
                <a:solidFill>
                  <a:srgbClr val="F7F0DC"/>
                </a:solidFill>
                <a:latin typeface="Georgia"/>
              </a:rPr>
              <a:t>Stamina/Action Points</a:t>
            </a:r>
          </a:p>
        </p:txBody>
      </p:sp>
      <p:sp>
        <p:nvSpPr>
          <p:cNvPr id="9" name="Texto 7"/>
          <p:cNvSpPr txBox="1"/>
          <p:nvPr/>
        </p:nvSpPr>
        <p:spPr>
          <a:xfrm>
            <a:off x="3071627" y="4471640"/>
            <a:ext cx="2953488" cy="897334"/>
          </a:xfrm>
          <a:prstGeom prst="rect">
            <a:avLst/>
          </a:prstGeom>
          <a:noFill/>
        </p:spPr>
        <p:txBody>
          <a:bodyPr wrap="square" lIns="0" rIns="0" tIns="0" bIns="0" anchor="t">
            <a:spAutoFit/>
          </a:bodyPr>
          <a:lstStyle/>
          <a:p>
            <a:pPr algn="ctr">
              <a:lnSpc>
                <a:spcPts val="3255"/>
              </a:lnSpc>
            </a:pPr>
            <a:r>
              <a:rPr sz="2700" b="0" i="0">
                <a:solidFill>
                  <a:srgbClr val="F7EEE4"/>
                </a:solidFill>
                <a:latin typeface="Georgia"/>
              </a:rPr>
              <a:t>Toil</a:t>
            </a:r>
          </a:p>
          <a:p>
            <a:pPr algn="ctr">
              <a:lnSpc>
                <a:spcPts val="3255"/>
              </a:lnSpc>
            </a:pPr>
            <a:r>
              <a:rPr sz="2700" b="0" i="0">
                <a:solidFill>
                  <a:srgbClr val="F7EEE4"/>
                </a:solidFill>
                <a:latin typeface="Georgia"/>
              </a:rPr>
              <a:t>(Máx 50%)</a:t>
            </a:r>
          </a:p>
        </p:txBody>
      </p:sp>
      <p:sp>
        <p:nvSpPr>
          <p:cNvPr id="10" name="Texto 8"/>
          <p:cNvSpPr txBox="1"/>
          <p:nvPr/>
        </p:nvSpPr>
        <p:spPr>
          <a:xfrm>
            <a:off x="10278139" y="4471640"/>
            <a:ext cx="3071627" cy="897334"/>
          </a:xfrm>
          <a:prstGeom prst="rect">
            <a:avLst/>
          </a:prstGeom>
          <a:noFill/>
        </p:spPr>
        <p:txBody>
          <a:bodyPr wrap="square" lIns="0" rIns="0" tIns="0" bIns="0" anchor="t">
            <a:spAutoFit/>
          </a:bodyPr>
          <a:lstStyle/>
          <a:p>
            <a:pPr algn="ctr">
              <a:lnSpc>
                <a:spcPts val="3255"/>
              </a:lnSpc>
            </a:pPr>
            <a:r>
              <a:rPr sz="2700" b="0" i="0">
                <a:solidFill>
                  <a:srgbClr val="F0EAF7"/>
                </a:solidFill>
                <a:latin typeface="Georgia"/>
              </a:rPr>
              <a:t>Ingeniería</a:t>
            </a:r>
          </a:p>
          <a:p>
            <a:pPr algn="ctr">
              <a:lnSpc>
                <a:spcPts val="3255"/>
              </a:lnSpc>
            </a:pPr>
            <a:r>
              <a:rPr sz="2700" b="0" i="0">
                <a:solidFill>
                  <a:srgbClr val="F0EAF7"/>
                </a:solidFill>
                <a:latin typeface="Georgia"/>
              </a:rPr>
              <a:t>(Mín 50%)</a:t>
            </a:r>
          </a:p>
        </p:txBody>
      </p:sp>
      <p:sp>
        <p:nvSpPr>
          <p:cNvPr id="11" name="Texto 9"/>
          <p:cNvSpPr txBox="1"/>
          <p:nvPr/>
        </p:nvSpPr>
        <p:spPr>
          <a:xfrm>
            <a:off x="7820837" y="4725491"/>
            <a:ext cx="637953" cy="401439"/>
          </a:xfrm>
          <a:prstGeom prst="rect">
            <a:avLst/>
          </a:prstGeom>
          <a:noFill/>
        </p:spPr>
        <p:txBody>
          <a:bodyPr wrap="square" lIns="0" rIns="0" tIns="0" bIns="0" anchor="t">
            <a:spAutoFit/>
          </a:bodyPr>
          <a:lstStyle/>
          <a:p>
            <a:pPr algn="ctr">
              <a:lnSpc>
                <a:spcPts val="2604"/>
              </a:lnSpc>
            </a:pPr>
            <a:r>
              <a:rPr sz="1950" b="1" i="0">
                <a:solidFill>
                  <a:srgbClr val="F7F0DC"/>
                </a:solidFill>
                <a:latin typeface="Georgia"/>
              </a:rPr>
              <a:t>50%</a:t>
            </a:r>
          </a:p>
        </p:txBody>
      </p:sp>
      <p:sp>
        <p:nvSpPr>
          <p:cNvPr id="12" name="Texto 10"/>
          <p:cNvSpPr txBox="1"/>
          <p:nvPr/>
        </p:nvSpPr>
        <p:spPr>
          <a:xfrm>
            <a:off x="4961860" y="7204967"/>
            <a:ext cx="6379534" cy="472281"/>
          </a:xfrm>
          <a:prstGeom prst="rect">
            <a:avLst/>
          </a:prstGeom>
          <a:noFill/>
        </p:spPr>
        <p:txBody>
          <a:bodyPr wrap="square" lIns="0" rIns="0" tIns="0" bIns="0" anchor="t">
            <a:spAutoFit/>
          </a:bodyPr>
          <a:lstStyle/>
          <a:p>
            <a:pPr algn="ctr">
              <a:lnSpc>
                <a:spcPts val="3162"/>
              </a:lnSpc>
            </a:pPr>
            <a:r>
              <a:rPr sz="2500" b="1" i="0">
                <a:solidFill>
                  <a:srgbClr val="2B2016"/>
                </a:solidFill>
                <a:latin typeface="Georgia"/>
              </a:rPr>
              <a:t>Condición: Agotamiento</a:t>
            </a:r>
            <a:r>
              <a:rPr sz="2500" b="0" i="0">
                <a:solidFill>
                  <a:srgbClr val="2B2016"/>
                </a:solidFill>
                <a:latin typeface="Georgia"/>
              </a:rPr>
              <a:t> (Exhaustion)</a:t>
            </a:r>
          </a:p>
        </p:txBody>
      </p:sp>
      <p:sp>
        <p:nvSpPr>
          <p:cNvPr id="13" name="Texto 11"/>
          <p:cNvSpPr txBox="1"/>
          <p:nvPr/>
        </p:nvSpPr>
        <p:spPr>
          <a:xfrm>
            <a:off x="3957674" y="7621165"/>
            <a:ext cx="8506046" cy="720228"/>
          </a:xfrm>
          <a:prstGeom prst="rect">
            <a:avLst/>
          </a:prstGeom>
          <a:noFill/>
        </p:spPr>
        <p:txBody>
          <a:bodyPr wrap="square" lIns="0" rIns="0" tIns="0" bIns="0" anchor="t">
            <a:spAutoFit/>
          </a:bodyPr>
          <a:lstStyle/>
          <a:p>
            <a:pPr algn="ctr">
              <a:lnSpc>
                <a:spcPts val="2558"/>
              </a:lnSpc>
            </a:pPr>
            <a:r>
              <a:rPr sz="1950" b="0" i="0">
                <a:solidFill>
                  <a:srgbClr val="2B2016"/>
                </a:solidFill>
                <a:latin typeface="Georgia"/>
              </a:rPr>
              <a:t>Si el Toil supera el límite, el ingeniero queda atrapado en la rutina, paralizando el desarrollo de producto y poniendo en riesgo el sistema.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6" descr="Ilustración de fondo de la diapositiva 6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600" b="0" i="0">
                <a:solidFill>
                  <a:srgbClr val="2B2016"/>
                </a:solidFill>
                <a:latin typeface="Georgia"/>
              </a:rPr>
              <a:t>La Tríada de la Confiabilidad</a:t>
            </a:r>
          </a:p>
        </p:txBody>
      </p:sp>
      <p:sp>
        <p:nvSpPr>
          <p:cNvPr id="4" name="Texto 2"/>
          <p:cNvSpPr txBox="1"/>
          <p:nvPr/>
        </p:nvSpPr>
        <p:spPr>
          <a:xfrm>
            <a:off x="1535813" y="2068909"/>
            <a:ext cx="4075813" cy="425053"/>
          </a:xfrm>
          <a:prstGeom prst="rect">
            <a:avLst/>
          </a:prstGeom>
          <a:noFill/>
        </p:spPr>
        <p:txBody>
          <a:bodyPr wrap="square" lIns="0" rIns="0" tIns="0" bIns="0" anchor="t">
            <a:spAutoFit/>
          </a:bodyPr>
          <a:lstStyle/>
          <a:p>
            <a:pPr algn="r">
              <a:lnSpc>
                <a:spcPts val="2790"/>
              </a:lnSpc>
            </a:pPr>
            <a:r>
              <a:rPr sz="2550" b="1" i="0">
                <a:solidFill>
                  <a:srgbClr val="2B2016"/>
                </a:solidFill>
                <a:latin typeface="Georgia"/>
              </a:rPr>
              <a:t>SLI</a:t>
            </a:r>
            <a:r>
              <a:rPr sz="2550" b="0" i="0">
                <a:solidFill>
                  <a:srgbClr val="2B2016"/>
                </a:solidFill>
                <a:latin typeface="Georgia"/>
              </a:rPr>
              <a:t> (El Sentido)</a:t>
            </a:r>
          </a:p>
        </p:txBody>
      </p:sp>
      <p:sp>
        <p:nvSpPr>
          <p:cNvPr id="5" name="Texto 3"/>
          <p:cNvSpPr txBox="1"/>
          <p:nvPr/>
        </p:nvSpPr>
        <p:spPr>
          <a:xfrm>
            <a:off x="1535813" y="2446734"/>
            <a:ext cx="4111255" cy="684807"/>
          </a:xfrm>
          <a:prstGeom prst="rect">
            <a:avLst/>
          </a:prstGeom>
          <a:noFill/>
        </p:spPr>
        <p:txBody>
          <a:bodyPr wrap="square" lIns="0" rIns="0" tIns="0" bIns="0" anchor="t">
            <a:spAutoFit/>
          </a:bodyPr>
          <a:lstStyle/>
          <a:p>
            <a:pPr algn="r">
              <a:lnSpc>
                <a:spcPts val="2418"/>
              </a:lnSpc>
            </a:pPr>
            <a:r>
              <a:rPr sz="2000" b="0" i="0">
                <a:solidFill>
                  <a:srgbClr val="2B2016"/>
                </a:solidFill>
                <a:latin typeface="Georgia"/>
              </a:rPr>
              <a:t>El indicador crudo y real del sistema en este instante.</a:t>
            </a:r>
          </a:p>
        </p:txBody>
      </p:sp>
      <p:sp>
        <p:nvSpPr>
          <p:cNvPr id="6" name="Texto 4"/>
          <p:cNvSpPr txBox="1"/>
          <p:nvPr/>
        </p:nvSpPr>
        <p:spPr>
          <a:xfrm>
            <a:off x="472558" y="6366668"/>
            <a:ext cx="3721395" cy="425053"/>
          </a:xfrm>
          <a:prstGeom prst="rect">
            <a:avLst/>
          </a:prstGeom>
          <a:noFill/>
        </p:spPr>
        <p:txBody>
          <a:bodyPr wrap="square" lIns="0" rIns="0" tIns="0" bIns="0" anchor="t">
            <a:spAutoFit/>
          </a:bodyPr>
          <a:lstStyle/>
          <a:p>
            <a:pPr algn="r">
              <a:lnSpc>
                <a:spcPts val="2790"/>
              </a:lnSpc>
            </a:pPr>
            <a:r>
              <a:rPr sz="2600" b="1" i="0">
                <a:solidFill>
                  <a:srgbClr val="2B2016"/>
                </a:solidFill>
                <a:latin typeface="Georgia"/>
              </a:rPr>
              <a:t>SLO</a:t>
            </a:r>
            <a:r>
              <a:rPr sz="2600" b="0" i="0">
                <a:solidFill>
                  <a:srgbClr val="2B2016"/>
                </a:solidFill>
                <a:latin typeface="Georgia"/>
              </a:rPr>
              <a:t> (El Juramento)</a:t>
            </a:r>
          </a:p>
        </p:txBody>
      </p:sp>
      <p:sp>
        <p:nvSpPr>
          <p:cNvPr id="7" name="Texto 5"/>
          <p:cNvSpPr txBox="1"/>
          <p:nvPr/>
        </p:nvSpPr>
        <p:spPr>
          <a:xfrm>
            <a:off x="472558" y="6759252"/>
            <a:ext cx="3756837" cy="720228"/>
          </a:xfrm>
          <a:prstGeom prst="rect">
            <a:avLst/>
          </a:prstGeom>
          <a:noFill/>
        </p:spPr>
        <p:txBody>
          <a:bodyPr wrap="square" lIns="0" rIns="0" tIns="0" bIns="0" anchor="t">
            <a:spAutoFit/>
          </a:bodyPr>
          <a:lstStyle/>
          <a:p>
            <a:pPr algn="r">
              <a:lnSpc>
                <a:spcPts val="2558"/>
              </a:lnSpc>
            </a:pPr>
            <a:r>
              <a:rPr sz="2000" b="0" i="0">
                <a:solidFill>
                  <a:srgbClr val="2B2016"/>
                </a:solidFill>
                <a:latin typeface="Georgia"/>
              </a:rPr>
              <a:t>La meta interna que hemos acordado alcanzar.</a:t>
            </a:r>
          </a:p>
        </p:txBody>
      </p:sp>
      <p:sp>
        <p:nvSpPr>
          <p:cNvPr id="8" name="Texto 6"/>
          <p:cNvSpPr txBox="1"/>
          <p:nvPr/>
        </p:nvSpPr>
        <p:spPr>
          <a:xfrm>
            <a:off x="12227441" y="6089203"/>
            <a:ext cx="3012558" cy="755650"/>
          </a:xfrm>
          <a:prstGeom prst="rect">
            <a:avLst/>
          </a:prstGeom>
          <a:noFill/>
        </p:spPr>
        <p:txBody>
          <a:bodyPr wrap="square" lIns="0" rIns="0" tIns="0" bIns="0" anchor="t">
            <a:spAutoFit/>
          </a:bodyPr>
          <a:lstStyle/>
          <a:p>
            <a:pPr algn="l">
              <a:lnSpc>
                <a:spcPts val="2697"/>
              </a:lnSpc>
            </a:pPr>
            <a:r>
              <a:rPr sz="2250" b="1" i="0">
                <a:solidFill>
                  <a:srgbClr val="2B2016"/>
                </a:solidFill>
                <a:latin typeface="Georgia"/>
              </a:rPr>
              <a:t>Presupuesto de Error</a:t>
            </a:r>
            <a:r>
              <a:rPr sz="2250" b="0" i="0">
                <a:solidFill>
                  <a:srgbClr val="2B2016"/>
                </a:solidFill>
                <a:latin typeface="Georgia"/>
              </a:rPr>
              <a:t> (La Vida)</a:t>
            </a:r>
          </a:p>
        </p:txBody>
      </p:sp>
      <p:sp>
        <p:nvSpPr>
          <p:cNvPr id="9" name="Texto 7"/>
          <p:cNvSpPr txBox="1"/>
          <p:nvPr/>
        </p:nvSpPr>
        <p:spPr>
          <a:xfrm>
            <a:off x="12227441" y="6915695"/>
            <a:ext cx="3012558" cy="1027211"/>
          </a:xfrm>
          <a:prstGeom prst="rect">
            <a:avLst/>
          </a:prstGeom>
          <a:noFill/>
        </p:spPr>
        <p:txBody>
          <a:bodyPr wrap="square" lIns="0" rIns="0" tIns="0" bIns="0" anchor="t">
            <a:spAutoFit/>
          </a:bodyPr>
          <a:lstStyle/>
          <a:p>
            <a:pPr algn="l">
              <a:lnSpc>
                <a:spcPts val="2511"/>
              </a:lnSpc>
            </a:pPr>
            <a:r>
              <a:rPr sz="2000" b="0" i="0">
                <a:solidFill>
                  <a:srgbClr val="2B2016"/>
                </a:solidFill>
                <a:latin typeface="Georgia"/>
              </a:rPr>
              <a:t>El margen de falla aceptable antes del Game Over.</a:t>
            </a:r>
          </a:p>
        </p:txBody>
      </p:sp>
      <p:sp>
        <p:nvSpPr>
          <p:cNvPr id="10" name="Texto 8"/>
          <p:cNvSpPr txBox="1"/>
          <p:nvPr/>
        </p:nvSpPr>
        <p:spPr>
          <a:xfrm>
            <a:off x="6320465" y="4914403"/>
            <a:ext cx="3603255" cy="543123"/>
          </a:xfrm>
          <a:prstGeom prst="rect">
            <a:avLst/>
          </a:prstGeom>
          <a:noFill/>
        </p:spPr>
        <p:txBody>
          <a:bodyPr wrap="square" lIns="0" rIns="0" tIns="0" bIns="0" anchor="t">
            <a:spAutoFit/>
          </a:bodyPr>
          <a:lstStyle/>
          <a:p>
            <a:pPr algn="ctr">
              <a:lnSpc>
                <a:spcPts val="3720"/>
              </a:lnSpc>
            </a:pPr>
            <a:r>
              <a:rPr sz="2600" b="1" i="0">
                <a:solidFill>
                  <a:srgbClr val="2B2016"/>
                </a:solidFill>
                <a:latin typeface="Georgia"/>
              </a:rPr>
              <a:t>CONFIABILIDAD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7" descr="Ilustración de fondo de la diapositiva 7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500" b="0" i="0">
                <a:solidFill>
                  <a:srgbClr val="2B2016"/>
                </a:solidFill>
                <a:latin typeface="Georgia"/>
              </a:rPr>
              <a:t>SLI: Tus Tiradas de Percepción</a:t>
            </a:r>
          </a:p>
        </p:txBody>
      </p:sp>
      <p:sp>
        <p:nvSpPr>
          <p:cNvPr id="4" name="Texto 2"/>
          <p:cNvSpPr txBox="1"/>
          <p:nvPr/>
        </p:nvSpPr>
        <p:spPr>
          <a:xfrm>
            <a:off x="1181395" y="1608435"/>
            <a:ext cx="13940465" cy="472281"/>
          </a:xfrm>
          <a:prstGeom prst="rect">
            <a:avLst/>
          </a:prstGeom>
          <a:noFill/>
        </p:spPr>
        <p:txBody>
          <a:bodyPr wrap="square" lIns="0" rIns="0" tIns="0" bIns="0" anchor="t">
            <a:spAutoFit/>
          </a:bodyPr>
          <a:lstStyle/>
          <a:p>
            <a:pPr algn="ctr">
              <a:lnSpc>
                <a:spcPts val="3162"/>
              </a:lnSpc>
            </a:pPr>
            <a:r>
              <a:rPr sz="2550" b="1" i="0">
                <a:solidFill>
                  <a:srgbClr val="2B2016"/>
                </a:solidFill>
                <a:latin typeface="Georgia"/>
              </a:rPr>
              <a:t>Indicador de Nivel de Servicio:</a:t>
            </a:r>
            <a:r>
              <a:rPr sz="2550" b="0" i="0">
                <a:solidFill>
                  <a:srgbClr val="2B2016"/>
                </a:solidFill>
                <a:latin typeface="Georgia"/>
              </a:rPr>
              <a:t> ¿Qué métricas observamos en la infraestructura real?</a:t>
            </a:r>
          </a:p>
        </p:txBody>
      </p:sp>
      <p:sp>
        <p:nvSpPr>
          <p:cNvPr id="5" name="Texto 3"/>
          <p:cNvSpPr txBox="1"/>
          <p:nvPr/>
        </p:nvSpPr>
        <p:spPr>
          <a:xfrm>
            <a:off x="354418" y="2913112"/>
            <a:ext cx="4040372" cy="484088"/>
          </a:xfrm>
          <a:prstGeom prst="rect">
            <a:avLst/>
          </a:prstGeom>
          <a:noFill/>
        </p:spPr>
        <p:txBody>
          <a:bodyPr wrap="square" lIns="0" rIns="0" tIns="0" bIns="0" anchor="t">
            <a:spAutoFit/>
          </a:bodyPr>
          <a:lstStyle/>
          <a:p>
            <a:pPr algn="r">
              <a:lnSpc>
                <a:spcPts val="3255"/>
              </a:lnSpc>
            </a:pPr>
            <a:r>
              <a:rPr sz="2500" b="1" i="0">
                <a:solidFill>
                  <a:srgbClr val="2B2016"/>
                </a:solidFill>
                <a:latin typeface="Georgia"/>
              </a:rPr>
              <a:t>Vitalidad</a:t>
            </a:r>
          </a:p>
        </p:txBody>
      </p:sp>
      <p:sp>
        <p:nvSpPr>
          <p:cNvPr id="6" name="Texto 4"/>
          <p:cNvSpPr txBox="1"/>
          <p:nvPr/>
        </p:nvSpPr>
        <p:spPr>
          <a:xfrm>
            <a:off x="354418" y="3367682"/>
            <a:ext cx="4040372" cy="401439"/>
          </a:xfrm>
          <a:prstGeom prst="rect">
            <a:avLst/>
          </a:prstGeom>
          <a:noFill/>
        </p:spPr>
        <p:txBody>
          <a:bodyPr wrap="square" lIns="0" rIns="0" tIns="0" bIns="0" anchor="t">
            <a:spAutoFit/>
          </a:bodyPr>
          <a:lstStyle/>
          <a:p>
            <a:pPr algn="r">
              <a:lnSpc>
                <a:spcPts val="2604"/>
              </a:lnSpc>
            </a:pPr>
            <a:r>
              <a:rPr sz="2050" b="0" i="0">
                <a:solidFill>
                  <a:srgbClr val="2B2016"/>
                </a:solidFill>
                <a:latin typeface="Georgia"/>
              </a:rPr>
              <a:t>(Disponibilidad / Uptime)</a:t>
            </a:r>
          </a:p>
        </p:txBody>
      </p:sp>
      <p:sp>
        <p:nvSpPr>
          <p:cNvPr id="7" name="Texto 5"/>
          <p:cNvSpPr txBox="1"/>
          <p:nvPr/>
        </p:nvSpPr>
        <p:spPr>
          <a:xfrm>
            <a:off x="708837" y="3742556"/>
            <a:ext cx="3685953" cy="696614"/>
          </a:xfrm>
          <a:prstGeom prst="rect">
            <a:avLst/>
          </a:prstGeom>
          <a:noFill/>
        </p:spPr>
        <p:txBody>
          <a:bodyPr wrap="square" lIns="0" rIns="0" tIns="0" bIns="0" anchor="t">
            <a:spAutoFit/>
          </a:bodyPr>
          <a:lstStyle/>
          <a:p>
            <a:pPr algn="r">
              <a:lnSpc>
                <a:spcPts val="2465"/>
              </a:lnSpc>
            </a:pPr>
            <a:r>
              <a:rPr sz="2050" b="0" i="0">
                <a:solidFill>
                  <a:srgbClr val="2B2016"/>
                </a:solidFill>
                <a:latin typeface="Georgia"/>
              </a:rPr>
              <a:t>Proporción de solicitudes respondidas exitosamente.</a:t>
            </a:r>
          </a:p>
        </p:txBody>
      </p:sp>
      <p:sp>
        <p:nvSpPr>
          <p:cNvPr id="8" name="Texto 6"/>
          <p:cNvSpPr txBox="1"/>
          <p:nvPr/>
        </p:nvSpPr>
        <p:spPr>
          <a:xfrm>
            <a:off x="12215627" y="2913112"/>
            <a:ext cx="3615069" cy="484088"/>
          </a:xfrm>
          <a:prstGeom prst="rect">
            <a:avLst/>
          </a:prstGeom>
          <a:noFill/>
        </p:spPr>
        <p:txBody>
          <a:bodyPr wrap="square" lIns="0" rIns="0" tIns="0" bIns="0" anchor="t">
            <a:spAutoFit/>
          </a:bodyPr>
          <a:lstStyle/>
          <a:p>
            <a:pPr algn="l">
              <a:lnSpc>
                <a:spcPts val="3255"/>
              </a:lnSpc>
            </a:pPr>
            <a:r>
              <a:rPr sz="2500" b="1" i="0">
                <a:solidFill>
                  <a:srgbClr val="2B2016"/>
                </a:solidFill>
                <a:latin typeface="Georgia"/>
              </a:rPr>
              <a:t>Tiempo de Reacción</a:t>
            </a:r>
          </a:p>
        </p:txBody>
      </p:sp>
      <p:sp>
        <p:nvSpPr>
          <p:cNvPr id="9" name="Texto 7"/>
          <p:cNvSpPr txBox="1"/>
          <p:nvPr/>
        </p:nvSpPr>
        <p:spPr>
          <a:xfrm>
            <a:off x="12215627" y="3367682"/>
            <a:ext cx="3615069" cy="401439"/>
          </a:xfrm>
          <a:prstGeom prst="rect">
            <a:avLst/>
          </a:prstGeom>
          <a:noFill/>
        </p:spPr>
        <p:txBody>
          <a:bodyPr wrap="square" lIns="0" rIns="0" tIns="0" bIns="0" anchor="t">
            <a:spAutoFit/>
          </a:bodyPr>
          <a:lstStyle/>
          <a:p>
            <a:pPr algn="l">
              <a:lnSpc>
                <a:spcPts val="2604"/>
              </a:lnSpc>
            </a:pPr>
            <a:r>
              <a:rPr sz="2050" b="0" i="0">
                <a:solidFill>
                  <a:srgbClr val="2B2016"/>
                </a:solidFill>
                <a:latin typeface="Georgia"/>
              </a:rPr>
              <a:t>(Latencia)</a:t>
            </a:r>
          </a:p>
        </p:txBody>
      </p:sp>
      <p:sp>
        <p:nvSpPr>
          <p:cNvPr id="10" name="Texto 8"/>
          <p:cNvSpPr txBox="1"/>
          <p:nvPr/>
        </p:nvSpPr>
        <p:spPr>
          <a:xfrm>
            <a:off x="12215627" y="3742556"/>
            <a:ext cx="3142511" cy="1009501"/>
          </a:xfrm>
          <a:prstGeom prst="rect">
            <a:avLst/>
          </a:prstGeom>
          <a:noFill/>
        </p:spPr>
        <p:txBody>
          <a:bodyPr wrap="square" lIns="0" rIns="0" tIns="0" bIns="0" anchor="t">
            <a:spAutoFit/>
          </a:bodyPr>
          <a:lstStyle/>
          <a:p>
            <a:pPr algn="l">
              <a:lnSpc>
                <a:spcPts val="2465"/>
              </a:lnSpc>
            </a:pPr>
            <a:r>
              <a:rPr sz="2050" b="0" i="0">
                <a:solidFill>
                  <a:srgbClr val="2B2016"/>
                </a:solidFill>
                <a:latin typeface="Georgia"/>
              </a:rPr>
              <a:t>Milisegundos que tarda el servicio en procesar y responder.</a:t>
            </a:r>
          </a:p>
        </p:txBody>
      </p:sp>
      <p:sp>
        <p:nvSpPr>
          <p:cNvPr id="11" name="Texto 9"/>
          <p:cNvSpPr txBox="1"/>
          <p:nvPr/>
        </p:nvSpPr>
        <p:spPr>
          <a:xfrm>
            <a:off x="354418" y="6065589"/>
            <a:ext cx="4040372" cy="484088"/>
          </a:xfrm>
          <a:prstGeom prst="rect">
            <a:avLst/>
          </a:prstGeom>
          <a:noFill/>
        </p:spPr>
        <p:txBody>
          <a:bodyPr wrap="square" lIns="0" rIns="0" tIns="0" bIns="0" anchor="t">
            <a:spAutoFit/>
          </a:bodyPr>
          <a:lstStyle/>
          <a:p>
            <a:pPr algn="r">
              <a:lnSpc>
                <a:spcPts val="3255"/>
              </a:lnSpc>
            </a:pPr>
            <a:r>
              <a:rPr sz="2400" b="1" i="0">
                <a:solidFill>
                  <a:srgbClr val="2B2016"/>
                </a:solidFill>
                <a:latin typeface="Georgia"/>
              </a:rPr>
              <a:t>Fuerza</a:t>
            </a:r>
          </a:p>
        </p:txBody>
      </p:sp>
      <p:sp>
        <p:nvSpPr>
          <p:cNvPr id="12" name="Texto 10"/>
          <p:cNvSpPr txBox="1"/>
          <p:nvPr/>
        </p:nvSpPr>
        <p:spPr>
          <a:xfrm>
            <a:off x="354418" y="6520160"/>
            <a:ext cx="4040372" cy="401439"/>
          </a:xfrm>
          <a:prstGeom prst="rect">
            <a:avLst/>
          </a:prstGeom>
          <a:noFill/>
        </p:spPr>
        <p:txBody>
          <a:bodyPr wrap="square" lIns="0" rIns="0" tIns="0" bIns="0" anchor="t">
            <a:spAutoFit/>
          </a:bodyPr>
          <a:lstStyle/>
          <a:p>
            <a:pPr algn="r">
              <a:lnSpc>
                <a:spcPts val="2604"/>
              </a:lnSpc>
            </a:pPr>
            <a:r>
              <a:rPr sz="2050" b="0" i="0">
                <a:solidFill>
                  <a:srgbClr val="2B2016"/>
                </a:solidFill>
                <a:latin typeface="Georgia"/>
              </a:rPr>
              <a:t>(Rendimiento / Throughput)</a:t>
            </a:r>
          </a:p>
        </p:txBody>
      </p:sp>
      <p:sp>
        <p:nvSpPr>
          <p:cNvPr id="13" name="Texto 11"/>
          <p:cNvSpPr txBox="1"/>
          <p:nvPr/>
        </p:nvSpPr>
        <p:spPr>
          <a:xfrm>
            <a:off x="708837" y="6906840"/>
            <a:ext cx="3685953" cy="1009501"/>
          </a:xfrm>
          <a:prstGeom prst="rect">
            <a:avLst/>
          </a:prstGeom>
          <a:noFill/>
        </p:spPr>
        <p:txBody>
          <a:bodyPr wrap="square" lIns="0" rIns="0" tIns="0" bIns="0" anchor="t">
            <a:spAutoFit/>
          </a:bodyPr>
          <a:lstStyle/>
          <a:p>
            <a:pPr algn="r">
              <a:lnSpc>
                <a:spcPts val="2465"/>
              </a:lnSpc>
            </a:pPr>
            <a:r>
              <a:rPr sz="2050" b="0" i="0">
                <a:solidFill>
                  <a:srgbClr val="2B2016"/>
                </a:solidFill>
                <a:latin typeface="Georgia"/>
              </a:rPr>
              <a:t>Volumen de datos o peticiones procesadas en un intervalo.</a:t>
            </a:r>
          </a:p>
        </p:txBody>
      </p:sp>
      <p:sp>
        <p:nvSpPr>
          <p:cNvPr id="14" name="Texto 12"/>
          <p:cNvSpPr txBox="1"/>
          <p:nvPr/>
        </p:nvSpPr>
        <p:spPr>
          <a:xfrm>
            <a:off x="12215627" y="6065589"/>
            <a:ext cx="3615069" cy="484088"/>
          </a:xfrm>
          <a:prstGeom prst="rect">
            <a:avLst/>
          </a:prstGeom>
          <a:noFill/>
        </p:spPr>
        <p:txBody>
          <a:bodyPr wrap="square" lIns="0" rIns="0" tIns="0" bIns="0" anchor="t">
            <a:spAutoFit/>
          </a:bodyPr>
          <a:lstStyle/>
          <a:p>
            <a:pPr algn="l">
              <a:lnSpc>
                <a:spcPts val="3255"/>
              </a:lnSpc>
            </a:pPr>
            <a:r>
              <a:rPr sz="2500" b="1" i="0">
                <a:solidFill>
                  <a:srgbClr val="2B2016"/>
                </a:solidFill>
                <a:latin typeface="Georgia"/>
              </a:rPr>
              <a:t>Precisión</a:t>
            </a:r>
          </a:p>
        </p:txBody>
      </p:sp>
      <p:sp>
        <p:nvSpPr>
          <p:cNvPr id="15" name="Texto 13"/>
          <p:cNvSpPr txBox="1"/>
          <p:nvPr/>
        </p:nvSpPr>
        <p:spPr>
          <a:xfrm>
            <a:off x="12215627" y="6520160"/>
            <a:ext cx="3615069" cy="401439"/>
          </a:xfrm>
          <a:prstGeom prst="rect">
            <a:avLst/>
          </a:prstGeom>
          <a:noFill/>
        </p:spPr>
        <p:txBody>
          <a:bodyPr wrap="square" lIns="0" rIns="0" tIns="0" bIns="0" anchor="t">
            <a:spAutoFit/>
          </a:bodyPr>
          <a:lstStyle/>
          <a:p>
            <a:pPr algn="l">
              <a:lnSpc>
                <a:spcPts val="2604"/>
              </a:lnSpc>
            </a:pPr>
            <a:r>
              <a:rPr sz="2050" b="0" i="0">
                <a:solidFill>
                  <a:srgbClr val="2B2016"/>
                </a:solidFill>
                <a:latin typeface="Georgia"/>
              </a:rPr>
              <a:t>(Correctitud)</a:t>
            </a:r>
          </a:p>
        </p:txBody>
      </p:sp>
      <p:sp>
        <p:nvSpPr>
          <p:cNvPr id="16" name="Texto 14"/>
          <p:cNvSpPr txBox="1"/>
          <p:nvPr/>
        </p:nvSpPr>
        <p:spPr>
          <a:xfrm>
            <a:off x="12215627" y="6906840"/>
            <a:ext cx="3142511" cy="1009501"/>
          </a:xfrm>
          <a:prstGeom prst="rect">
            <a:avLst/>
          </a:prstGeom>
          <a:noFill/>
        </p:spPr>
        <p:txBody>
          <a:bodyPr wrap="square" lIns="0" rIns="0" tIns="0" bIns="0" anchor="t">
            <a:spAutoFit/>
          </a:bodyPr>
          <a:lstStyle/>
          <a:p>
            <a:pPr algn="l">
              <a:lnSpc>
                <a:spcPts val="2465"/>
              </a:lnSpc>
            </a:pPr>
            <a:r>
              <a:rPr sz="2050" b="0" i="0">
                <a:solidFill>
                  <a:srgbClr val="2B2016"/>
                </a:solidFill>
                <a:latin typeface="Georgia"/>
              </a:rPr>
              <a:t>Protección contra corrupción y exactitud de la información.</a:t>
            </a:r>
          </a:p>
        </p:txBody>
      </p:sp>
      <p:sp>
        <p:nvSpPr>
          <p:cNvPr id="17" name="Texto 15"/>
          <p:cNvSpPr txBox="1"/>
          <p:nvPr/>
        </p:nvSpPr>
        <p:spPr>
          <a:xfrm>
            <a:off x="5765209" y="4394894"/>
            <a:ext cx="945116" cy="377825"/>
          </a:xfrm>
          <a:prstGeom prst="rect">
            <a:avLst/>
          </a:prstGeom>
          <a:noFill/>
        </p:spPr>
        <p:txBody>
          <a:bodyPr wrap="square" lIns="0" rIns="0" tIns="0" bIns="0" anchor="t">
            <a:spAutoFit/>
          </a:bodyPr>
          <a:lstStyle/>
          <a:p>
            <a:pPr algn="ctr">
              <a:lnSpc>
                <a:spcPts val="2418"/>
              </a:lnSpc>
            </a:pPr>
            <a:r>
              <a:rPr sz="1950" b="0" i="0">
                <a:solidFill>
                  <a:srgbClr val="EFE6D2"/>
                </a:solidFill>
                <a:latin typeface="Georgia"/>
              </a:rPr>
              <a:t>99.95%</a:t>
            </a:r>
          </a:p>
        </p:txBody>
      </p:sp>
      <p:sp>
        <p:nvSpPr>
          <p:cNvPr id="18" name="Texto 16"/>
          <p:cNvSpPr txBox="1"/>
          <p:nvPr/>
        </p:nvSpPr>
        <p:spPr>
          <a:xfrm>
            <a:off x="9687441" y="4394894"/>
            <a:ext cx="1004186" cy="377825"/>
          </a:xfrm>
          <a:prstGeom prst="rect">
            <a:avLst/>
          </a:prstGeom>
          <a:noFill/>
        </p:spPr>
        <p:txBody>
          <a:bodyPr wrap="square" lIns="0" rIns="0" tIns="0" bIns="0" anchor="t">
            <a:spAutoFit/>
          </a:bodyPr>
          <a:lstStyle/>
          <a:p>
            <a:pPr algn="ctr">
              <a:lnSpc>
                <a:spcPts val="2418"/>
              </a:lnSpc>
            </a:pPr>
            <a:r>
              <a:rPr sz="1900" b="0" i="0">
                <a:solidFill>
                  <a:srgbClr val="EFE6D2"/>
                </a:solidFill>
                <a:latin typeface="Georgia"/>
              </a:rPr>
              <a:t>120ms</a:t>
            </a:r>
          </a:p>
        </p:txBody>
      </p:sp>
      <p:sp>
        <p:nvSpPr>
          <p:cNvPr id="19" name="Texto 17"/>
          <p:cNvSpPr txBox="1"/>
          <p:nvPr/>
        </p:nvSpPr>
        <p:spPr>
          <a:xfrm>
            <a:off x="5765209" y="7547371"/>
            <a:ext cx="968744" cy="377825"/>
          </a:xfrm>
          <a:prstGeom prst="rect">
            <a:avLst/>
          </a:prstGeom>
          <a:noFill/>
        </p:spPr>
        <p:txBody>
          <a:bodyPr wrap="square" lIns="0" rIns="0" tIns="0" bIns="0" anchor="t">
            <a:spAutoFit/>
          </a:bodyPr>
          <a:lstStyle/>
          <a:p>
            <a:pPr algn="ctr">
              <a:lnSpc>
                <a:spcPts val="2418"/>
              </a:lnSpc>
            </a:pPr>
            <a:r>
              <a:rPr sz="2000" b="0" i="0">
                <a:solidFill>
                  <a:srgbClr val="EFE6D2"/>
                </a:solidFill>
                <a:latin typeface="Georgia"/>
              </a:rPr>
              <a:t>5000</a:t>
            </a:r>
          </a:p>
        </p:txBody>
      </p:sp>
      <p:sp>
        <p:nvSpPr>
          <p:cNvPr id="20" name="Texto 18"/>
          <p:cNvSpPr txBox="1"/>
          <p:nvPr/>
        </p:nvSpPr>
        <p:spPr>
          <a:xfrm>
            <a:off x="5765209" y="7842547"/>
            <a:ext cx="968744" cy="306982"/>
          </a:xfrm>
          <a:prstGeom prst="rect">
            <a:avLst/>
          </a:prstGeom>
          <a:noFill/>
        </p:spPr>
        <p:txBody>
          <a:bodyPr wrap="square" lIns="0" rIns="0" tIns="0" bIns="0" anchor="t">
            <a:spAutoFit/>
          </a:bodyPr>
          <a:lstStyle/>
          <a:p>
            <a:pPr algn="ctr">
              <a:lnSpc>
                <a:spcPts val="1860"/>
              </a:lnSpc>
            </a:pPr>
            <a:r>
              <a:rPr sz="1500" b="0" i="0">
                <a:solidFill>
                  <a:srgbClr val="EFE6D2"/>
                </a:solidFill>
                <a:latin typeface="Georgia"/>
              </a:rPr>
              <a:t>req/sec</a:t>
            </a:r>
          </a:p>
        </p:txBody>
      </p:sp>
      <p:sp>
        <p:nvSpPr>
          <p:cNvPr id="21" name="Texto 19"/>
          <p:cNvSpPr txBox="1"/>
          <p:nvPr/>
        </p:nvSpPr>
        <p:spPr>
          <a:xfrm>
            <a:off x="9687441" y="7547371"/>
            <a:ext cx="1004186" cy="377825"/>
          </a:xfrm>
          <a:prstGeom prst="rect">
            <a:avLst/>
          </a:prstGeom>
          <a:noFill/>
        </p:spPr>
        <p:txBody>
          <a:bodyPr wrap="square" lIns="0" rIns="0" tIns="0" bIns="0" anchor="t">
            <a:spAutoFit/>
          </a:bodyPr>
          <a:lstStyle/>
          <a:p>
            <a:pPr algn="ctr">
              <a:lnSpc>
                <a:spcPts val="2418"/>
              </a:lnSpc>
            </a:pPr>
            <a:r>
              <a:rPr sz="2000" b="0" i="0">
                <a:solidFill>
                  <a:srgbClr val="EFE6D2"/>
                </a:solidFill>
                <a:latin typeface="Georgia"/>
              </a:rPr>
              <a:t>0.001%</a:t>
            </a:r>
          </a:p>
        </p:txBody>
      </p:sp>
      <p:sp>
        <p:nvSpPr>
          <p:cNvPr id="22" name="Texto 20"/>
          <p:cNvSpPr txBox="1"/>
          <p:nvPr/>
        </p:nvSpPr>
        <p:spPr>
          <a:xfrm>
            <a:off x="9687441" y="7830740"/>
            <a:ext cx="1004186" cy="306982"/>
          </a:xfrm>
          <a:prstGeom prst="rect">
            <a:avLst/>
          </a:prstGeom>
          <a:noFill/>
        </p:spPr>
        <p:txBody>
          <a:bodyPr wrap="square" lIns="0" rIns="0" tIns="0" bIns="0" anchor="t">
            <a:spAutoFit/>
          </a:bodyPr>
          <a:lstStyle/>
          <a:p>
            <a:pPr algn="ctr">
              <a:lnSpc>
                <a:spcPts val="1860"/>
              </a:lnSpc>
            </a:pPr>
            <a:r>
              <a:rPr sz="1500" b="0" i="0">
                <a:solidFill>
                  <a:srgbClr val="EFE6D2"/>
                </a:solidFill>
                <a:latin typeface="Georgia"/>
              </a:rPr>
              <a:t>Error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8" descr="Ilustración de fondo de la diapositiva 8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600" b="0" i="0">
                <a:solidFill>
                  <a:srgbClr val="2B2016"/>
                </a:solidFill>
                <a:latin typeface="Georgia"/>
              </a:rPr>
              <a:t>SLO: El Juramento de la Misión</a:t>
            </a:r>
          </a:p>
        </p:txBody>
      </p:sp>
      <p:sp>
        <p:nvSpPr>
          <p:cNvPr id="4" name="Texto 2"/>
          <p:cNvSpPr txBox="1"/>
          <p:nvPr/>
        </p:nvSpPr>
        <p:spPr>
          <a:xfrm>
            <a:off x="1181395" y="1620242"/>
            <a:ext cx="13940465" cy="472281"/>
          </a:xfrm>
          <a:prstGeom prst="rect">
            <a:avLst/>
          </a:prstGeom>
          <a:noFill/>
        </p:spPr>
        <p:txBody>
          <a:bodyPr wrap="square" lIns="0" rIns="0" tIns="0" bIns="0" anchor="t">
            <a:spAutoFit/>
          </a:bodyPr>
          <a:lstStyle/>
          <a:p>
            <a:pPr algn="ctr">
              <a:lnSpc>
                <a:spcPts val="3162"/>
              </a:lnSpc>
            </a:pPr>
            <a:r>
              <a:rPr sz="2550" b="1" i="0">
                <a:solidFill>
                  <a:srgbClr val="2B2016"/>
                </a:solidFill>
                <a:latin typeface="Georgia"/>
              </a:rPr>
              <a:t>Objetivo de Nivel de Servicio:</a:t>
            </a:r>
            <a:r>
              <a:rPr sz="2550" b="0" i="0">
                <a:solidFill>
                  <a:srgbClr val="2B2016"/>
                </a:solidFill>
                <a:latin typeface="Georgia"/>
              </a:rPr>
              <a:t> El punto de equilibrio entre velocidad y estabilidad.</a:t>
            </a:r>
          </a:p>
        </p:txBody>
      </p:sp>
      <p:sp>
        <p:nvSpPr>
          <p:cNvPr id="5" name="Texto 3"/>
          <p:cNvSpPr txBox="1"/>
          <p:nvPr/>
        </p:nvSpPr>
        <p:spPr>
          <a:xfrm>
            <a:off x="1772093" y="3485753"/>
            <a:ext cx="4701953" cy="472281"/>
          </a:xfrm>
          <a:prstGeom prst="rect">
            <a:avLst/>
          </a:prstGeom>
          <a:noFill/>
        </p:spPr>
        <p:txBody>
          <a:bodyPr wrap="square" lIns="0" rIns="0" tIns="0" bIns="0" anchor="t">
            <a:spAutoFit/>
          </a:bodyPr>
          <a:lstStyle/>
          <a:p>
            <a:pPr algn="ctr">
              <a:lnSpc>
                <a:spcPts val="3162"/>
              </a:lnSpc>
            </a:pPr>
            <a:r>
              <a:rPr sz="2450" b="0" i="1">
                <a:solidFill>
                  <a:srgbClr val="2B2016"/>
                </a:solidFill>
                <a:latin typeface="Georgia"/>
              </a:rPr>
              <a:t>Acuerdo de Nivel de Servicio.</a:t>
            </a:r>
          </a:p>
        </p:txBody>
      </p:sp>
      <p:sp>
        <p:nvSpPr>
          <p:cNvPr id="6" name="Texto 4"/>
          <p:cNvSpPr txBox="1"/>
          <p:nvPr/>
        </p:nvSpPr>
        <p:spPr>
          <a:xfrm>
            <a:off x="1772093" y="4188271"/>
            <a:ext cx="4701953" cy="2019002"/>
          </a:xfrm>
          <a:prstGeom prst="rect">
            <a:avLst/>
          </a:prstGeom>
          <a:noFill/>
        </p:spPr>
        <p:txBody>
          <a:bodyPr wrap="square" lIns="0" rIns="0" tIns="0" bIns="0" anchor="t">
            <a:spAutoFit/>
          </a:bodyPr>
          <a:lstStyle/>
          <a:p>
            <a:pPr algn="ctr">
              <a:lnSpc>
                <a:spcPts val="3069"/>
              </a:lnSpc>
            </a:pPr>
            <a:r>
              <a:rPr sz="2250" b="0" i="1">
                <a:solidFill>
                  <a:srgbClr val="2B2016"/>
                </a:solidFill>
                <a:latin typeface="Georgia"/>
              </a:rPr>
              <a:t>Establecemos una meta numérica acordada internamente que dicta cuándo aceleramos la entrega de producto y cuándo nos detenemos a estabilizar.</a:t>
            </a:r>
          </a:p>
        </p:txBody>
      </p:sp>
      <p:sp>
        <p:nvSpPr>
          <p:cNvPr id="7" name="Texto 5"/>
          <p:cNvSpPr txBox="1"/>
          <p:nvPr/>
        </p:nvSpPr>
        <p:spPr>
          <a:xfrm>
            <a:off x="2244651" y="7039669"/>
            <a:ext cx="685209" cy="377825"/>
          </a:xfrm>
          <a:prstGeom prst="rect">
            <a:avLst/>
          </a:prstGeom>
          <a:noFill/>
        </p:spPr>
        <p:txBody>
          <a:bodyPr wrap="square" lIns="0" rIns="0" tIns="0" bIns="0" anchor="t">
            <a:spAutoFit/>
          </a:bodyPr>
          <a:lstStyle/>
          <a:p>
            <a:pPr algn="ctr">
              <a:lnSpc>
                <a:spcPts val="2418"/>
              </a:lnSpc>
            </a:pPr>
            <a:r>
              <a:rPr sz="2050" b="1" i="0">
                <a:solidFill>
                  <a:srgbClr val="F0E2C4"/>
                </a:solidFill>
                <a:latin typeface="Georgia"/>
              </a:rPr>
              <a:t>Dev</a:t>
            </a:r>
          </a:p>
        </p:txBody>
      </p:sp>
      <p:sp>
        <p:nvSpPr>
          <p:cNvPr id="8" name="Texto 6"/>
          <p:cNvSpPr txBox="1"/>
          <p:nvPr/>
        </p:nvSpPr>
        <p:spPr>
          <a:xfrm>
            <a:off x="4938232" y="7405687"/>
            <a:ext cx="708837" cy="377825"/>
          </a:xfrm>
          <a:prstGeom prst="rect">
            <a:avLst/>
          </a:prstGeom>
          <a:noFill/>
        </p:spPr>
        <p:txBody>
          <a:bodyPr wrap="square" lIns="0" rIns="0" tIns="0" bIns="0" anchor="t">
            <a:spAutoFit/>
          </a:bodyPr>
          <a:lstStyle/>
          <a:p>
            <a:pPr algn="ctr">
              <a:lnSpc>
                <a:spcPts val="2418"/>
              </a:lnSpc>
            </a:pPr>
            <a:r>
              <a:rPr sz="2050" b="1" i="0">
                <a:solidFill>
                  <a:srgbClr val="F6E4D8"/>
                </a:solidFill>
                <a:latin typeface="Georgia"/>
              </a:rPr>
              <a:t>Ops</a:t>
            </a:r>
          </a:p>
        </p:txBody>
      </p:sp>
      <p:sp>
        <p:nvSpPr>
          <p:cNvPr id="9" name="Texto 7"/>
          <p:cNvSpPr txBox="1"/>
          <p:nvPr/>
        </p:nvSpPr>
        <p:spPr>
          <a:xfrm>
            <a:off x="9805581" y="2364085"/>
            <a:ext cx="4253023" cy="543123"/>
          </a:xfrm>
          <a:prstGeom prst="rect">
            <a:avLst/>
          </a:prstGeom>
          <a:noFill/>
        </p:spPr>
        <p:txBody>
          <a:bodyPr wrap="square" lIns="0" rIns="0" tIns="0" bIns="0" anchor="t">
            <a:spAutoFit/>
          </a:bodyPr>
          <a:lstStyle/>
          <a:p>
            <a:pPr algn="ctr">
              <a:lnSpc>
                <a:spcPts val="3720"/>
              </a:lnSpc>
            </a:pPr>
            <a:r>
              <a:rPr sz="2500" b="1" i="0">
                <a:solidFill>
                  <a:srgbClr val="F2E3C6"/>
                </a:solidFill>
                <a:latin typeface="Georgia"/>
              </a:rPr>
              <a:t>La Falacia del 100%</a:t>
            </a:r>
          </a:p>
        </p:txBody>
      </p:sp>
      <p:sp>
        <p:nvSpPr>
          <p:cNvPr id="10" name="Texto 8"/>
          <p:cNvSpPr txBox="1"/>
          <p:nvPr/>
        </p:nvSpPr>
        <p:spPr>
          <a:xfrm>
            <a:off x="13586046" y="3155156"/>
            <a:ext cx="1653953" cy="637579"/>
          </a:xfrm>
          <a:prstGeom prst="rect">
            <a:avLst/>
          </a:prstGeom>
          <a:noFill/>
        </p:spPr>
        <p:txBody>
          <a:bodyPr wrap="square" lIns="0" rIns="0" tIns="0" bIns="0" anchor="t">
            <a:spAutoFit/>
          </a:bodyPr>
          <a:lstStyle/>
          <a:p>
            <a:pPr algn="ctr">
              <a:lnSpc>
                <a:spcPts val="2232"/>
              </a:lnSpc>
            </a:pPr>
            <a:r>
              <a:rPr sz="1900" b="0" i="0">
                <a:solidFill>
                  <a:srgbClr val="2B2016"/>
                </a:solidFill>
                <a:latin typeface="Georgia"/>
              </a:rPr>
              <a:t>Rendimiento</a:t>
            </a:r>
          </a:p>
          <a:p>
            <a:pPr algn="ctr">
              <a:lnSpc>
                <a:spcPts val="2232"/>
              </a:lnSpc>
            </a:pPr>
            <a:r>
              <a:rPr sz="1900" b="0" i="0">
                <a:solidFill>
                  <a:srgbClr val="2B2016"/>
                </a:solidFill>
                <a:latin typeface="Georgia"/>
              </a:rPr>
              <a:t>Decreciente</a:t>
            </a:r>
          </a:p>
        </p:txBody>
      </p:sp>
      <p:sp>
        <p:nvSpPr>
          <p:cNvPr id="11" name="Texto 9"/>
          <p:cNvSpPr txBox="1"/>
          <p:nvPr/>
        </p:nvSpPr>
        <p:spPr>
          <a:xfrm>
            <a:off x="11282325" y="6307633"/>
            <a:ext cx="1264093" cy="354210"/>
          </a:xfrm>
          <a:prstGeom prst="rect">
            <a:avLst/>
          </a:prstGeom>
          <a:noFill/>
        </p:spPr>
        <p:txBody>
          <a:bodyPr wrap="square" lIns="0" rIns="0" tIns="0" bIns="0" anchor="t">
            <a:spAutoFit/>
          </a:bodyPr>
          <a:lstStyle/>
          <a:p>
            <a:pPr algn="ctr">
              <a:lnSpc>
                <a:spcPts val="2232"/>
              </a:lnSpc>
            </a:pPr>
            <a:r>
              <a:rPr sz="2100" b="0" i="0">
                <a:solidFill>
                  <a:srgbClr val="EDE4D0"/>
                </a:solidFill>
                <a:latin typeface="Georgia"/>
              </a:rPr>
              <a:t>99.9%</a:t>
            </a:r>
          </a:p>
        </p:txBody>
      </p:sp>
      <p:sp>
        <p:nvSpPr>
          <p:cNvPr id="12" name="Texto 10"/>
          <p:cNvSpPr txBox="1"/>
          <p:nvPr/>
        </p:nvSpPr>
        <p:spPr>
          <a:xfrm>
            <a:off x="12735441" y="6224984"/>
            <a:ext cx="708837" cy="354210"/>
          </a:xfrm>
          <a:prstGeom prst="rect">
            <a:avLst/>
          </a:prstGeom>
          <a:noFill/>
        </p:spPr>
        <p:txBody>
          <a:bodyPr wrap="square" lIns="0" rIns="0" tIns="0" bIns="0" anchor="t">
            <a:spAutoFit/>
          </a:bodyPr>
          <a:lstStyle/>
          <a:p>
            <a:pPr algn="ctr">
              <a:lnSpc>
                <a:spcPts val="2232"/>
              </a:lnSpc>
            </a:pPr>
            <a:r>
              <a:rPr sz="2000" b="0" i="0">
                <a:solidFill>
                  <a:srgbClr val="7A1D1D"/>
                </a:solidFill>
                <a:latin typeface="Georgia"/>
              </a:rPr>
              <a:t>100%</a:t>
            </a:r>
          </a:p>
        </p:txBody>
      </p:sp>
      <p:sp>
        <p:nvSpPr>
          <p:cNvPr id="13" name="Texto 11"/>
          <p:cNvSpPr txBox="1"/>
          <p:nvPr/>
        </p:nvSpPr>
        <p:spPr>
          <a:xfrm>
            <a:off x="8919534" y="6921599"/>
            <a:ext cx="6379534" cy="1133475"/>
          </a:xfrm>
          <a:prstGeom prst="rect">
            <a:avLst/>
          </a:prstGeom>
          <a:noFill/>
        </p:spPr>
        <p:txBody>
          <a:bodyPr wrap="square" lIns="0" rIns="0" tIns="0" bIns="0" anchor="t">
            <a:spAutoFit/>
          </a:bodyPr>
          <a:lstStyle/>
          <a:p>
            <a:pPr algn="ctr">
              <a:lnSpc>
                <a:spcPts val="2790"/>
              </a:lnSpc>
            </a:pPr>
            <a:r>
              <a:rPr sz="2250" b="0" i="0">
                <a:solidFill>
                  <a:srgbClr val="2B2016"/>
                </a:solidFill>
                <a:latin typeface="Georgia"/>
              </a:rPr>
              <a:t>Apuntar al 100% de disponibilidad es un error costoso. Paraliza la innovación de producto y no aporta valor real al usuario final.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9" descr="Ilustración de fondo de la diapositiva 9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000" b="0" i="0">
                <a:solidFill>
                  <a:srgbClr val="2B2016"/>
                </a:solidFill>
                <a:latin typeface="Georgia"/>
              </a:rPr>
              <a:t>Presupuesto de Error: Tus Puntos de Golpe (HP)</a:t>
            </a:r>
          </a:p>
        </p:txBody>
      </p:sp>
      <p:sp>
        <p:nvSpPr>
          <p:cNvPr id="4" name="Texto 2"/>
          <p:cNvSpPr txBox="1"/>
          <p:nvPr/>
        </p:nvSpPr>
        <p:spPr>
          <a:xfrm>
            <a:off x="1535813" y="1785540"/>
            <a:ext cx="3307906" cy="543123"/>
          </a:xfrm>
          <a:prstGeom prst="rect">
            <a:avLst/>
          </a:prstGeom>
          <a:noFill/>
        </p:spPr>
        <p:txBody>
          <a:bodyPr wrap="square" lIns="0" rIns="0" tIns="0" bIns="0" anchor="t">
            <a:spAutoFit/>
          </a:bodyPr>
          <a:lstStyle/>
          <a:p>
            <a:pPr algn="ctr">
              <a:lnSpc>
                <a:spcPts val="3720"/>
              </a:lnSpc>
            </a:pPr>
            <a:r>
              <a:rPr sz="3050" b="0" i="0">
                <a:solidFill>
                  <a:srgbClr val="F3E4C4"/>
                </a:solidFill>
                <a:latin typeface="Georgia"/>
              </a:rPr>
              <a:t>100% </a:t>
            </a:r>
            <a:r>
              <a:rPr sz="3050" b="0" i="0">
                <a:solidFill>
                  <a:srgbClr val="F3E4C4"/>
                </a:solidFill>
                <a:latin typeface="Georgia"/>
              </a:rPr>
              <a:t>(Perfección)</a:t>
            </a:r>
          </a:p>
        </p:txBody>
      </p:sp>
      <p:sp>
        <p:nvSpPr>
          <p:cNvPr id="5" name="Texto 3"/>
          <p:cNvSpPr txBox="1"/>
          <p:nvPr/>
        </p:nvSpPr>
        <p:spPr>
          <a:xfrm>
            <a:off x="5906976" y="1785540"/>
            <a:ext cx="3248837" cy="543123"/>
          </a:xfrm>
          <a:prstGeom prst="rect">
            <a:avLst/>
          </a:prstGeom>
          <a:noFill/>
        </p:spPr>
        <p:txBody>
          <a:bodyPr wrap="square" lIns="0" rIns="0" tIns="0" bIns="0" anchor="t">
            <a:spAutoFit/>
          </a:bodyPr>
          <a:lstStyle/>
          <a:p>
            <a:pPr algn="ctr">
              <a:lnSpc>
                <a:spcPts val="3720"/>
              </a:lnSpc>
            </a:pPr>
            <a:r>
              <a:rPr sz="3250" b="0" i="0">
                <a:solidFill>
                  <a:srgbClr val="F3E4C4"/>
                </a:solidFill>
                <a:latin typeface="Georgia"/>
              </a:rPr>
              <a:t>99.9% </a:t>
            </a:r>
            <a:r>
              <a:rPr sz="3250" b="0" i="0">
                <a:solidFill>
                  <a:srgbClr val="F3E4C4"/>
                </a:solidFill>
                <a:latin typeface="Georgia"/>
              </a:rPr>
              <a:t>(Tu SLO)</a:t>
            </a:r>
          </a:p>
        </p:txBody>
      </p:sp>
      <p:sp>
        <p:nvSpPr>
          <p:cNvPr id="6" name="Texto 4"/>
          <p:cNvSpPr txBox="1"/>
          <p:nvPr/>
        </p:nvSpPr>
        <p:spPr>
          <a:xfrm>
            <a:off x="9900093" y="1785540"/>
            <a:ext cx="4749209" cy="543123"/>
          </a:xfrm>
          <a:prstGeom prst="rect">
            <a:avLst/>
          </a:prstGeom>
          <a:noFill/>
        </p:spPr>
        <p:txBody>
          <a:bodyPr wrap="square" lIns="0" rIns="0" tIns="0" bIns="0" anchor="t">
            <a:spAutoFit/>
          </a:bodyPr>
          <a:lstStyle/>
          <a:p>
            <a:pPr algn="ctr">
              <a:lnSpc>
                <a:spcPts val="3720"/>
              </a:lnSpc>
            </a:pPr>
            <a:r>
              <a:rPr sz="2850" b="0" i="0">
                <a:solidFill>
                  <a:srgbClr val="F3E4C4"/>
                </a:solidFill>
                <a:latin typeface="Georgia"/>
              </a:rPr>
              <a:t>0.1% (Presupuesto de Error)</a:t>
            </a:r>
          </a:p>
        </p:txBody>
      </p:sp>
      <p:sp>
        <p:nvSpPr>
          <p:cNvPr id="7" name="Texto 5"/>
          <p:cNvSpPr txBox="1"/>
          <p:nvPr/>
        </p:nvSpPr>
        <p:spPr>
          <a:xfrm>
            <a:off x="5198139" y="1726505"/>
            <a:ext cx="649767" cy="661193"/>
          </a:xfrm>
          <a:prstGeom prst="rect">
            <a:avLst/>
          </a:prstGeom>
          <a:noFill/>
        </p:spPr>
        <p:txBody>
          <a:bodyPr wrap="square" lIns="0" rIns="0" tIns="0" bIns="0" anchor="t">
            <a:spAutoFit/>
          </a:bodyPr>
          <a:lstStyle/>
          <a:p>
            <a:pPr algn="ctr">
              <a:lnSpc>
                <a:spcPts val="4651"/>
              </a:lnSpc>
            </a:pPr>
            <a:r>
              <a:rPr sz="2900" b="1" i="0">
                <a:solidFill>
                  <a:srgbClr val="2B2016"/>
                </a:solidFill>
                <a:latin typeface="Georgia"/>
              </a:rPr>
              <a:t>[−]</a:t>
            </a:r>
          </a:p>
        </p:txBody>
      </p:sp>
      <p:sp>
        <p:nvSpPr>
          <p:cNvPr id="8" name="Texto 6"/>
          <p:cNvSpPr txBox="1"/>
          <p:nvPr/>
        </p:nvSpPr>
        <p:spPr>
          <a:xfrm>
            <a:off x="9238511" y="1726505"/>
            <a:ext cx="472558" cy="661193"/>
          </a:xfrm>
          <a:prstGeom prst="rect">
            <a:avLst/>
          </a:prstGeom>
          <a:noFill/>
        </p:spPr>
        <p:txBody>
          <a:bodyPr wrap="square" lIns="0" rIns="0" tIns="0" bIns="0" anchor="t">
            <a:spAutoFit/>
          </a:bodyPr>
          <a:lstStyle/>
          <a:p>
            <a:pPr algn="ctr">
              <a:lnSpc>
                <a:spcPts val="4651"/>
              </a:lnSpc>
            </a:pPr>
            <a:r>
              <a:rPr sz="4250" b="1" i="0">
                <a:solidFill>
                  <a:srgbClr val="2B2016"/>
                </a:solidFill>
                <a:latin typeface="Georgia"/>
              </a:rPr>
              <a:t>=</a:t>
            </a:r>
          </a:p>
        </p:txBody>
      </p:sp>
      <p:sp>
        <p:nvSpPr>
          <p:cNvPr id="9" name="Texto 7"/>
          <p:cNvSpPr txBox="1"/>
          <p:nvPr/>
        </p:nvSpPr>
        <p:spPr>
          <a:xfrm>
            <a:off x="5552558" y="2859980"/>
            <a:ext cx="5434418" cy="425053"/>
          </a:xfrm>
          <a:prstGeom prst="rect">
            <a:avLst/>
          </a:prstGeom>
          <a:noFill/>
        </p:spPr>
        <p:txBody>
          <a:bodyPr wrap="square" lIns="0" rIns="0" tIns="0" bIns="0" anchor="t">
            <a:spAutoFit/>
          </a:bodyPr>
          <a:lstStyle/>
          <a:p>
            <a:pPr algn="ctr">
              <a:lnSpc>
                <a:spcPts val="2790"/>
              </a:lnSpc>
            </a:pPr>
            <a:r>
              <a:rPr sz="2200" b="1" i="0">
                <a:solidFill>
                  <a:srgbClr val="F3E4C4"/>
                </a:solidFill>
                <a:latin typeface="Georgia"/>
              </a:rPr>
              <a:t>Vida Tolerable</a:t>
            </a:r>
            <a:r>
              <a:rPr sz="2200" b="0" i="0">
                <a:solidFill>
                  <a:srgbClr val="F3E4C4"/>
                </a:solidFill>
                <a:latin typeface="Georgia"/>
              </a:rPr>
              <a:t> (El 0.1% permitido)</a:t>
            </a:r>
          </a:p>
        </p:txBody>
      </p:sp>
      <p:sp>
        <p:nvSpPr>
          <p:cNvPr id="10" name="Texto 8"/>
          <p:cNvSpPr txBox="1"/>
          <p:nvPr/>
        </p:nvSpPr>
        <p:spPr>
          <a:xfrm>
            <a:off x="5906976" y="4654649"/>
            <a:ext cx="4489302" cy="472281"/>
          </a:xfrm>
          <a:prstGeom prst="rect">
            <a:avLst/>
          </a:prstGeom>
          <a:noFill/>
        </p:spPr>
        <p:txBody>
          <a:bodyPr wrap="square" lIns="0" rIns="0" tIns="0" bIns="0" anchor="t">
            <a:spAutoFit/>
          </a:bodyPr>
          <a:lstStyle/>
          <a:p>
            <a:pPr algn="ctr">
              <a:lnSpc>
                <a:spcPts val="3162"/>
              </a:lnSpc>
            </a:pPr>
            <a:r>
              <a:rPr sz="2300" b="1" i="0">
                <a:solidFill>
                  <a:srgbClr val="2B2016"/>
                </a:solidFill>
                <a:latin typeface="Georgia"/>
              </a:rPr>
              <a:t>Matriz de Daño</a:t>
            </a:r>
          </a:p>
        </p:txBody>
      </p:sp>
      <p:sp>
        <p:nvSpPr>
          <p:cNvPr id="11" name="Texto 9"/>
          <p:cNvSpPr txBox="1"/>
          <p:nvPr/>
        </p:nvSpPr>
        <p:spPr>
          <a:xfrm>
            <a:off x="2658139" y="5451623"/>
            <a:ext cx="2445488" cy="460474"/>
          </a:xfrm>
          <a:prstGeom prst="rect">
            <a:avLst/>
          </a:prstGeom>
          <a:noFill/>
        </p:spPr>
        <p:txBody>
          <a:bodyPr wrap="square" lIns="0" rIns="0" tIns="0" bIns="0" anchor="t">
            <a:spAutoFit/>
          </a:bodyPr>
          <a:lstStyle/>
          <a:p>
            <a:pPr algn="l">
              <a:lnSpc>
                <a:spcPts val="3069"/>
              </a:lnSpc>
            </a:pPr>
            <a:r>
              <a:rPr sz="2350" b="1" i="0">
                <a:solidFill>
                  <a:srgbClr val="2B2016"/>
                </a:solidFill>
                <a:latin typeface="Georgia"/>
              </a:rPr>
              <a:t>Ataque Menor</a:t>
            </a:r>
          </a:p>
        </p:txBody>
      </p:sp>
      <p:sp>
        <p:nvSpPr>
          <p:cNvPr id="12" name="Texto 10"/>
          <p:cNvSpPr txBox="1"/>
          <p:nvPr/>
        </p:nvSpPr>
        <p:spPr>
          <a:xfrm>
            <a:off x="2658139" y="5891435"/>
            <a:ext cx="2445488" cy="1322387"/>
          </a:xfrm>
          <a:prstGeom prst="rect">
            <a:avLst/>
          </a:prstGeom>
          <a:noFill/>
        </p:spPr>
        <p:txBody>
          <a:bodyPr wrap="square" lIns="0" rIns="0" tIns="0" bIns="0" anchor="t">
            <a:spAutoFit/>
          </a:bodyPr>
          <a:lstStyle/>
          <a:p>
            <a:pPr algn="l">
              <a:lnSpc>
                <a:spcPts val="2465"/>
              </a:lnSpc>
            </a:pPr>
            <a:r>
              <a:rPr sz="2000" b="0" i="0">
                <a:solidFill>
                  <a:srgbClr val="2B2016"/>
                </a:solidFill>
                <a:latin typeface="Georgia"/>
              </a:rPr>
              <a:t>Un bug introducido en un nuevo lanzamiento. Resta HP lentamente.</a:t>
            </a:r>
          </a:p>
        </p:txBody>
      </p:sp>
      <p:sp>
        <p:nvSpPr>
          <p:cNvPr id="13" name="Texto 11"/>
          <p:cNvSpPr txBox="1"/>
          <p:nvPr/>
        </p:nvSpPr>
        <p:spPr>
          <a:xfrm>
            <a:off x="7820837" y="5451623"/>
            <a:ext cx="2457302" cy="460474"/>
          </a:xfrm>
          <a:prstGeom prst="rect">
            <a:avLst/>
          </a:prstGeom>
          <a:noFill/>
        </p:spPr>
        <p:txBody>
          <a:bodyPr wrap="square" lIns="0" rIns="0" tIns="0" bIns="0" anchor="t">
            <a:spAutoFit/>
          </a:bodyPr>
          <a:lstStyle/>
          <a:p>
            <a:pPr algn="l">
              <a:lnSpc>
                <a:spcPts val="3069"/>
              </a:lnSpc>
            </a:pPr>
            <a:r>
              <a:rPr sz="2450" b="1" i="0">
                <a:solidFill>
                  <a:srgbClr val="2B2016"/>
                </a:solidFill>
                <a:latin typeface="Georgia"/>
              </a:rPr>
              <a:t>Daño Crítico</a:t>
            </a:r>
          </a:p>
        </p:txBody>
      </p:sp>
      <p:sp>
        <p:nvSpPr>
          <p:cNvPr id="14" name="Texto 12"/>
          <p:cNvSpPr txBox="1"/>
          <p:nvPr/>
        </p:nvSpPr>
        <p:spPr>
          <a:xfrm>
            <a:off x="7820837" y="5891435"/>
            <a:ext cx="2457302" cy="1322387"/>
          </a:xfrm>
          <a:prstGeom prst="rect">
            <a:avLst/>
          </a:prstGeom>
          <a:noFill/>
        </p:spPr>
        <p:txBody>
          <a:bodyPr wrap="square" lIns="0" rIns="0" tIns="0" bIns="0" anchor="t">
            <a:spAutoFit/>
          </a:bodyPr>
          <a:lstStyle/>
          <a:p>
            <a:pPr algn="l">
              <a:lnSpc>
                <a:spcPts val="2465"/>
              </a:lnSpc>
            </a:pPr>
            <a:r>
              <a:rPr sz="2000" b="0" i="0">
                <a:solidFill>
                  <a:srgbClr val="2B2016"/>
                </a:solidFill>
                <a:latin typeface="Georgia"/>
              </a:rPr>
              <a:t>Caída total de la base de datos. Resta cantidades masivas de HP.</a:t>
            </a:r>
          </a:p>
        </p:txBody>
      </p:sp>
      <p:sp>
        <p:nvSpPr>
          <p:cNvPr id="15" name="Texto 13"/>
          <p:cNvSpPr txBox="1"/>
          <p:nvPr/>
        </p:nvSpPr>
        <p:spPr>
          <a:xfrm>
            <a:off x="12723627" y="5451623"/>
            <a:ext cx="2516372" cy="460474"/>
          </a:xfrm>
          <a:prstGeom prst="rect">
            <a:avLst/>
          </a:prstGeom>
          <a:noFill/>
        </p:spPr>
        <p:txBody>
          <a:bodyPr wrap="square" lIns="0" rIns="0" tIns="0" bIns="0" anchor="t">
            <a:spAutoFit/>
          </a:bodyPr>
          <a:lstStyle/>
          <a:p>
            <a:pPr algn="l">
              <a:lnSpc>
                <a:spcPts val="3069"/>
              </a:lnSpc>
            </a:pPr>
            <a:r>
              <a:rPr sz="2250" b="1" i="0">
                <a:solidFill>
                  <a:srgbClr val="2B2016"/>
                </a:solidFill>
                <a:latin typeface="Georgia"/>
              </a:rPr>
              <a:t>Recuperación</a:t>
            </a:r>
          </a:p>
        </p:txBody>
      </p:sp>
      <p:sp>
        <p:nvSpPr>
          <p:cNvPr id="16" name="Texto 14"/>
          <p:cNvSpPr txBox="1"/>
          <p:nvPr/>
        </p:nvSpPr>
        <p:spPr>
          <a:xfrm>
            <a:off x="12723627" y="5891435"/>
            <a:ext cx="2516372" cy="1322387"/>
          </a:xfrm>
          <a:prstGeom prst="rect">
            <a:avLst/>
          </a:prstGeom>
          <a:noFill/>
        </p:spPr>
        <p:txBody>
          <a:bodyPr wrap="square" lIns="0" rIns="0" tIns="0" bIns="0" anchor="t">
            <a:spAutoFit/>
          </a:bodyPr>
          <a:lstStyle/>
          <a:p>
            <a:pPr algn="l">
              <a:lnSpc>
                <a:spcPts val="2465"/>
              </a:lnSpc>
            </a:pPr>
            <a:r>
              <a:rPr sz="2000" b="0" i="0">
                <a:solidFill>
                  <a:srgbClr val="2B2016"/>
                </a:solidFill>
                <a:latin typeface="Georgia"/>
              </a:rPr>
              <a:t>El inicio de un nuevo mes o trimestre. La barra de vida se reinicia.</a:t>
            </a:r>
          </a:p>
        </p:txBody>
      </p:sp>
      <p:sp>
        <p:nvSpPr>
          <p:cNvPr id="17" name="Texto 15"/>
          <p:cNvSpPr txBox="1"/>
          <p:nvPr/>
        </p:nvSpPr>
        <p:spPr>
          <a:xfrm>
            <a:off x="4016744" y="8019653"/>
            <a:ext cx="7797209" cy="732035"/>
          </a:xfrm>
          <a:prstGeom prst="rect">
            <a:avLst/>
          </a:prstGeom>
          <a:noFill/>
        </p:spPr>
        <p:txBody>
          <a:bodyPr wrap="square" lIns="0" rIns="0" tIns="0" bIns="0" anchor="t">
            <a:spAutoFit/>
          </a:bodyPr>
          <a:lstStyle/>
          <a:p>
            <a:pPr algn="ctr">
              <a:lnSpc>
                <a:spcPts val="2604"/>
              </a:lnSpc>
            </a:pPr>
            <a:r>
              <a:rPr sz="2100" b="1" i="0">
                <a:solidFill>
                  <a:srgbClr val="2B2016"/>
                </a:solidFill>
                <a:latin typeface="Georgia"/>
              </a:rPr>
              <a:t>Regla de Oro:</a:t>
            </a:r>
            <a:r>
              <a:rPr sz="2100" b="0" i="0">
                <a:solidFill>
                  <a:srgbClr val="2B2016"/>
                </a:solidFill>
                <a:latin typeface="Georgia"/>
              </a:rPr>
              <a:t> Si tienes Presupuesto de Error, el sistema está sano. Si llega a cero, el servicio está herido de gravedad.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0" descr="Ilustración de fondo de la diapositiva 10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150" b="0" i="0">
                <a:solidFill>
                  <a:srgbClr val="2B2016"/>
                </a:solidFill>
                <a:latin typeface="Georgia"/>
              </a:rPr>
              <a:t>Reglas de Combate: Gestionando el Presupuesto</a:t>
            </a:r>
          </a:p>
        </p:txBody>
      </p:sp>
      <p:sp>
        <p:nvSpPr>
          <p:cNvPr id="4" name="Texto 2"/>
          <p:cNvSpPr txBox="1"/>
          <p:nvPr/>
        </p:nvSpPr>
        <p:spPr>
          <a:xfrm>
            <a:off x="6911162" y="1915417"/>
            <a:ext cx="2445488" cy="1771054"/>
          </a:xfrm>
          <a:prstGeom prst="rect">
            <a:avLst/>
          </a:prstGeom>
          <a:noFill/>
        </p:spPr>
        <p:txBody>
          <a:bodyPr wrap="square" lIns="0" rIns="0" tIns="0" bIns="0" anchor="t">
            <a:spAutoFit/>
          </a:bodyPr>
          <a:lstStyle/>
          <a:p>
            <a:pPr algn="ctr">
              <a:lnSpc>
                <a:spcPts val="3348"/>
              </a:lnSpc>
            </a:pPr>
            <a:r>
              <a:rPr sz="2500" b="0" i="0">
                <a:solidFill>
                  <a:srgbClr val="F5E9CF"/>
                </a:solidFill>
                <a:latin typeface="Georgia"/>
              </a:rPr>
              <a:t>¿Tenemos</a:t>
            </a:r>
          </a:p>
          <a:p>
            <a:pPr algn="ctr">
              <a:lnSpc>
                <a:spcPts val="3348"/>
              </a:lnSpc>
            </a:pPr>
            <a:r>
              <a:rPr sz="2500" b="0" i="0">
                <a:solidFill>
                  <a:srgbClr val="F5E9CF"/>
                </a:solidFill>
                <a:latin typeface="Georgia"/>
              </a:rPr>
              <a:t>Presupuesto de</a:t>
            </a:r>
          </a:p>
          <a:p>
            <a:pPr algn="ctr">
              <a:lnSpc>
                <a:spcPts val="3348"/>
              </a:lnSpc>
            </a:pPr>
            <a:r>
              <a:rPr sz="2500" b="0" i="0">
                <a:solidFill>
                  <a:srgbClr val="F5E9CF"/>
                </a:solidFill>
                <a:latin typeface="Georgia"/>
              </a:rPr>
              <a:t>Error disponible</a:t>
            </a:r>
          </a:p>
          <a:p>
            <a:pPr algn="ctr">
              <a:lnSpc>
                <a:spcPts val="3348"/>
              </a:lnSpc>
            </a:pPr>
            <a:r>
              <a:rPr sz="2500" b="0" i="0">
                <a:solidFill>
                  <a:srgbClr val="F5E9CF"/>
                </a:solidFill>
                <a:latin typeface="Georgia"/>
              </a:rPr>
              <a:t>(HP &gt; 0)?</a:t>
            </a:r>
          </a:p>
        </p:txBody>
      </p:sp>
      <p:sp>
        <p:nvSpPr>
          <p:cNvPr id="5" name="Texto 3"/>
          <p:cNvSpPr txBox="1"/>
          <p:nvPr/>
        </p:nvSpPr>
        <p:spPr>
          <a:xfrm>
            <a:off x="5020930" y="2399506"/>
            <a:ext cx="708837" cy="495895"/>
          </a:xfrm>
          <a:prstGeom prst="rect">
            <a:avLst/>
          </a:prstGeom>
          <a:noFill/>
        </p:spPr>
        <p:txBody>
          <a:bodyPr wrap="square" lIns="0" rIns="0" tIns="0" bIns="0" anchor="t">
            <a:spAutoFit/>
          </a:bodyPr>
          <a:lstStyle/>
          <a:p>
            <a:pPr algn="ctr">
              <a:lnSpc>
                <a:spcPts val="3348"/>
              </a:lnSpc>
            </a:pPr>
            <a:r>
              <a:rPr sz="2800" b="1" i="0">
                <a:solidFill>
                  <a:srgbClr val="F5E9CF"/>
                </a:solidFill>
                <a:latin typeface="Georgia"/>
              </a:rPr>
              <a:t>SÍ</a:t>
            </a:r>
          </a:p>
        </p:txBody>
      </p:sp>
      <p:sp>
        <p:nvSpPr>
          <p:cNvPr id="6" name="Texto 4"/>
          <p:cNvSpPr txBox="1"/>
          <p:nvPr/>
        </p:nvSpPr>
        <p:spPr>
          <a:xfrm>
            <a:off x="10573488" y="2399506"/>
            <a:ext cx="649767" cy="495895"/>
          </a:xfrm>
          <a:prstGeom prst="rect">
            <a:avLst/>
          </a:prstGeom>
          <a:noFill/>
        </p:spPr>
        <p:txBody>
          <a:bodyPr wrap="square" lIns="0" rIns="0" tIns="0" bIns="0" anchor="t">
            <a:spAutoFit/>
          </a:bodyPr>
          <a:lstStyle/>
          <a:p>
            <a:pPr algn="ctr">
              <a:lnSpc>
                <a:spcPts val="3348"/>
              </a:lnSpc>
            </a:pPr>
            <a:r>
              <a:rPr sz="2800" b="1" i="0">
                <a:solidFill>
                  <a:srgbClr val="F5E9CF"/>
                </a:solidFill>
                <a:latin typeface="Georgia"/>
              </a:rPr>
              <a:t>NO</a:t>
            </a:r>
          </a:p>
        </p:txBody>
      </p:sp>
      <p:sp>
        <p:nvSpPr>
          <p:cNvPr id="7" name="Texto 5"/>
          <p:cNvSpPr txBox="1"/>
          <p:nvPr/>
        </p:nvSpPr>
        <p:spPr>
          <a:xfrm>
            <a:off x="1181395" y="5451623"/>
            <a:ext cx="5080000" cy="460474"/>
          </a:xfrm>
          <a:prstGeom prst="rect">
            <a:avLst/>
          </a:prstGeom>
          <a:noFill/>
        </p:spPr>
        <p:txBody>
          <a:bodyPr wrap="square" lIns="0" rIns="0" tIns="0" bIns="0" anchor="t">
            <a:spAutoFit/>
          </a:bodyPr>
          <a:lstStyle/>
          <a:p>
            <a:pPr algn="ctr">
              <a:lnSpc>
                <a:spcPts val="3069"/>
              </a:lnSpc>
            </a:pPr>
            <a:r>
              <a:rPr sz="2200" b="1" i="0">
                <a:solidFill>
                  <a:srgbClr val="2B2016"/>
                </a:solidFill>
                <a:latin typeface="Georgia"/>
              </a:rPr>
              <a:t>Sigue explorando la mazmorra</a:t>
            </a:r>
          </a:p>
        </p:txBody>
      </p:sp>
      <p:sp>
        <p:nvSpPr>
          <p:cNvPr id="8" name="Texto 6"/>
          <p:cNvSpPr txBox="1"/>
          <p:nvPr/>
        </p:nvSpPr>
        <p:spPr>
          <a:xfrm>
            <a:off x="1630325" y="6145286"/>
            <a:ext cx="4134883" cy="1694308"/>
          </a:xfrm>
          <a:prstGeom prst="rect">
            <a:avLst/>
          </a:prstGeom>
          <a:noFill/>
        </p:spPr>
        <p:txBody>
          <a:bodyPr wrap="square" lIns="0" rIns="0" tIns="0" bIns="0" anchor="t">
            <a:spAutoFit/>
          </a:bodyPr>
          <a:lstStyle/>
          <a:p>
            <a:pPr algn="ctr">
              <a:lnSpc>
                <a:spcPts val="2558"/>
              </a:lnSpc>
            </a:pPr>
            <a:r>
              <a:rPr sz="2050" b="0" i="0">
                <a:solidFill>
                  <a:srgbClr val="2B2016"/>
                </a:solidFill>
                <a:latin typeface="Georgia"/>
              </a:rPr>
              <a:t>Autorización para lanzamientos rápidos. Los desarrolladores pueden empujar nuevas funciones a producción. El riesgo operativo es aceptable.</a:t>
            </a:r>
          </a:p>
        </p:txBody>
      </p:sp>
      <p:sp>
        <p:nvSpPr>
          <p:cNvPr id="9" name="Texto 7"/>
          <p:cNvSpPr txBox="1"/>
          <p:nvPr/>
        </p:nvSpPr>
        <p:spPr>
          <a:xfrm>
            <a:off x="10041860" y="5451623"/>
            <a:ext cx="4430232" cy="460474"/>
          </a:xfrm>
          <a:prstGeom prst="rect">
            <a:avLst/>
          </a:prstGeom>
          <a:noFill/>
        </p:spPr>
        <p:txBody>
          <a:bodyPr wrap="square" lIns="0" rIns="0" tIns="0" bIns="0" anchor="t">
            <a:spAutoFit/>
          </a:bodyPr>
          <a:lstStyle/>
          <a:p>
            <a:pPr algn="ctr">
              <a:lnSpc>
                <a:spcPts val="3069"/>
              </a:lnSpc>
            </a:pPr>
            <a:r>
              <a:rPr sz="2600" b="1" i="0">
                <a:solidFill>
                  <a:srgbClr val="2B2016"/>
                </a:solidFill>
                <a:latin typeface="Georgia"/>
              </a:rPr>
              <a:t>Haz un descanso largo</a:t>
            </a:r>
          </a:p>
        </p:txBody>
      </p:sp>
      <p:sp>
        <p:nvSpPr>
          <p:cNvPr id="10" name="Texto 8"/>
          <p:cNvSpPr txBox="1"/>
          <p:nvPr/>
        </p:nvSpPr>
        <p:spPr>
          <a:xfrm>
            <a:off x="10254511" y="6074444"/>
            <a:ext cx="4654697" cy="1694308"/>
          </a:xfrm>
          <a:prstGeom prst="rect">
            <a:avLst/>
          </a:prstGeom>
          <a:noFill/>
        </p:spPr>
        <p:txBody>
          <a:bodyPr wrap="square" lIns="0" rIns="0" tIns="0" bIns="0" anchor="t">
            <a:spAutoFit/>
          </a:bodyPr>
          <a:lstStyle/>
          <a:p>
            <a:pPr algn="ctr">
              <a:lnSpc>
                <a:spcPts val="2558"/>
              </a:lnSpc>
            </a:pPr>
            <a:r>
              <a:rPr sz="2050" b="0" i="0">
                <a:solidFill>
                  <a:srgbClr val="2B2016"/>
                </a:solidFill>
                <a:latin typeface="Georgia"/>
              </a:rPr>
              <a:t>Congela el lanzamiento de nuevas funciones. Todo el equipo (Dev y Ops) prioriza labores de estabilidad, refactorización y pruebas de recuperación.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1" descr="Ilustración de fondo de la diapositiva 11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2600" b="0" i="0">
                <a:solidFill>
                  <a:srgbClr val="2B2016"/>
                </a:solidFill>
                <a:latin typeface="Georgia"/>
              </a:rPr>
              <a:t>Construyendo la Fortaleza (Arquitectura de Confiabilidad)</a:t>
            </a:r>
          </a:p>
        </p:txBody>
      </p:sp>
      <p:sp>
        <p:nvSpPr>
          <p:cNvPr id="4" name="Texto 2"/>
          <p:cNvSpPr txBox="1"/>
          <p:nvPr/>
        </p:nvSpPr>
        <p:spPr>
          <a:xfrm>
            <a:off x="1016000" y="1903610"/>
            <a:ext cx="3307906" cy="472281"/>
          </a:xfrm>
          <a:prstGeom prst="rect">
            <a:avLst/>
          </a:prstGeom>
          <a:noFill/>
        </p:spPr>
        <p:txBody>
          <a:bodyPr wrap="square" lIns="0" rIns="0" tIns="0" bIns="0" anchor="t">
            <a:spAutoFit/>
          </a:bodyPr>
          <a:lstStyle/>
          <a:p>
            <a:pPr algn="ctr">
              <a:lnSpc>
                <a:spcPts val="3162"/>
              </a:lnSpc>
            </a:pPr>
            <a:r>
              <a:rPr sz="2000" b="1" i="0">
                <a:solidFill>
                  <a:srgbClr val="2B2016"/>
                </a:solidFill>
                <a:latin typeface="Georgia"/>
              </a:rPr>
              <a:t>Murallas Expansibles</a:t>
            </a:r>
          </a:p>
        </p:txBody>
      </p:sp>
      <p:sp>
        <p:nvSpPr>
          <p:cNvPr id="5" name="Texto 3"/>
          <p:cNvSpPr txBox="1"/>
          <p:nvPr/>
        </p:nvSpPr>
        <p:spPr>
          <a:xfrm>
            <a:off x="1252279" y="2491010"/>
            <a:ext cx="3048000" cy="1635273"/>
          </a:xfrm>
          <a:prstGeom prst="rect">
            <a:avLst/>
          </a:prstGeom>
          <a:noFill/>
        </p:spPr>
        <p:txBody>
          <a:bodyPr wrap="square" lIns="0" rIns="0" tIns="0" bIns="0" anchor="t">
            <a:spAutoFit/>
          </a:bodyPr>
          <a:lstStyle/>
          <a:p>
            <a:pPr algn="ctr">
              <a:lnSpc>
                <a:spcPts val="2465"/>
              </a:lnSpc>
            </a:pPr>
            <a:r>
              <a:rPr sz="1650" b="1" i="0">
                <a:solidFill>
                  <a:srgbClr val="2B2016"/>
                </a:solidFill>
                <a:latin typeface="Georgia"/>
              </a:rPr>
              <a:t>Escalabilidad Horizontal:</a:t>
            </a:r>
          </a:p>
          <a:p>
            <a:pPr algn="ctr">
              <a:lnSpc>
                <a:spcPts val="2465"/>
              </a:lnSpc>
            </a:pPr>
            <a:r>
              <a:rPr sz="1650" b="0" i="0">
                <a:solidFill>
                  <a:srgbClr val="2B2016"/>
                </a:solidFill>
                <a:latin typeface="Georgia"/>
              </a:rPr>
              <a:t>Múltiples capas de muros que se clonan automáticamente ante un ataque de tráfico.</a:t>
            </a:r>
          </a:p>
        </p:txBody>
      </p:sp>
      <p:sp>
        <p:nvSpPr>
          <p:cNvPr id="6" name="Texto 4"/>
          <p:cNvSpPr txBox="1"/>
          <p:nvPr/>
        </p:nvSpPr>
        <p:spPr>
          <a:xfrm>
            <a:off x="12014790" y="1903610"/>
            <a:ext cx="3307906" cy="472281"/>
          </a:xfrm>
          <a:prstGeom prst="rect">
            <a:avLst/>
          </a:prstGeom>
          <a:noFill/>
        </p:spPr>
        <p:txBody>
          <a:bodyPr wrap="square" lIns="0" rIns="0" tIns="0" bIns="0" anchor="t">
            <a:spAutoFit/>
          </a:bodyPr>
          <a:lstStyle/>
          <a:p>
            <a:pPr algn="ctr">
              <a:lnSpc>
                <a:spcPts val="3162"/>
              </a:lnSpc>
            </a:pPr>
            <a:r>
              <a:rPr sz="2000" b="1" i="0">
                <a:solidFill>
                  <a:srgbClr val="2B2016"/>
                </a:solidFill>
                <a:latin typeface="Georgia"/>
              </a:rPr>
              <a:t>Torres de Vigilancia</a:t>
            </a:r>
          </a:p>
        </p:txBody>
      </p:sp>
      <p:sp>
        <p:nvSpPr>
          <p:cNvPr id="7" name="Texto 5"/>
          <p:cNvSpPr txBox="1"/>
          <p:nvPr/>
        </p:nvSpPr>
        <p:spPr>
          <a:xfrm>
            <a:off x="12286511" y="2491010"/>
            <a:ext cx="2788093" cy="1635273"/>
          </a:xfrm>
          <a:prstGeom prst="rect">
            <a:avLst/>
          </a:prstGeom>
          <a:noFill/>
        </p:spPr>
        <p:txBody>
          <a:bodyPr wrap="square" lIns="0" rIns="0" tIns="0" bIns="0" anchor="t">
            <a:spAutoFit/>
          </a:bodyPr>
          <a:lstStyle/>
          <a:p>
            <a:pPr algn="ctr">
              <a:lnSpc>
                <a:spcPts val="2465"/>
              </a:lnSpc>
            </a:pPr>
            <a:r>
              <a:rPr sz="1650" b="1" i="0">
                <a:solidFill>
                  <a:srgbClr val="2B2016"/>
                </a:solidFill>
                <a:latin typeface="Georgia"/>
              </a:rPr>
              <a:t>Observabilidad:</a:t>
            </a:r>
          </a:p>
          <a:p>
            <a:pPr algn="ctr">
              <a:lnSpc>
                <a:spcPts val="2465"/>
              </a:lnSpc>
            </a:pPr>
            <a:r>
              <a:rPr sz="1650" b="0" i="0">
                <a:solidFill>
                  <a:srgbClr val="2B2016"/>
                </a:solidFill>
                <a:latin typeface="Georgia"/>
              </a:rPr>
              <a:t>Detección temprana de fallos mediante monitoreo de logs y métricas para reducir el MTTR.</a:t>
            </a:r>
          </a:p>
        </p:txBody>
      </p:sp>
      <p:sp>
        <p:nvSpPr>
          <p:cNvPr id="8" name="Texto 6"/>
          <p:cNvSpPr txBox="1"/>
          <p:nvPr/>
        </p:nvSpPr>
        <p:spPr>
          <a:xfrm>
            <a:off x="1016000" y="5823545"/>
            <a:ext cx="3307906" cy="472281"/>
          </a:xfrm>
          <a:prstGeom prst="rect">
            <a:avLst/>
          </a:prstGeom>
          <a:noFill/>
        </p:spPr>
        <p:txBody>
          <a:bodyPr wrap="square" lIns="0" rIns="0" tIns="0" bIns="0" anchor="t">
            <a:spAutoFit/>
          </a:bodyPr>
          <a:lstStyle/>
          <a:p>
            <a:pPr algn="ctr">
              <a:lnSpc>
                <a:spcPts val="3162"/>
              </a:lnSpc>
            </a:pPr>
            <a:r>
              <a:rPr sz="2200" b="1" i="0">
                <a:solidFill>
                  <a:srgbClr val="2B2016"/>
                </a:solidFill>
                <a:latin typeface="Georgia"/>
              </a:rPr>
              <a:t>Bóvedas Espejo</a:t>
            </a:r>
          </a:p>
        </p:txBody>
      </p:sp>
      <p:sp>
        <p:nvSpPr>
          <p:cNvPr id="9" name="Texto 7"/>
          <p:cNvSpPr txBox="1"/>
          <p:nvPr/>
        </p:nvSpPr>
        <p:spPr>
          <a:xfrm>
            <a:off x="1252279" y="6399138"/>
            <a:ext cx="3048000" cy="1635273"/>
          </a:xfrm>
          <a:prstGeom prst="rect">
            <a:avLst/>
          </a:prstGeom>
          <a:noFill/>
        </p:spPr>
        <p:txBody>
          <a:bodyPr wrap="square" lIns="0" rIns="0" tIns="0" bIns="0" anchor="t">
            <a:spAutoFit/>
          </a:bodyPr>
          <a:lstStyle/>
          <a:p>
            <a:pPr algn="ctr">
              <a:lnSpc>
                <a:spcPts val="2465"/>
              </a:lnSpc>
            </a:pPr>
            <a:r>
              <a:rPr sz="1650" b="1" i="0">
                <a:solidFill>
                  <a:srgbClr val="2B2016"/>
                </a:solidFill>
                <a:latin typeface="Georgia"/>
              </a:rPr>
              <a:t>Redundancia de Datos:</a:t>
            </a:r>
          </a:p>
          <a:p>
            <a:pPr algn="ctr">
              <a:lnSpc>
                <a:spcPts val="2465"/>
              </a:lnSpc>
            </a:pPr>
            <a:r>
              <a:rPr sz="1650" b="0" i="0">
                <a:solidFill>
                  <a:srgbClr val="2B2016"/>
                </a:solidFill>
                <a:latin typeface="Georgia"/>
              </a:rPr>
              <a:t>Alta disponibilidad replicando artefactos en distintas regiones para sobrevivir a un colapso.</a:t>
            </a:r>
          </a:p>
        </p:txBody>
      </p:sp>
      <p:sp>
        <p:nvSpPr>
          <p:cNvPr id="10" name="Texto 8"/>
          <p:cNvSpPr txBox="1"/>
          <p:nvPr/>
        </p:nvSpPr>
        <p:spPr>
          <a:xfrm>
            <a:off x="11991162" y="5965229"/>
            <a:ext cx="3307906" cy="472281"/>
          </a:xfrm>
          <a:prstGeom prst="rect">
            <a:avLst/>
          </a:prstGeom>
          <a:noFill/>
        </p:spPr>
        <p:txBody>
          <a:bodyPr wrap="square" lIns="0" rIns="0" tIns="0" bIns="0" anchor="t">
            <a:spAutoFit/>
          </a:bodyPr>
          <a:lstStyle/>
          <a:p>
            <a:pPr algn="ctr">
              <a:lnSpc>
                <a:spcPts val="3162"/>
              </a:lnSpc>
            </a:pPr>
            <a:r>
              <a:rPr sz="2000" b="1" i="0">
                <a:solidFill>
                  <a:srgbClr val="2B2016"/>
                </a:solidFill>
                <a:latin typeface="Georgia"/>
              </a:rPr>
              <a:t>Salidas de Emergencia</a:t>
            </a:r>
          </a:p>
        </p:txBody>
      </p:sp>
      <p:sp>
        <p:nvSpPr>
          <p:cNvPr id="11" name="Texto 9"/>
          <p:cNvSpPr txBox="1"/>
          <p:nvPr/>
        </p:nvSpPr>
        <p:spPr>
          <a:xfrm>
            <a:off x="12286511" y="6529015"/>
            <a:ext cx="2788093" cy="1635273"/>
          </a:xfrm>
          <a:prstGeom prst="rect">
            <a:avLst/>
          </a:prstGeom>
          <a:noFill/>
        </p:spPr>
        <p:txBody>
          <a:bodyPr wrap="square" lIns="0" rIns="0" tIns="0" bIns="0" anchor="t">
            <a:spAutoFit/>
          </a:bodyPr>
          <a:lstStyle/>
          <a:p>
            <a:pPr algn="ctr">
              <a:lnSpc>
                <a:spcPts val="2465"/>
              </a:lnSpc>
            </a:pPr>
            <a:r>
              <a:rPr sz="1650" b="1" i="0">
                <a:solidFill>
                  <a:srgbClr val="2B2016"/>
                </a:solidFill>
                <a:latin typeface="Georgia"/>
              </a:rPr>
              <a:t>Degradación Elegante:</a:t>
            </a:r>
          </a:p>
          <a:p>
            <a:pPr algn="ctr">
              <a:lnSpc>
                <a:spcPts val="2465"/>
              </a:lnSpc>
            </a:pPr>
            <a:r>
              <a:rPr sz="1650" b="0" i="0">
                <a:solidFill>
                  <a:srgbClr val="2B2016"/>
                </a:solidFill>
                <a:latin typeface="Georgia"/>
              </a:rPr>
              <a:t>Si la puerta principal cae, el castillo sigue operando funciones básicas de solo lectura.</a:t>
            </a:r>
          </a:p>
        </p:txBody>
      </p:sp>
      <p:sp>
        <p:nvSpPr>
          <p:cNvPr id="12" name="Herramientas 1"/>
          <p:cNvSpPr/>
          <p:nvPr/>
        </p:nvSpPr>
        <p:spPr>
          <a:xfrm>
            <a:off x="1181395" y="4312245"/>
            <a:ext cx="3284279" cy="637579"/>
          </a:xfrm>
          <a:prstGeom prst="roundRect">
            <a:avLst>
              <a:gd name="adj" fmla="val 12000"/>
            </a:avLst>
          </a:prstGeom>
          <a:solidFill>
            <a:srgbClr val="EFE3C6">
              <a:alpha val="93000"/>
            </a:srgbClr>
          </a:solidFill>
          <a:ln w="9525">
            <a:solidFill>
              <a:srgbClr val="6B4E2E"/>
            </a:solidFill>
          </a:ln>
          <a:effectLst/>
        </p:spPr>
        <p:style>
          <a:lnRef idx="1">
            <a:schemeClr val="accent1"/>
          </a:lnRef>
          <a:fillRef idx="3">
            <a:schemeClr val="accent1"/>
          </a:fillRef>
          <a:effectRef idx="2">
            <a:schemeClr val="accent1"/>
          </a:effectRef>
          <a:fontRef idx="minor">
            <a:schemeClr val="lt1"/>
          </a:fontRef>
        </p:style>
        <p:txBody>
          <a:bodyPr rtlCol="0" anchor="ctr" wrap="square" lIns="82697" rIns="82697" tIns="23614" bIns="23614"/>
          <a:lstStyle/>
          <a:p>
            <a:pPr algn="l">
              <a:lnSpc>
                <a:spcPts val="1250"/>
              </a:lnSpc>
            </a:pPr>
            <a:r>
              <a:rPr sz="1000" b="1">
                <a:solidFill>
                  <a:srgbClr val="2B2016"/>
                </a:solidFill>
                <a:latin typeface="Arial"/>
              </a:rPr>
              <a:t>AWS: </a:t>
            </a:r>
            <a:r>
              <a:rPr sz="1000" b="0">
                <a:solidFill>
                  <a:srgbClr val="2B2016"/>
                </a:solidFill>
                <a:latin typeface="Arial"/>
              </a:rPr>
              <a:t>EC2 Auto Scaling, ELB, EKS</a:t>
            </a:r>
          </a:p>
          <a:p>
            <a:pPr algn="l">
              <a:lnSpc>
                <a:spcPts val="1250"/>
              </a:lnSpc>
            </a:pPr>
            <a:r>
              <a:rPr sz="1000" b="1">
                <a:solidFill>
                  <a:srgbClr val="2B2016"/>
                </a:solidFill>
                <a:latin typeface="Arial"/>
              </a:rPr>
              <a:t>Azure: </a:t>
            </a:r>
            <a:r>
              <a:rPr sz="1000" b="0">
                <a:solidFill>
                  <a:srgbClr val="2B2016"/>
                </a:solidFill>
                <a:latin typeface="Arial"/>
              </a:rPr>
              <a:t>VM Scale Sets, App Gateway, AKS</a:t>
            </a:r>
          </a:p>
          <a:p>
            <a:pPr algn="l">
              <a:lnSpc>
                <a:spcPts val="1250"/>
              </a:lnSpc>
            </a:pPr>
            <a:r>
              <a:rPr sz="1000" b="1">
                <a:solidFill>
                  <a:srgbClr val="2B2016"/>
                </a:solidFill>
                <a:latin typeface="Arial"/>
              </a:rPr>
              <a:t>GCP: </a:t>
            </a:r>
            <a:r>
              <a:rPr sz="1000" b="0">
                <a:solidFill>
                  <a:srgbClr val="2B2016"/>
                </a:solidFill>
                <a:latin typeface="Arial"/>
              </a:rPr>
              <a:t>Instance Groups, Cloud LB, GKE</a:t>
            </a:r>
          </a:p>
        </p:txBody>
      </p:sp>
      <p:sp>
        <p:nvSpPr>
          <p:cNvPr id="13" name="Herramientas 2"/>
          <p:cNvSpPr/>
          <p:nvPr/>
        </p:nvSpPr>
        <p:spPr>
          <a:xfrm>
            <a:off x="12026604" y="4312245"/>
            <a:ext cx="3284279" cy="637579"/>
          </a:xfrm>
          <a:prstGeom prst="roundRect">
            <a:avLst>
              <a:gd name="adj" fmla="val 12000"/>
            </a:avLst>
          </a:prstGeom>
          <a:solidFill>
            <a:srgbClr val="EFE3C6">
              <a:alpha val="93000"/>
            </a:srgbClr>
          </a:solidFill>
          <a:ln w="9525">
            <a:solidFill>
              <a:srgbClr val="6B4E2E"/>
            </a:solidFill>
          </a:ln>
          <a:effectLst/>
        </p:spPr>
        <p:style>
          <a:lnRef idx="1">
            <a:schemeClr val="accent1"/>
          </a:lnRef>
          <a:fillRef idx="3">
            <a:schemeClr val="accent1"/>
          </a:fillRef>
          <a:effectRef idx="2">
            <a:schemeClr val="accent1"/>
          </a:effectRef>
          <a:fontRef idx="minor">
            <a:schemeClr val="lt1"/>
          </a:fontRef>
        </p:style>
        <p:txBody>
          <a:bodyPr rtlCol="0" anchor="ctr" wrap="square" lIns="82697" rIns="82697" tIns="23614" bIns="23614"/>
          <a:lstStyle/>
          <a:p>
            <a:pPr algn="l">
              <a:lnSpc>
                <a:spcPts val="1250"/>
              </a:lnSpc>
            </a:pPr>
            <a:r>
              <a:rPr sz="1000" b="1">
                <a:solidFill>
                  <a:srgbClr val="2B2016"/>
                </a:solidFill>
                <a:latin typeface="Arial"/>
              </a:rPr>
              <a:t>AWS: </a:t>
            </a:r>
            <a:r>
              <a:rPr sz="1000" b="0">
                <a:solidFill>
                  <a:srgbClr val="2B2016"/>
                </a:solidFill>
                <a:latin typeface="Arial"/>
              </a:rPr>
              <a:t>CloudWatch, X-Ray, Managed Grafana</a:t>
            </a:r>
          </a:p>
          <a:p>
            <a:pPr algn="l">
              <a:lnSpc>
                <a:spcPts val="1250"/>
              </a:lnSpc>
            </a:pPr>
            <a:r>
              <a:rPr sz="1000" b="1">
                <a:solidFill>
                  <a:srgbClr val="2B2016"/>
                </a:solidFill>
                <a:latin typeface="Arial"/>
              </a:rPr>
              <a:t>Azure: </a:t>
            </a:r>
            <a:r>
              <a:rPr sz="1000" b="0">
                <a:solidFill>
                  <a:srgbClr val="2B2016"/>
                </a:solidFill>
                <a:latin typeface="Arial"/>
              </a:rPr>
              <a:t>Azure Monitor, Application Insights</a:t>
            </a:r>
          </a:p>
          <a:p>
            <a:pPr algn="l">
              <a:lnSpc>
                <a:spcPts val="1250"/>
              </a:lnSpc>
            </a:pPr>
            <a:r>
              <a:rPr sz="1000" b="1">
                <a:solidFill>
                  <a:srgbClr val="2B2016"/>
                </a:solidFill>
                <a:latin typeface="Arial"/>
              </a:rPr>
              <a:t>GCP: </a:t>
            </a:r>
            <a:r>
              <a:rPr sz="1000" b="0">
                <a:solidFill>
                  <a:srgbClr val="2B2016"/>
                </a:solidFill>
                <a:latin typeface="Arial"/>
              </a:rPr>
              <a:t>Cloud Monitoring, Logging, Trace</a:t>
            </a:r>
          </a:p>
        </p:txBody>
      </p:sp>
      <p:sp>
        <p:nvSpPr>
          <p:cNvPr id="14" name="Herramientas 3"/>
          <p:cNvSpPr/>
          <p:nvPr/>
        </p:nvSpPr>
        <p:spPr>
          <a:xfrm>
            <a:off x="1181395" y="4997053"/>
            <a:ext cx="3284279" cy="637579"/>
          </a:xfrm>
          <a:prstGeom prst="roundRect">
            <a:avLst>
              <a:gd name="adj" fmla="val 12000"/>
            </a:avLst>
          </a:prstGeom>
          <a:solidFill>
            <a:srgbClr val="EFE3C6">
              <a:alpha val="93000"/>
            </a:srgbClr>
          </a:solidFill>
          <a:ln w="9525">
            <a:solidFill>
              <a:srgbClr val="6B4E2E"/>
            </a:solidFill>
          </a:ln>
          <a:effectLst/>
        </p:spPr>
        <p:style>
          <a:lnRef idx="1">
            <a:schemeClr val="accent1"/>
          </a:lnRef>
          <a:fillRef idx="3">
            <a:schemeClr val="accent1"/>
          </a:fillRef>
          <a:effectRef idx="2">
            <a:schemeClr val="accent1"/>
          </a:effectRef>
          <a:fontRef idx="minor">
            <a:schemeClr val="lt1"/>
          </a:fontRef>
        </p:style>
        <p:txBody>
          <a:bodyPr rtlCol="0" anchor="ctr" wrap="square" lIns="82697" rIns="82697" tIns="23614" bIns="23614"/>
          <a:lstStyle/>
          <a:p>
            <a:pPr algn="l">
              <a:lnSpc>
                <a:spcPts val="1250"/>
              </a:lnSpc>
            </a:pPr>
            <a:r>
              <a:rPr sz="1000" b="1">
                <a:solidFill>
                  <a:srgbClr val="2B2016"/>
                </a:solidFill>
                <a:latin typeface="Arial"/>
              </a:rPr>
              <a:t>AWS: </a:t>
            </a:r>
            <a:r>
              <a:rPr sz="1000" b="0">
                <a:solidFill>
                  <a:srgbClr val="2B2016"/>
                </a:solidFill>
                <a:latin typeface="Arial"/>
              </a:rPr>
              <a:t>S3 CRR, Aurora Global, DynamoDB Global</a:t>
            </a:r>
          </a:p>
          <a:p>
            <a:pPr algn="l">
              <a:lnSpc>
                <a:spcPts val="1250"/>
              </a:lnSpc>
            </a:pPr>
            <a:r>
              <a:rPr sz="1000" b="1">
                <a:solidFill>
                  <a:srgbClr val="2B2016"/>
                </a:solidFill>
                <a:latin typeface="Arial"/>
              </a:rPr>
              <a:t>Azure: </a:t>
            </a:r>
            <a:r>
              <a:rPr sz="1000" b="0">
                <a:solidFill>
                  <a:srgbClr val="2B2016"/>
                </a:solidFill>
                <a:latin typeface="Arial"/>
              </a:rPr>
              <a:t>Storage GRS, Cosmos DB multirregión</a:t>
            </a:r>
          </a:p>
          <a:p>
            <a:pPr algn="l">
              <a:lnSpc>
                <a:spcPts val="1250"/>
              </a:lnSpc>
            </a:pPr>
            <a:r>
              <a:rPr sz="1000" b="1">
                <a:solidFill>
                  <a:srgbClr val="2B2016"/>
                </a:solidFill>
                <a:latin typeface="Arial"/>
              </a:rPr>
              <a:t>GCP: </a:t>
            </a:r>
            <a:r>
              <a:rPr sz="1000" b="0">
                <a:solidFill>
                  <a:srgbClr val="2B2016"/>
                </a:solidFill>
                <a:latin typeface="Arial"/>
              </a:rPr>
              <a:t>Spanner y Cloud Storage multirregión</a:t>
            </a:r>
          </a:p>
        </p:txBody>
      </p:sp>
      <p:sp>
        <p:nvSpPr>
          <p:cNvPr id="15" name="Herramientas 4"/>
          <p:cNvSpPr/>
          <p:nvPr/>
        </p:nvSpPr>
        <p:spPr>
          <a:xfrm>
            <a:off x="12026604" y="5044281"/>
            <a:ext cx="3284279" cy="637579"/>
          </a:xfrm>
          <a:prstGeom prst="roundRect">
            <a:avLst>
              <a:gd name="adj" fmla="val 12000"/>
            </a:avLst>
          </a:prstGeom>
          <a:solidFill>
            <a:srgbClr val="EFE3C6">
              <a:alpha val="93000"/>
            </a:srgbClr>
          </a:solidFill>
          <a:ln w="9525">
            <a:solidFill>
              <a:srgbClr val="6B4E2E"/>
            </a:solidFill>
          </a:ln>
          <a:effectLst/>
        </p:spPr>
        <p:style>
          <a:lnRef idx="1">
            <a:schemeClr val="accent1"/>
          </a:lnRef>
          <a:fillRef idx="3">
            <a:schemeClr val="accent1"/>
          </a:fillRef>
          <a:effectRef idx="2">
            <a:schemeClr val="accent1"/>
          </a:effectRef>
          <a:fontRef idx="minor">
            <a:schemeClr val="lt1"/>
          </a:fontRef>
        </p:style>
        <p:txBody>
          <a:bodyPr rtlCol="0" anchor="ctr" wrap="square" lIns="82697" rIns="82697" tIns="23614" bIns="23614"/>
          <a:lstStyle/>
          <a:p>
            <a:pPr algn="l">
              <a:lnSpc>
                <a:spcPts val="1250"/>
              </a:lnSpc>
            </a:pPr>
            <a:r>
              <a:rPr sz="1000" b="1">
                <a:solidFill>
                  <a:srgbClr val="2B2016"/>
                </a:solidFill>
                <a:latin typeface="Arial"/>
              </a:rPr>
              <a:t>AWS: </a:t>
            </a:r>
            <a:r>
              <a:rPr sz="1000" b="0">
                <a:solidFill>
                  <a:srgbClr val="2B2016"/>
                </a:solidFill>
                <a:latin typeface="Arial"/>
              </a:rPr>
              <a:t>Route 53 failover, CloudFront, Resilience Hub</a:t>
            </a:r>
          </a:p>
          <a:p>
            <a:pPr algn="l">
              <a:lnSpc>
                <a:spcPts val="1250"/>
              </a:lnSpc>
            </a:pPr>
            <a:r>
              <a:rPr sz="1000" b="1">
                <a:solidFill>
                  <a:srgbClr val="2B2016"/>
                </a:solidFill>
                <a:latin typeface="Arial"/>
              </a:rPr>
              <a:t>Azure: </a:t>
            </a:r>
            <a:r>
              <a:rPr sz="1000" b="0">
                <a:solidFill>
                  <a:srgbClr val="2B2016"/>
                </a:solidFill>
                <a:latin typeface="Arial"/>
              </a:rPr>
              <a:t>Front Door, Traffic Manager, Chaos Studio</a:t>
            </a:r>
          </a:p>
          <a:p>
            <a:pPr algn="l">
              <a:lnSpc>
                <a:spcPts val="1250"/>
              </a:lnSpc>
            </a:pPr>
            <a:r>
              <a:rPr sz="1000" b="1">
                <a:solidFill>
                  <a:srgbClr val="2B2016"/>
                </a:solidFill>
                <a:latin typeface="Arial"/>
              </a:rPr>
              <a:t>GCP: </a:t>
            </a:r>
            <a:r>
              <a:rPr sz="1000" b="0">
                <a:solidFill>
                  <a:srgbClr val="2B2016"/>
                </a:solidFill>
                <a:latin typeface="Arial"/>
              </a:rPr>
              <a:t>Cloud Load Balancing, CDN, Service Mesh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2" descr="Ilustración de fondo de la diapositiva 12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510381"/>
            <a:ext cx="9167627" cy="590351"/>
          </a:xfrm>
          <a:prstGeom prst="rect">
            <a:avLst/>
          </a:prstGeom>
          <a:noFill/>
        </p:spPr>
        <p:txBody>
          <a:bodyPr wrap="square" lIns="0" rIns="0" tIns="0" bIns="0" anchor="t">
            <a:spAutoFit/>
          </a:bodyPr>
          <a:lstStyle/>
          <a:p>
            <a:pPr algn="ctr">
              <a:lnSpc>
                <a:spcPts val="4093"/>
              </a:lnSpc>
            </a:pPr>
            <a:r>
              <a:rPr sz="3200" b="0" i="0">
                <a:solidFill>
                  <a:srgbClr val="2B2016"/>
                </a:solidFill>
                <a:latin typeface="Georgia"/>
              </a:rPr>
              <a:t>El Mapa Completo: El Bucle Virtuoso SRE</a:t>
            </a:r>
          </a:p>
        </p:txBody>
      </p:sp>
      <p:sp>
        <p:nvSpPr>
          <p:cNvPr id="4" name="Texto 2"/>
          <p:cNvSpPr txBox="1"/>
          <p:nvPr/>
        </p:nvSpPr>
        <p:spPr>
          <a:xfrm>
            <a:off x="886046" y="2623839"/>
            <a:ext cx="3544186" cy="448667"/>
          </a:xfrm>
          <a:prstGeom prst="rect">
            <a:avLst/>
          </a:prstGeom>
          <a:noFill/>
        </p:spPr>
        <p:txBody>
          <a:bodyPr wrap="square" lIns="0" rIns="0" tIns="0" bIns="0" anchor="t">
            <a:spAutoFit/>
          </a:bodyPr>
          <a:lstStyle/>
          <a:p>
            <a:pPr algn="ctr">
              <a:lnSpc>
                <a:spcPts val="2976"/>
              </a:lnSpc>
            </a:pPr>
            <a:r>
              <a:rPr sz="1950" b="1" i="0">
                <a:solidFill>
                  <a:srgbClr val="2B2016"/>
                </a:solidFill>
                <a:latin typeface="Georgia"/>
              </a:rPr>
              <a:t>5. Velocidad de Entrega</a:t>
            </a:r>
          </a:p>
        </p:txBody>
      </p:sp>
      <p:sp>
        <p:nvSpPr>
          <p:cNvPr id="5" name="Texto 3"/>
          <p:cNvSpPr txBox="1"/>
          <p:nvPr/>
        </p:nvSpPr>
        <p:spPr>
          <a:xfrm>
            <a:off x="1240465" y="3358827"/>
            <a:ext cx="2835348" cy="1044922"/>
          </a:xfrm>
          <a:prstGeom prst="rect">
            <a:avLst/>
          </a:prstGeom>
          <a:noFill/>
        </p:spPr>
        <p:txBody>
          <a:bodyPr wrap="square" lIns="0" rIns="0" tIns="0" bIns="0" anchor="t">
            <a:spAutoFit/>
          </a:bodyPr>
          <a:lstStyle/>
          <a:p>
            <a:pPr algn="ctr">
              <a:lnSpc>
                <a:spcPts val="2558"/>
              </a:lnSpc>
            </a:pPr>
            <a:r>
              <a:rPr sz="2100" b="0" i="0">
                <a:solidFill>
                  <a:srgbClr val="2B2016"/>
                </a:solidFill>
                <a:latin typeface="Georgia"/>
              </a:rPr>
              <a:t>Con HP disponible, los desarrolladores despliegan más rápido.</a:t>
            </a:r>
          </a:p>
        </p:txBody>
      </p:sp>
      <p:sp>
        <p:nvSpPr>
          <p:cNvPr id="6" name="Texto 4"/>
          <p:cNvSpPr txBox="1"/>
          <p:nvPr/>
        </p:nvSpPr>
        <p:spPr>
          <a:xfrm>
            <a:off x="11908465" y="2623839"/>
            <a:ext cx="3544186" cy="448667"/>
          </a:xfrm>
          <a:prstGeom prst="rect">
            <a:avLst/>
          </a:prstGeom>
          <a:noFill/>
        </p:spPr>
        <p:txBody>
          <a:bodyPr wrap="square" lIns="0" rIns="0" tIns="0" bIns="0" anchor="t">
            <a:spAutoFit/>
          </a:bodyPr>
          <a:lstStyle/>
          <a:p>
            <a:pPr algn="ctr">
              <a:lnSpc>
                <a:spcPts val="2976"/>
              </a:lnSpc>
            </a:pPr>
            <a:r>
              <a:rPr sz="1950" b="1" i="0">
                <a:solidFill>
                  <a:srgbClr val="2B2016"/>
                </a:solidFill>
                <a:latin typeface="Georgia"/>
              </a:rPr>
              <a:t>2. Liberar Tiempo</a:t>
            </a:r>
          </a:p>
        </p:txBody>
      </p:sp>
      <p:sp>
        <p:nvSpPr>
          <p:cNvPr id="7" name="Texto 5"/>
          <p:cNvSpPr txBox="1"/>
          <p:nvPr/>
        </p:nvSpPr>
        <p:spPr>
          <a:xfrm>
            <a:off x="12262883" y="3382441"/>
            <a:ext cx="2835348" cy="1044922"/>
          </a:xfrm>
          <a:prstGeom prst="rect">
            <a:avLst/>
          </a:prstGeom>
          <a:noFill/>
        </p:spPr>
        <p:txBody>
          <a:bodyPr wrap="square" lIns="0" rIns="0" tIns="0" bIns="0" anchor="t">
            <a:spAutoFit/>
          </a:bodyPr>
          <a:lstStyle/>
          <a:p>
            <a:pPr algn="ctr">
              <a:lnSpc>
                <a:spcPts val="2558"/>
              </a:lnSpc>
            </a:pPr>
            <a:r>
              <a:rPr sz="2100" b="0" i="0">
                <a:solidFill>
                  <a:srgbClr val="2B2016"/>
                </a:solidFill>
                <a:latin typeface="Georgia"/>
              </a:rPr>
              <a:t>Los SREs se enfocan mínimo al 50% en arquitectura.</a:t>
            </a:r>
          </a:p>
        </p:txBody>
      </p:sp>
      <p:sp>
        <p:nvSpPr>
          <p:cNvPr id="8" name="Texto 6"/>
          <p:cNvSpPr txBox="1"/>
          <p:nvPr/>
        </p:nvSpPr>
        <p:spPr>
          <a:xfrm>
            <a:off x="886046" y="5988843"/>
            <a:ext cx="3544186" cy="448667"/>
          </a:xfrm>
          <a:prstGeom prst="rect">
            <a:avLst/>
          </a:prstGeom>
          <a:noFill/>
        </p:spPr>
        <p:txBody>
          <a:bodyPr wrap="square" lIns="0" rIns="0" tIns="0" bIns="0" anchor="t">
            <a:spAutoFit/>
          </a:bodyPr>
          <a:lstStyle/>
          <a:p>
            <a:pPr algn="ctr">
              <a:lnSpc>
                <a:spcPts val="2976"/>
              </a:lnSpc>
            </a:pPr>
            <a:r>
              <a:rPr sz="2000" b="1" i="0">
                <a:solidFill>
                  <a:srgbClr val="2B2016"/>
                </a:solidFill>
                <a:latin typeface="Georgia"/>
              </a:rPr>
              <a:t>4. Preservar Presupuesto</a:t>
            </a:r>
          </a:p>
        </p:txBody>
      </p:sp>
      <p:sp>
        <p:nvSpPr>
          <p:cNvPr id="9" name="Texto 7"/>
          <p:cNvSpPr txBox="1"/>
          <p:nvPr/>
        </p:nvSpPr>
        <p:spPr>
          <a:xfrm>
            <a:off x="1240465" y="6924550"/>
            <a:ext cx="2835348" cy="1044922"/>
          </a:xfrm>
          <a:prstGeom prst="rect">
            <a:avLst/>
          </a:prstGeom>
          <a:noFill/>
        </p:spPr>
        <p:txBody>
          <a:bodyPr wrap="square" lIns="0" rIns="0" tIns="0" bIns="0" anchor="t">
            <a:spAutoFit/>
          </a:bodyPr>
          <a:lstStyle/>
          <a:p>
            <a:pPr algn="ctr">
              <a:lnSpc>
                <a:spcPts val="2558"/>
              </a:lnSpc>
            </a:pPr>
            <a:r>
              <a:rPr sz="2100" b="0" i="0">
                <a:solidFill>
                  <a:srgbClr val="2B2016"/>
                </a:solidFill>
                <a:latin typeface="Georgia"/>
              </a:rPr>
              <a:t>Los SLIs se mantienen dentro de los SLOs (HP intacto).</a:t>
            </a:r>
          </a:p>
        </p:txBody>
      </p:sp>
      <p:sp>
        <p:nvSpPr>
          <p:cNvPr id="10" name="Texto 8"/>
          <p:cNvSpPr txBox="1"/>
          <p:nvPr/>
        </p:nvSpPr>
        <p:spPr>
          <a:xfrm>
            <a:off x="11908465" y="5988843"/>
            <a:ext cx="3544186" cy="448667"/>
          </a:xfrm>
          <a:prstGeom prst="rect">
            <a:avLst/>
          </a:prstGeom>
          <a:noFill/>
        </p:spPr>
        <p:txBody>
          <a:bodyPr wrap="square" lIns="0" rIns="0" tIns="0" bIns="0" anchor="t">
            <a:spAutoFit/>
          </a:bodyPr>
          <a:lstStyle/>
          <a:p>
            <a:pPr algn="ctr">
              <a:lnSpc>
                <a:spcPts val="2976"/>
              </a:lnSpc>
            </a:pPr>
            <a:r>
              <a:rPr sz="1950" b="1" i="0">
                <a:solidFill>
                  <a:srgbClr val="2B2016"/>
                </a:solidFill>
                <a:latin typeface="Georgia"/>
              </a:rPr>
              <a:t>3. Sistemas Resilientes</a:t>
            </a:r>
          </a:p>
        </p:txBody>
      </p:sp>
      <p:sp>
        <p:nvSpPr>
          <p:cNvPr id="11" name="Texto 9"/>
          <p:cNvSpPr txBox="1"/>
          <p:nvPr/>
        </p:nvSpPr>
        <p:spPr>
          <a:xfrm>
            <a:off x="12262883" y="6912743"/>
            <a:ext cx="2835348" cy="720228"/>
          </a:xfrm>
          <a:prstGeom prst="rect">
            <a:avLst/>
          </a:prstGeom>
          <a:noFill/>
        </p:spPr>
        <p:txBody>
          <a:bodyPr wrap="square" lIns="0" rIns="0" tIns="0" bIns="0" anchor="t">
            <a:spAutoFit/>
          </a:bodyPr>
          <a:lstStyle/>
          <a:p>
            <a:pPr algn="ctr">
              <a:lnSpc>
                <a:spcPts val="2558"/>
              </a:lnSpc>
            </a:pPr>
            <a:r>
              <a:rPr sz="2100" b="0" i="0">
                <a:solidFill>
                  <a:srgbClr val="2B2016"/>
                </a:solidFill>
                <a:latin typeface="Georgia"/>
              </a:rPr>
              <a:t>La infraestructura soporta mejor la carga.</a:t>
            </a:r>
          </a:p>
        </p:txBody>
      </p:sp>
      <p:sp>
        <p:nvSpPr>
          <p:cNvPr id="12" name="Texto 10"/>
          <p:cNvSpPr txBox="1"/>
          <p:nvPr/>
        </p:nvSpPr>
        <p:spPr>
          <a:xfrm>
            <a:off x="5906976" y="4489350"/>
            <a:ext cx="4489302" cy="1298773"/>
          </a:xfrm>
          <a:prstGeom prst="rect">
            <a:avLst/>
          </a:prstGeom>
          <a:noFill/>
        </p:spPr>
        <p:txBody>
          <a:bodyPr wrap="square" lIns="0" rIns="0" tIns="0" bIns="0" anchor="t">
            <a:spAutoFit/>
          </a:bodyPr>
          <a:lstStyle/>
          <a:p>
            <a:pPr algn="ctr">
              <a:lnSpc>
                <a:spcPts val="4837"/>
              </a:lnSpc>
            </a:pPr>
            <a:r>
              <a:rPr sz="3900" b="1" i="0">
                <a:solidFill>
                  <a:srgbClr val="2B1E10"/>
                </a:solidFill>
                <a:latin typeface="Georgia"/>
              </a:rPr>
              <a:t>INNOVACIÓN</a:t>
            </a:r>
          </a:p>
          <a:p>
            <a:pPr algn="ctr">
              <a:lnSpc>
                <a:spcPts val="4837"/>
              </a:lnSpc>
            </a:pPr>
            <a:r>
              <a:rPr sz="3900" b="1" i="0">
                <a:solidFill>
                  <a:srgbClr val="2B1E10"/>
                </a:solidFill>
                <a:latin typeface="Georgia"/>
              </a:rPr>
              <a:t>SOSTENIBLE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3" descr="Ilustración de fondo de la diapositiva 13 (sin texto)"/>
          <p:cNvPicPr>
            <a:picLocks noChangeAspect="1"/>
          </p:cNvPicPr>
          <p:nvPr/>
        </p:nvPicPr>
        <p:blipFill>
          <a:blip r:embed="rId2"/>
          <a:stretch>
            <a:fillRect/>
          </a:stretch>
        </p:blipFill>
        <p:spPr>
          <a:xfrm>
            <a:off x="0" y="38100"/>
            <a:ext cx="16256000" cy="9067800"/>
          </a:xfrm>
          <a:prstGeom prst="rect">
            <a:avLst/>
          </a:prstGeom>
        </p:spPr>
      </p:pic>
      <p:sp>
        <p:nvSpPr>
          <p:cNvPr id="3" name="Texto 1"/>
          <p:cNvSpPr txBox="1"/>
          <p:nvPr/>
        </p:nvSpPr>
        <p:spPr>
          <a:xfrm>
            <a:off x="3544186" y="498574"/>
            <a:ext cx="9167627" cy="590351"/>
          </a:xfrm>
          <a:prstGeom prst="rect">
            <a:avLst/>
          </a:prstGeom>
          <a:noFill/>
        </p:spPr>
        <p:txBody>
          <a:bodyPr wrap="square" lIns="0" rIns="0" tIns="0" bIns="0" anchor="t">
            <a:spAutoFit/>
          </a:bodyPr>
          <a:lstStyle/>
          <a:p>
            <a:pPr algn="ctr">
              <a:lnSpc>
                <a:spcPts val="4093"/>
              </a:lnSpc>
            </a:pPr>
            <a:r>
              <a:rPr sz="3550" b="0" i="0">
                <a:solidFill>
                  <a:srgbClr val="2B2016"/>
                </a:solidFill>
                <a:latin typeface="Georgia"/>
              </a:rPr>
              <a:t>Prepara tus Dados</a:t>
            </a:r>
          </a:p>
        </p:txBody>
      </p:sp>
      <p:sp>
        <p:nvSpPr>
          <p:cNvPr id="4" name="Texto 4"/>
          <p:cNvSpPr txBox="1"/>
          <p:nvPr/>
        </p:nvSpPr>
        <p:spPr>
          <a:xfrm>
            <a:off x="3898604" y="1868189"/>
            <a:ext cx="3780465" cy="472281"/>
          </a:xfrm>
          <a:prstGeom prst="rect">
            <a:avLst/>
          </a:prstGeom>
          <a:noFill/>
        </p:spPr>
        <p:txBody>
          <a:bodyPr wrap="square" lIns="0" rIns="0" tIns="0" bIns="0" anchor="t">
            <a:spAutoFit/>
          </a:bodyPr>
          <a:lstStyle/>
          <a:p>
            <a:pPr algn="ctr">
              <a:lnSpc>
                <a:spcPts val="3162"/>
              </a:lnSpc>
            </a:pPr>
            <a:r>
              <a:rPr sz="2100" b="1" i="0">
                <a:solidFill>
                  <a:srgbClr val="2B2016"/>
                </a:solidFill>
                <a:latin typeface="Georgia"/>
              </a:rPr>
              <a:t>Paso 1: Mide tu Toil</a:t>
            </a:r>
          </a:p>
        </p:txBody>
      </p:sp>
      <p:sp>
        <p:nvSpPr>
          <p:cNvPr id="5" name="Texto 5"/>
          <p:cNvSpPr txBox="1"/>
          <p:nvPr/>
        </p:nvSpPr>
        <p:spPr>
          <a:xfrm>
            <a:off x="4134883" y="2582515"/>
            <a:ext cx="3485116" cy="956369"/>
          </a:xfrm>
          <a:prstGeom prst="rect">
            <a:avLst/>
          </a:prstGeom>
          <a:noFill/>
        </p:spPr>
        <p:txBody>
          <a:bodyPr wrap="square" lIns="0" rIns="0" tIns="0" bIns="0" anchor="t">
            <a:spAutoFit/>
          </a:bodyPr>
          <a:lstStyle/>
          <a:p>
            <a:pPr algn="ctr">
              <a:lnSpc>
                <a:spcPts val="2325"/>
              </a:lnSpc>
            </a:pPr>
            <a:r>
              <a:rPr sz="1750" b="0" i="0">
                <a:solidFill>
                  <a:srgbClr val="2B2016"/>
                </a:solidFill>
                <a:latin typeface="Georgia"/>
              </a:rPr>
              <a:t>Identifica esa tarea manual recurrente y audita cuánto tiempo drena de tu equipo esta semana.</a:t>
            </a:r>
          </a:p>
        </p:txBody>
      </p:sp>
      <p:sp>
        <p:nvSpPr>
          <p:cNvPr id="6" name="Texto 6"/>
          <p:cNvSpPr txBox="1"/>
          <p:nvPr/>
        </p:nvSpPr>
        <p:spPr>
          <a:xfrm>
            <a:off x="6143255" y="3769121"/>
            <a:ext cx="4134883" cy="472281"/>
          </a:xfrm>
          <a:prstGeom prst="rect">
            <a:avLst/>
          </a:prstGeom>
          <a:noFill/>
        </p:spPr>
        <p:txBody>
          <a:bodyPr wrap="square" lIns="0" rIns="0" tIns="0" bIns="0" anchor="t">
            <a:spAutoFit/>
          </a:bodyPr>
          <a:lstStyle/>
          <a:p>
            <a:pPr algn="ctr">
              <a:lnSpc>
                <a:spcPts val="3162"/>
              </a:lnSpc>
            </a:pPr>
            <a:r>
              <a:rPr sz="1900" b="1" i="0">
                <a:solidFill>
                  <a:srgbClr val="2B2016"/>
                </a:solidFill>
                <a:latin typeface="Georgia"/>
              </a:rPr>
              <a:t>Paso 2: Escribe tu primer SLO</a:t>
            </a:r>
          </a:p>
        </p:txBody>
      </p:sp>
      <p:sp>
        <p:nvSpPr>
          <p:cNvPr id="7" name="Texto 7"/>
          <p:cNvSpPr txBox="1"/>
          <p:nvPr/>
        </p:nvSpPr>
        <p:spPr>
          <a:xfrm>
            <a:off x="6438604" y="4406701"/>
            <a:ext cx="3662325" cy="991790"/>
          </a:xfrm>
          <a:prstGeom prst="rect">
            <a:avLst/>
          </a:prstGeom>
          <a:noFill/>
        </p:spPr>
        <p:txBody>
          <a:bodyPr wrap="square" lIns="0" rIns="0" tIns="0" bIns="0" anchor="t">
            <a:spAutoFit/>
          </a:bodyPr>
          <a:lstStyle/>
          <a:p>
            <a:pPr algn="ctr">
              <a:lnSpc>
                <a:spcPts val="2418"/>
              </a:lnSpc>
            </a:pPr>
            <a:r>
              <a:rPr sz="1950" b="0" i="0">
                <a:solidFill>
                  <a:srgbClr val="2B2016"/>
                </a:solidFill>
                <a:latin typeface="Georgia"/>
              </a:rPr>
              <a:t>Elige el flujo más crítico para el usuario (ej. el login) y establece una meta realista (ej. 99%).</a:t>
            </a:r>
          </a:p>
        </p:txBody>
      </p:sp>
      <p:sp>
        <p:nvSpPr>
          <p:cNvPr id="8" name="Texto 8"/>
          <p:cNvSpPr txBox="1"/>
          <p:nvPr/>
        </p:nvSpPr>
        <p:spPr>
          <a:xfrm>
            <a:off x="9214883" y="5422106"/>
            <a:ext cx="4253023" cy="472281"/>
          </a:xfrm>
          <a:prstGeom prst="rect">
            <a:avLst/>
          </a:prstGeom>
          <a:noFill/>
        </p:spPr>
        <p:txBody>
          <a:bodyPr wrap="square" lIns="0" rIns="0" tIns="0" bIns="0" anchor="t">
            <a:spAutoFit/>
          </a:bodyPr>
          <a:lstStyle/>
          <a:p>
            <a:pPr algn="ctr">
              <a:lnSpc>
                <a:spcPts val="3162"/>
              </a:lnSpc>
            </a:pPr>
            <a:r>
              <a:rPr sz="1850" b="1" i="0">
                <a:solidFill>
                  <a:srgbClr val="2B2016"/>
                </a:solidFill>
                <a:latin typeface="Georgia"/>
              </a:rPr>
              <a:t>Paso 3: Automatiza una defensa</a:t>
            </a:r>
          </a:p>
        </p:txBody>
      </p:sp>
      <p:sp>
        <p:nvSpPr>
          <p:cNvPr id="9" name="Texto 9"/>
          <p:cNvSpPr txBox="1"/>
          <p:nvPr/>
        </p:nvSpPr>
        <p:spPr>
          <a:xfrm>
            <a:off x="9333023" y="6068541"/>
            <a:ext cx="4016744" cy="938658"/>
          </a:xfrm>
          <a:prstGeom prst="rect">
            <a:avLst/>
          </a:prstGeom>
          <a:noFill/>
        </p:spPr>
        <p:txBody>
          <a:bodyPr wrap="square" lIns="0" rIns="0" tIns="0" bIns="0" anchor="t">
            <a:spAutoFit/>
          </a:bodyPr>
          <a:lstStyle/>
          <a:p>
            <a:pPr algn="ctr">
              <a:lnSpc>
                <a:spcPts val="2279"/>
              </a:lnSpc>
            </a:pPr>
            <a:r>
              <a:rPr sz="1750" b="0" i="0">
                <a:solidFill>
                  <a:srgbClr val="2B2016"/>
                </a:solidFill>
                <a:latin typeface="Georgia"/>
              </a:rPr>
              <a:t>Asigna a un ingeniero para reemplazar un script manual por un pipeline completamente automatizado.</a:t>
            </a:r>
          </a:p>
        </p:txBody>
      </p:sp>
      <p:sp>
        <p:nvSpPr>
          <p:cNvPr id="10" name="Texto 10"/>
          <p:cNvSpPr txBox="1"/>
          <p:nvPr/>
        </p:nvSpPr>
        <p:spPr>
          <a:xfrm>
            <a:off x="3071627" y="7700863"/>
            <a:ext cx="10100930" cy="1062632"/>
          </a:xfrm>
          <a:prstGeom prst="rect">
            <a:avLst/>
          </a:prstGeom>
          <a:noFill/>
        </p:spPr>
        <p:txBody>
          <a:bodyPr wrap="square" lIns="0" rIns="0" tIns="0" bIns="0" anchor="t">
            <a:spAutoFit/>
          </a:bodyPr>
          <a:lstStyle/>
          <a:p>
            <a:pPr algn="ctr">
              <a:lnSpc>
                <a:spcPts val="3906"/>
              </a:lnSpc>
            </a:pPr>
            <a:r>
              <a:rPr sz="3350" b="0" i="0">
                <a:solidFill>
                  <a:srgbClr val="F6E6BC"/>
                </a:solidFill>
                <a:latin typeface="Georgia"/>
              </a:rPr>
              <a:t>Tu infraestructura es ahora un problema de código.</a:t>
            </a:r>
          </a:p>
          <a:p>
            <a:pPr algn="ctr">
              <a:lnSpc>
                <a:spcPts val="3906"/>
              </a:lnSpc>
            </a:pPr>
            <a:r>
              <a:rPr sz="3350" b="0" i="0">
                <a:solidFill>
                  <a:srgbClr val="F6E6BC"/>
                </a:solidFill>
                <a:latin typeface="Georgia"/>
              </a:rPr>
              <a:t>Juega inteligentemente.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Ilustración 15" descr="Ilustración de fondo de la diapositiva 15 (sin texto)"/>
          <p:cNvPicPr>
            <a:picLocks noChangeAspect="1"/>
          </p:cNvPicPr>
          <p:nvPr/>
        </p:nvPicPr>
        <p:blipFill>
          <a:blip r:embed="rId2"/>
          <a:stretch>
            <a:fillRect/>
          </a:stretch>
        </p:blipFill>
        <p:spPr>
          <a:xfrm>
            <a:off x="0" y="38100"/>
            <a:ext cx="16256000" cy="9067800"/>
          </a:xfrm>
          <a:prstGeom prst="rect">
            <a:avLst/>
          </a:prstGeom>
        </p:spPr>
      </p:pic>
      <p:pic>
        <p:nvPicPr>
          <p:cNvPr id="3" name="Dado" descr="Dado de veinte caras con iconos de nube, métricas, engranaje y escudo"/>
          <p:cNvPicPr>
            <a:picLocks noChangeAspect="1"/>
          </p:cNvPicPr>
          <p:nvPr/>
        </p:nvPicPr>
        <p:blipFill>
          <a:blip r:embed="rId3"/>
          <a:stretch>
            <a:fillRect/>
          </a:stretch>
        </p:blipFill>
        <p:spPr>
          <a:xfrm>
            <a:off x="6804837" y="3993455"/>
            <a:ext cx="2646325" cy="2810073"/>
          </a:xfrm>
          <a:prstGeom prst="rect">
            <a:avLst/>
          </a:prstGeom>
        </p:spPr>
      </p:pic>
      <p:sp>
        <p:nvSpPr>
          <p:cNvPr id="4" name="Texto 1"/>
          <p:cNvSpPr txBox="1"/>
          <p:nvPr/>
        </p:nvSpPr>
        <p:spPr>
          <a:xfrm>
            <a:off x="1181395" y="2104330"/>
            <a:ext cx="13893209" cy="1723826"/>
          </a:xfrm>
          <a:prstGeom prst="rect">
            <a:avLst/>
          </a:prstGeom>
          <a:noFill/>
        </p:spPr>
        <p:txBody>
          <a:bodyPr wrap="square" lIns="0" rIns="0" tIns="0" bIns="0" anchor="t">
            <a:spAutoFit/>
          </a:bodyPr>
          <a:lstStyle/>
          <a:p>
            <a:pPr algn="ctr">
              <a:lnSpc>
                <a:spcPts val="13023"/>
              </a:lnSpc>
            </a:pPr>
            <a:r>
              <a:rPr sz="11900" b="1" i="0">
                <a:solidFill>
                  <a:srgbClr val="5B5448"/>
                </a:solidFill>
                <a:latin typeface="Georgia"/>
              </a:rPr>
              <a:t>Gracias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terms:modified xsi:type="dcterms:W3CDTF">2011-08-01T06:04:30Z</dcterms:modified>
  <cp:revision>1</cp:revision>
</cp:coreProperties>
</file>