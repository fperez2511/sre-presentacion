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7341" autoAdjust="0"/>
  </p:normalViewPr>
  <p:slideViewPr>
    <p:cSldViewPr>
      <p:cViewPr varScale="1">
        <p:scale>
          <a:sx n="69" d="100"/>
          <a:sy n="69" d="100"/>
        </p:scale>
        <p:origin x="1552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56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Buenas. Hoy les presento "SRE: El Manual del Jugador". La idea es sencilla: vamos a mirar las operaciones de TI como si fueran un problema de ingeniería de software, y para hacerlo más ameno lo vamos a contar como si fuera una partida de rol. Al final de la sesión van a tener las reglas básicas del juego: qué es SRE, cómo se mide la confiabilidad y cómo se decide cuándo acelerar y cuándo frenar.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Antes de </a:t>
            </a:r>
            <a:r>
              <a:rPr dirty="0" err="1"/>
              <a:t>empezar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breve </a:t>
            </a:r>
            <a:r>
              <a:rPr dirty="0" err="1"/>
              <a:t>presentación</a:t>
            </a:r>
            <a:r>
              <a:rPr dirty="0"/>
              <a:t>. Soy Fabricio Perez y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UPS Costa Rica. </a:t>
            </a:r>
            <a:r>
              <a:rPr dirty="0" err="1"/>
              <a:t>Empecé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Ingeniero</a:t>
            </a:r>
            <a:r>
              <a:rPr dirty="0"/>
              <a:t> de Software </a:t>
            </a:r>
            <a:r>
              <a:rPr dirty="0" err="1"/>
              <a:t>en</a:t>
            </a:r>
            <a:r>
              <a:rPr dirty="0"/>
              <a:t> 200</a:t>
            </a:r>
            <a:r>
              <a:rPr lang="en-US" dirty="0"/>
              <a:t>0</a:t>
            </a:r>
            <a:r>
              <a:rPr dirty="0"/>
              <a:t>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he visto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evolucionó</a:t>
            </a:r>
            <a:r>
              <a:rPr dirty="0"/>
              <a:t> la forma de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antes de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existiera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término</a:t>
            </a:r>
            <a:r>
              <a:rPr dirty="0"/>
              <a:t> SRE. Soy </a:t>
            </a:r>
            <a:r>
              <a:rPr dirty="0" err="1"/>
              <a:t>bachiller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Ingeniería </a:t>
            </a:r>
            <a:r>
              <a:rPr dirty="0" err="1"/>
              <a:t>Informática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Universidad Latina y las </a:t>
            </a:r>
            <a:r>
              <a:rPr dirty="0" err="1"/>
              <a:t>certificaciones</a:t>
            </a:r>
            <a:r>
              <a:rPr dirty="0"/>
              <a:t> Microsoft Azure Solutions Architect Expert y Azure Administrator Associate, </a:t>
            </a:r>
            <a:r>
              <a:rPr dirty="0" err="1"/>
              <a:t>además</a:t>
            </a:r>
            <a:r>
              <a:rPr dirty="0"/>
              <a:t> de </a:t>
            </a:r>
            <a:r>
              <a:rPr dirty="0" err="1"/>
              <a:t>formación</a:t>
            </a:r>
            <a:r>
              <a:rPr dirty="0"/>
              <a:t> de Red Hat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microservicios</a:t>
            </a:r>
            <a:r>
              <a:rPr dirty="0"/>
              <a:t> con Istio y OpenShift Service Mesh. Lo </a:t>
            </a:r>
            <a:r>
              <a:rPr dirty="0" err="1"/>
              <a:t>que</a:t>
            </a:r>
            <a:r>
              <a:rPr dirty="0"/>
              <a:t> van a </a:t>
            </a:r>
            <a:r>
              <a:rPr dirty="0" err="1"/>
              <a:t>ver</a:t>
            </a:r>
            <a:r>
              <a:rPr dirty="0"/>
              <a:t> hoy es lo </a:t>
            </a:r>
            <a:r>
              <a:rPr dirty="0" err="1"/>
              <a:t>que</a:t>
            </a:r>
            <a:r>
              <a:rPr dirty="0"/>
              <a:t> he </a:t>
            </a:r>
            <a:r>
              <a:rPr dirty="0" err="1"/>
              <a:t>aprendido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mantienen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pie sin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se </a:t>
            </a:r>
            <a:r>
              <a:rPr dirty="0" err="1"/>
              <a:t>queme</a:t>
            </a:r>
            <a:r>
              <a:rPr dirty="0"/>
              <a:t>.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contactarme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LinkedIn: </a:t>
            </a:r>
            <a:r>
              <a:rPr dirty="0" err="1"/>
              <a:t>linkedin.com</a:t>
            </a:r>
            <a:r>
              <a:rPr dirty="0"/>
              <a:t>/in/</a:t>
            </a:r>
            <a:r>
              <a:rPr dirty="0" err="1"/>
              <a:t>fabperez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Empecemos por el mapa del mundo. A la izquierda está el Viejo Reino: la administración de sistemas tradicional, con operaciones manuales, trabajo reactivo y un objetivo muy simple, que nada se caiga. El problema es que ese enfoque frena la innovación. A la derecha está el Nuevo Dominio: Site Reliability Engineering, que trata las operaciones como software y construye defensas automatizadas. La misión de SRE es equilibrar la velocidad de entrega de los desarrolladores con la estabilidad de los sistemas. Ni correr a ciegas ni congelar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 partida empieza eligiendo clase. El Administrador de Sistemas es El Guerrero: pelea cuerpo a cuerpo contra cada incidente y reacciona al daño uno a uno, con gestión manual de servidores y scripts ad hoc. Su debilidad crítica es que escala linealmente: si la infraestructura se duplica, el equipo también. El Site Reliability Engineer es El Artífice: escribe encantamientos, o sea código, para crear defensas automatizadas, con CI/CD, infraestructura como código y observabilidad. Su ventaja es el crecimiento exponencial: el mismo código gestiona 10 o 10,000 servidores sin esfuerzo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buen manual tiene un bestiario, y nuestro monstruo principal es el Toil, el trabajo rutinario. Lo reconocen por cuatro rasgos: es manual, requiere intervención humana paso a paso; es repetitivo, como limpiar logs o reiniciar servicios; es automatizable, una máquina podría hacerlo con el script correcto; y es reactivo, resuelve el momento pero no deja mejoras arquitectónicas. Su habilidad especial es escalar linealmente: si el servicio crece al doble, el toil se duplica y devora los recursos del equipo. Por eso el primer paso siempre es identificarlo y medirlo.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la </a:t>
            </a:r>
            <a:r>
              <a:rPr dirty="0" err="1"/>
              <a:t>regla</a:t>
            </a:r>
            <a:r>
              <a:rPr dirty="0"/>
              <a:t> de la </a:t>
            </a:r>
            <a:r>
              <a:rPr dirty="0" err="1"/>
              <a:t>economía</a:t>
            </a:r>
            <a:r>
              <a:rPr dirty="0"/>
              <a:t> de </a:t>
            </a:r>
            <a:r>
              <a:rPr dirty="0" err="1"/>
              <a:t>acción</a:t>
            </a:r>
            <a:r>
              <a:rPr dirty="0"/>
              <a:t>: la </a:t>
            </a:r>
            <a:r>
              <a:rPr dirty="0" err="1"/>
              <a:t>regla</a:t>
            </a:r>
            <a:r>
              <a:rPr dirty="0"/>
              <a:t> del 50%. Google </a:t>
            </a:r>
            <a:r>
              <a:rPr dirty="0" err="1"/>
              <a:t>establece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toil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superar</a:t>
            </a:r>
            <a:r>
              <a:rPr dirty="0"/>
              <a:t> la </a:t>
            </a:r>
            <a:r>
              <a:rPr dirty="0" err="1"/>
              <a:t>mitad</a:t>
            </a:r>
            <a:r>
              <a:rPr dirty="0"/>
              <a:t> del </a:t>
            </a:r>
            <a:r>
              <a:rPr dirty="0" err="1"/>
              <a:t>tiempo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. En la barra, la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roja</a:t>
            </a:r>
            <a:r>
              <a:rPr dirty="0"/>
              <a:t>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combate</a:t>
            </a:r>
            <a:r>
              <a:rPr dirty="0"/>
              <a:t> </a:t>
            </a:r>
            <a:r>
              <a:rPr dirty="0" err="1"/>
              <a:t>reactivo</a:t>
            </a:r>
            <a:r>
              <a:rPr dirty="0"/>
              <a:t>: </a:t>
            </a:r>
            <a:r>
              <a:rPr dirty="0" err="1"/>
              <a:t>apagar</a:t>
            </a:r>
            <a:r>
              <a:rPr dirty="0"/>
              <a:t> </a:t>
            </a:r>
            <a:r>
              <a:rPr dirty="0" err="1"/>
              <a:t>incendios</a:t>
            </a:r>
            <a:r>
              <a:rPr dirty="0"/>
              <a:t>,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, </a:t>
            </a:r>
            <a:r>
              <a:rPr dirty="0" err="1"/>
              <a:t>despliegues</a:t>
            </a:r>
            <a:r>
              <a:rPr dirty="0"/>
              <a:t> sin </a:t>
            </a:r>
            <a:r>
              <a:rPr dirty="0" err="1"/>
              <a:t>automatizar</a:t>
            </a:r>
            <a:r>
              <a:rPr dirty="0"/>
              <a:t> y </a:t>
            </a:r>
            <a:r>
              <a:rPr dirty="0" err="1"/>
              <a:t>guardias</a:t>
            </a:r>
            <a:r>
              <a:rPr dirty="0"/>
              <a:t>. La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azul</a:t>
            </a:r>
            <a:r>
              <a:rPr dirty="0"/>
              <a:t> es la </a:t>
            </a:r>
            <a:r>
              <a:rPr dirty="0" err="1"/>
              <a:t>creación</a:t>
            </a:r>
            <a:r>
              <a:rPr dirty="0"/>
              <a:t> de </a:t>
            </a:r>
            <a:r>
              <a:rPr dirty="0" err="1"/>
              <a:t>artefactos</a:t>
            </a:r>
            <a:r>
              <a:rPr dirty="0"/>
              <a:t>: </a:t>
            </a:r>
            <a:r>
              <a:rPr dirty="0" err="1"/>
              <a:t>automatizar</a:t>
            </a:r>
            <a:r>
              <a:rPr dirty="0"/>
              <a:t>, </a:t>
            </a:r>
            <a:r>
              <a:rPr dirty="0" err="1"/>
              <a:t>mejorar</a:t>
            </a:r>
            <a:r>
              <a:rPr dirty="0"/>
              <a:t> la </a:t>
            </a:r>
            <a:r>
              <a:rPr dirty="0" err="1"/>
              <a:t>observabilidad</a:t>
            </a:r>
            <a:r>
              <a:rPr dirty="0"/>
              <a:t>,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MTTR</a:t>
            </a:r>
            <a:r>
              <a:rPr lang="en-US" dirty="0"/>
              <a:t> (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Time to Repair</a:t>
            </a:r>
            <a:r>
              <a:rPr lang="en-US" dirty="0"/>
              <a:t> o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Time to Restore</a:t>
            </a:r>
            <a:r>
              <a:rPr lang="en-US" dirty="0"/>
              <a:t>) </a:t>
            </a:r>
            <a:r>
              <a:rPr dirty="0"/>
              <a:t>y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resiliente</a:t>
            </a:r>
            <a:r>
              <a:rPr dirty="0"/>
              <a:t>. Si </a:t>
            </a:r>
            <a:r>
              <a:rPr dirty="0" err="1"/>
              <a:t>el</a:t>
            </a:r>
            <a:r>
              <a:rPr dirty="0"/>
              <a:t> toil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límite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ingeniero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condición</a:t>
            </a:r>
            <a:r>
              <a:rPr dirty="0"/>
              <a:t> de </a:t>
            </a:r>
            <a:r>
              <a:rPr dirty="0" err="1"/>
              <a:t>agotamiento</a:t>
            </a:r>
            <a:r>
              <a:rPr dirty="0"/>
              <a:t>: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atrapado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rutina</a:t>
            </a:r>
            <a:r>
              <a:rPr dirty="0"/>
              <a:t>, se </a:t>
            </a:r>
            <a:r>
              <a:rPr dirty="0" err="1"/>
              <a:t>paraliza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Ahora</a:t>
            </a:r>
            <a:r>
              <a:rPr dirty="0"/>
              <a:t> la </a:t>
            </a:r>
            <a:r>
              <a:rPr dirty="0" err="1"/>
              <a:t>tríada</a:t>
            </a:r>
            <a:r>
              <a:rPr dirty="0"/>
              <a:t> de la </a:t>
            </a:r>
            <a:r>
              <a:rPr dirty="0" err="1"/>
              <a:t>confiabilidad</a:t>
            </a:r>
            <a:r>
              <a:rPr dirty="0"/>
              <a:t>,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confunden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. El SLI </a:t>
            </a:r>
            <a:r>
              <a:rPr lang="en-US" dirty="0"/>
              <a:t>(Service Level Indicator) </a:t>
            </a:r>
            <a:r>
              <a:rPr dirty="0"/>
              <a:t>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indicador</a:t>
            </a:r>
            <a:r>
              <a:rPr dirty="0"/>
              <a:t> crudo y real de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instante</a:t>
            </a:r>
            <a:r>
              <a:rPr dirty="0"/>
              <a:t>. El SLO </a:t>
            </a:r>
            <a:r>
              <a:rPr lang="en-US" dirty="0"/>
              <a:t>(Objective) </a:t>
            </a:r>
            <a:r>
              <a:rPr dirty="0"/>
              <a:t>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Juramento</a:t>
            </a:r>
            <a:r>
              <a:rPr dirty="0"/>
              <a:t>: la meta interna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hemos</a:t>
            </a:r>
            <a:r>
              <a:rPr dirty="0"/>
              <a:t> </a:t>
            </a:r>
            <a:r>
              <a:rPr dirty="0" err="1"/>
              <a:t>acordado</a:t>
            </a:r>
            <a:r>
              <a:rPr dirty="0"/>
              <a:t> </a:t>
            </a:r>
            <a:r>
              <a:rPr dirty="0" err="1"/>
              <a:t>alcanzar</a:t>
            </a:r>
            <a:r>
              <a:rPr dirty="0"/>
              <a:t>.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Presupuesto</a:t>
            </a:r>
            <a:r>
              <a:rPr dirty="0"/>
              <a:t> de Error es la Vida: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margen</a:t>
            </a:r>
            <a:r>
              <a:rPr dirty="0"/>
              <a:t> de </a:t>
            </a:r>
            <a:r>
              <a:rPr dirty="0" err="1"/>
              <a:t>falla</a:t>
            </a:r>
            <a:r>
              <a:rPr dirty="0"/>
              <a:t> </a:t>
            </a:r>
            <a:r>
              <a:rPr dirty="0" err="1"/>
              <a:t>aceptable</a:t>
            </a:r>
            <a:r>
              <a:rPr dirty="0"/>
              <a:t> antes del Game Over. Los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juntos</a:t>
            </a:r>
            <a:r>
              <a:rPr dirty="0"/>
              <a:t> </a:t>
            </a:r>
            <a:r>
              <a:rPr dirty="0" err="1"/>
              <a:t>forman</a:t>
            </a:r>
            <a:r>
              <a:rPr dirty="0"/>
              <a:t> la </a:t>
            </a:r>
            <a:r>
              <a:rPr dirty="0" err="1"/>
              <a:t>confiabilidad</a:t>
            </a:r>
            <a:r>
              <a:rPr dirty="0"/>
              <a:t>.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siguientes</a:t>
            </a:r>
            <a:r>
              <a:rPr dirty="0"/>
              <a:t> slides </a:t>
            </a:r>
            <a:r>
              <a:rPr dirty="0" err="1"/>
              <a:t>vamos</a:t>
            </a:r>
            <a:r>
              <a:rPr dirty="0"/>
              <a:t> a </a:t>
            </a:r>
            <a:r>
              <a:rPr dirty="0" err="1"/>
              <a:t>entrar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Empecemos por el SLI, nuestras tiradas de percepción: ¿qué métricas observamos en la infraestructura real? Hay cuatro clásicas. Vitalidad: la disponibilidad o uptime, la proporción de solicitudes respondidas con éxito. Tiempo de reacción: la latencia, cuántos milisegundos tarda el servicio en procesar y responder. Fuerza: el rendimiento o throughput, el volumen de datos o peticiones procesadas en un intervalo. Y Precisión: la correctitud, la protección contra la corrupción y la exactitud de la información. Lo importante es medir lo que el usuario realmente siente.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SLO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juramento</a:t>
            </a:r>
            <a:r>
              <a:rPr dirty="0"/>
              <a:t> de la </a:t>
            </a:r>
            <a:r>
              <a:rPr dirty="0" err="1"/>
              <a:t>misión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punto de </a:t>
            </a:r>
            <a:r>
              <a:rPr dirty="0" err="1"/>
              <a:t>equilibrio</a:t>
            </a:r>
            <a:r>
              <a:rPr dirty="0"/>
              <a:t> entre </a:t>
            </a:r>
            <a:r>
              <a:rPr dirty="0" err="1"/>
              <a:t>velocidad</a:t>
            </a:r>
            <a:r>
              <a:rPr dirty="0"/>
              <a:t> y </a:t>
            </a:r>
            <a:r>
              <a:rPr dirty="0" err="1"/>
              <a:t>estabilidad</a:t>
            </a:r>
            <a:r>
              <a:rPr dirty="0"/>
              <a:t>. Es </a:t>
            </a:r>
            <a:r>
              <a:rPr dirty="0" err="1"/>
              <a:t>una</a:t>
            </a:r>
            <a:r>
              <a:rPr dirty="0"/>
              <a:t> meta </a:t>
            </a:r>
            <a:r>
              <a:rPr dirty="0" err="1"/>
              <a:t>numérica</a:t>
            </a:r>
            <a:r>
              <a:rPr dirty="0"/>
              <a:t> </a:t>
            </a:r>
            <a:r>
              <a:rPr dirty="0" err="1"/>
              <a:t>acordada</a:t>
            </a:r>
            <a:r>
              <a:rPr dirty="0"/>
              <a:t> </a:t>
            </a:r>
            <a:r>
              <a:rPr dirty="0" err="1"/>
              <a:t>internamente</a:t>
            </a:r>
            <a:r>
              <a:rPr dirty="0"/>
              <a:t>, entre Dev y Ops, </a:t>
            </a:r>
            <a:r>
              <a:rPr dirty="0" err="1"/>
              <a:t>que</a:t>
            </a:r>
            <a:r>
              <a:rPr dirty="0"/>
              <a:t> dicta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aceleramos</a:t>
            </a:r>
            <a:r>
              <a:rPr dirty="0"/>
              <a:t> la </a:t>
            </a:r>
            <a:r>
              <a:rPr dirty="0" err="1"/>
              <a:t>entrega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y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detenemos</a:t>
            </a:r>
            <a:r>
              <a:rPr dirty="0"/>
              <a:t> a </a:t>
            </a:r>
            <a:r>
              <a:rPr dirty="0" err="1"/>
              <a:t>estabilizar</a:t>
            </a:r>
            <a:r>
              <a:rPr dirty="0"/>
              <a:t>. A la </a:t>
            </a:r>
            <a:r>
              <a:rPr dirty="0" err="1"/>
              <a:t>derecha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la </a:t>
            </a:r>
            <a:r>
              <a:rPr dirty="0" err="1"/>
              <a:t>falacia</a:t>
            </a:r>
            <a:r>
              <a:rPr dirty="0"/>
              <a:t> del 100%: </a:t>
            </a:r>
            <a:r>
              <a:rPr dirty="0" err="1"/>
              <a:t>apuntar</a:t>
            </a:r>
            <a:r>
              <a:rPr dirty="0"/>
              <a:t> al 100% de </a:t>
            </a:r>
            <a:r>
              <a:rPr dirty="0" err="1"/>
              <a:t>disponibilidad</a:t>
            </a:r>
            <a:r>
              <a:rPr dirty="0"/>
              <a:t> es un error </a:t>
            </a:r>
            <a:r>
              <a:rPr dirty="0" err="1"/>
              <a:t>costoso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paraliza</a:t>
            </a:r>
            <a:r>
              <a:rPr dirty="0"/>
              <a:t> la </a:t>
            </a:r>
            <a:r>
              <a:rPr dirty="0" err="1"/>
              <a:t>innovación</a:t>
            </a:r>
            <a:r>
              <a:rPr dirty="0"/>
              <a:t> y no </a:t>
            </a:r>
            <a:r>
              <a:rPr dirty="0" err="1"/>
              <a:t>aporta</a:t>
            </a:r>
            <a:r>
              <a:rPr dirty="0"/>
              <a:t> valor real al </a:t>
            </a:r>
            <a:r>
              <a:rPr dirty="0" err="1"/>
              <a:t>usuario</a:t>
            </a:r>
            <a:r>
              <a:rPr dirty="0"/>
              <a:t> final. Cada </a:t>
            </a:r>
            <a:r>
              <a:rPr dirty="0" err="1"/>
              <a:t>nueve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cuesta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y </a:t>
            </a:r>
            <a:r>
              <a:rPr dirty="0" err="1"/>
              <a:t>rinde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: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 </a:t>
            </a:r>
            <a:r>
              <a:rPr dirty="0" err="1"/>
              <a:t>decreciente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hablamos</a:t>
            </a:r>
            <a:r>
              <a:rPr dirty="0"/>
              <a:t> de 99.9% y no de </a:t>
            </a:r>
            <a:r>
              <a:rPr dirty="0" err="1"/>
              <a:t>perfección</a:t>
            </a:r>
            <a:r>
              <a:rPr dirty="0"/>
              <a:t>.</a:t>
            </a:r>
            <a:endParaRPr lang="en-US" dirty="0"/>
          </a:p>
          <a:p>
            <a:endParaRPr lang="en-C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99.9 -&gt; Downtime Por </a:t>
            </a:r>
            <a:r>
              <a:rPr lang="en-US" dirty="0" err="1"/>
              <a:t>mes</a:t>
            </a:r>
            <a:r>
              <a:rPr lang="en-US" dirty="0"/>
              <a:t>: 43 </a:t>
            </a:r>
            <a:r>
              <a:rPr lang="en-US" dirty="0" err="1"/>
              <a:t>minutos</a:t>
            </a:r>
            <a:r>
              <a:rPr lang="en-US" dirty="0"/>
              <a:t> y 50 </a:t>
            </a:r>
            <a:r>
              <a:rPr lang="en-US" dirty="0" err="1"/>
              <a:t>segundos</a:t>
            </a:r>
            <a:r>
              <a:rPr lang="en-US" dirty="0"/>
              <a:t> (</a:t>
            </a:r>
            <a:r>
              <a:rPr lang="en-US" dirty="0" err="1"/>
              <a:t>aprox</a:t>
            </a:r>
            <a:r>
              <a:rPr lang="en-US" dirty="0"/>
              <a:t>. 43 min)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99.99 -&gt; Downtime Por </a:t>
            </a:r>
            <a:r>
              <a:rPr lang="en-US" dirty="0" err="1"/>
              <a:t>mes</a:t>
            </a:r>
            <a:r>
              <a:rPr lang="en-US" dirty="0"/>
              <a:t>: 4 </a:t>
            </a:r>
            <a:r>
              <a:rPr lang="en-US" dirty="0" err="1"/>
              <a:t>minutos</a:t>
            </a:r>
            <a:r>
              <a:rPr lang="en-US" dirty="0"/>
              <a:t> y 23 </a:t>
            </a:r>
            <a:r>
              <a:rPr lang="en-US" dirty="0" err="1"/>
              <a:t>segundos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99.999 -&gt; Downtime Por </a:t>
            </a:r>
            <a:r>
              <a:rPr lang="en-US" dirty="0" err="1"/>
              <a:t>mes</a:t>
            </a:r>
            <a:r>
              <a:rPr lang="en-US" dirty="0"/>
              <a:t>: 25.9 </a:t>
            </a:r>
            <a:r>
              <a:rPr lang="en-US" dirty="0" err="1"/>
              <a:t>segundos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aquí sale el presupuesto de error, nuestros puntos de golpe. La cuenta es simple: 100% de perfección menos 99.9% de tu SLO es igual a 0.1% de presupuesto de error. Esa es la vida tolerable. La matriz de daño: un ataque menor, como un bug en un nuevo lanzamiento, resta HP lentamente; un daño crítico, como la caída total de la base de datos, resta cantidades masivas; y la recuperación llega con el inicio de un nuevo mes o trimestre, cuando la barra se reinicia. La regla de oro: si tienes presupuesto de error, el sistema está sano; si llega a cero, el servicio está herido de gravedad.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 con eso se toman decisiones. La pregunta es una sola: ¿tenemos presupuesto de error disponible, o sea HP mayor a cero? Si la respuesta es sí, sigue explorando la mazmorra: hay autorización para lanzamientos rápidos, los desarrolladores pueden empujar nuevas funciones a producción y el riesgo operativo es aceptable. Si es no, haz un descanso largo: se congela el lanzamiento de nuevas funciones y todo el equipo, Dev y Ops, prioriza estabilidad, refactorización y pruebas de recuperación. Lo valioso es que la decisión no es una discusión política, la dicta el 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construimos</a:t>
            </a:r>
            <a:r>
              <a:rPr dirty="0"/>
              <a:t> la </a:t>
            </a:r>
            <a:r>
              <a:rPr dirty="0" err="1"/>
              <a:t>fortaleza</a:t>
            </a:r>
            <a:r>
              <a:rPr dirty="0"/>
              <a:t>, la </a:t>
            </a:r>
            <a:r>
              <a:rPr dirty="0" err="1"/>
              <a:t>arquitectura</a:t>
            </a:r>
            <a:r>
              <a:rPr dirty="0"/>
              <a:t> de </a:t>
            </a:r>
            <a:r>
              <a:rPr dirty="0" err="1"/>
              <a:t>confiabilidad</a:t>
            </a:r>
            <a:r>
              <a:rPr dirty="0"/>
              <a:t>. Son cuatro </a:t>
            </a:r>
            <a:r>
              <a:rPr dirty="0" err="1"/>
              <a:t>defensas</a:t>
            </a:r>
            <a:r>
              <a:rPr dirty="0"/>
              <a:t> y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les </a:t>
            </a:r>
            <a:r>
              <a:rPr dirty="0" err="1"/>
              <a:t>muestro</a:t>
            </a:r>
            <a:r>
              <a:rPr dirty="0"/>
              <a:t> las </a:t>
            </a:r>
            <a:r>
              <a:rPr dirty="0" err="1"/>
              <a:t>herramientas</a:t>
            </a:r>
            <a:r>
              <a:rPr dirty="0"/>
              <a:t> reales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hoy </a:t>
            </a:r>
            <a:r>
              <a:rPr dirty="0" err="1"/>
              <a:t>en</a:t>
            </a:r>
            <a:r>
              <a:rPr dirty="0"/>
              <a:t> AWS, Azure y GCP.</a:t>
            </a:r>
          </a:p>
          <a:p>
            <a:endParaRPr dirty="0"/>
          </a:p>
          <a:p>
            <a:r>
              <a:rPr dirty="0"/>
              <a:t>1) </a:t>
            </a:r>
            <a:r>
              <a:rPr dirty="0" err="1"/>
              <a:t>Murallas</a:t>
            </a:r>
            <a:r>
              <a:rPr dirty="0"/>
              <a:t> </a:t>
            </a:r>
            <a:r>
              <a:rPr dirty="0" err="1"/>
              <a:t>expansibles</a:t>
            </a:r>
            <a:r>
              <a:rPr dirty="0"/>
              <a:t>, </a:t>
            </a:r>
            <a:r>
              <a:rPr dirty="0" err="1"/>
              <a:t>escalabilidad</a:t>
            </a:r>
            <a:r>
              <a:rPr dirty="0"/>
              <a:t> horizontal: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capas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clonan</a:t>
            </a:r>
            <a:r>
              <a:rPr dirty="0"/>
              <a:t> ante un </a:t>
            </a:r>
            <a:r>
              <a:rPr dirty="0" err="1"/>
              <a:t>pico</a:t>
            </a:r>
            <a:r>
              <a:rPr dirty="0"/>
              <a:t> de </a:t>
            </a:r>
            <a:r>
              <a:rPr dirty="0" err="1"/>
              <a:t>tráfico</a:t>
            </a:r>
            <a:r>
              <a:rPr dirty="0"/>
              <a:t>. AWS: EC2 Auto Scaling, Elastic Load Balancing y EKS. Azure: Virtual Machine Scale Sets, Application Gateway y AKS. GCP: Managed Instance Groups, Cloud Load Balancing y GKE.</a:t>
            </a:r>
          </a:p>
          <a:p>
            <a:endParaRPr dirty="0"/>
          </a:p>
          <a:p>
            <a:r>
              <a:rPr dirty="0"/>
              <a:t>2) Torres de </a:t>
            </a:r>
            <a:r>
              <a:rPr dirty="0" err="1"/>
              <a:t>vigilancia</a:t>
            </a:r>
            <a:r>
              <a:rPr dirty="0"/>
              <a:t>, </a:t>
            </a:r>
            <a:r>
              <a:rPr dirty="0" err="1"/>
              <a:t>observabilidad</a:t>
            </a:r>
            <a:r>
              <a:rPr dirty="0"/>
              <a:t>: </a:t>
            </a:r>
            <a:r>
              <a:rPr dirty="0" err="1"/>
              <a:t>detección</a:t>
            </a:r>
            <a:r>
              <a:rPr dirty="0"/>
              <a:t> </a:t>
            </a:r>
            <a:r>
              <a:rPr dirty="0" err="1"/>
              <a:t>temprana</a:t>
            </a:r>
            <a:r>
              <a:rPr dirty="0"/>
              <a:t> de </a:t>
            </a:r>
            <a:r>
              <a:rPr dirty="0" err="1"/>
              <a:t>fallos</a:t>
            </a:r>
            <a:r>
              <a:rPr dirty="0"/>
              <a:t> con logs y </a:t>
            </a:r>
            <a:r>
              <a:rPr dirty="0" err="1"/>
              <a:t>métricas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MTTR. AWS: CloudWatch, X-Ray y Managed Grafana. Azure: Azure Monitor y Application Insights. GCP: Cloud Monitoring, Cloud Logging y Cloud Trace.</a:t>
            </a:r>
          </a:p>
          <a:p>
            <a:endParaRPr dirty="0"/>
          </a:p>
          <a:p>
            <a:r>
              <a:rPr dirty="0"/>
              <a:t>3) </a:t>
            </a:r>
            <a:r>
              <a:rPr dirty="0" err="1"/>
              <a:t>Bóvedas</a:t>
            </a:r>
            <a:r>
              <a:rPr dirty="0"/>
              <a:t> </a:t>
            </a:r>
            <a:r>
              <a:rPr dirty="0" err="1"/>
              <a:t>espejo</a:t>
            </a:r>
            <a:r>
              <a:rPr dirty="0"/>
              <a:t>, </a:t>
            </a:r>
            <a:r>
              <a:rPr dirty="0" err="1"/>
              <a:t>redundancia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: </a:t>
            </a:r>
            <a:r>
              <a:rPr dirty="0" err="1"/>
              <a:t>replicar</a:t>
            </a:r>
            <a:r>
              <a:rPr dirty="0"/>
              <a:t> </a:t>
            </a:r>
            <a:r>
              <a:rPr dirty="0" err="1"/>
              <a:t>artefactos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 regiones para </a:t>
            </a:r>
            <a:r>
              <a:rPr dirty="0" err="1"/>
              <a:t>sobrevivir</a:t>
            </a:r>
            <a:r>
              <a:rPr dirty="0"/>
              <a:t> a un </a:t>
            </a:r>
            <a:r>
              <a:rPr dirty="0" err="1"/>
              <a:t>colapso</a:t>
            </a:r>
            <a:r>
              <a:rPr dirty="0"/>
              <a:t>. AWS: </a:t>
            </a:r>
            <a:r>
              <a:rPr dirty="0" err="1"/>
              <a:t>replicación</a:t>
            </a:r>
            <a:r>
              <a:rPr dirty="0"/>
              <a:t> entre regiones de S3, Aurora Global Database y DynamoDB Global Tables. Azure: </a:t>
            </a:r>
            <a:r>
              <a:rPr dirty="0" err="1"/>
              <a:t>almacenamiento</a:t>
            </a:r>
            <a:r>
              <a:rPr dirty="0"/>
              <a:t> geo-</a:t>
            </a:r>
            <a:r>
              <a:rPr dirty="0" err="1"/>
              <a:t>redundante</a:t>
            </a:r>
            <a:r>
              <a:rPr dirty="0"/>
              <a:t>, Cosmos DB </a:t>
            </a:r>
            <a:r>
              <a:rPr dirty="0" err="1"/>
              <a:t>multirregión</a:t>
            </a:r>
            <a:r>
              <a:rPr dirty="0"/>
              <a:t> y geo-</a:t>
            </a:r>
            <a:r>
              <a:rPr dirty="0" err="1"/>
              <a:t>replicación</a:t>
            </a:r>
            <a:r>
              <a:rPr dirty="0"/>
              <a:t> de Azure SQL. GCP: Spanner y Cloud Storage </a:t>
            </a:r>
            <a:r>
              <a:rPr dirty="0" err="1"/>
              <a:t>multirregión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4) </a:t>
            </a:r>
            <a:r>
              <a:rPr dirty="0" err="1"/>
              <a:t>Salidas</a:t>
            </a:r>
            <a:r>
              <a:rPr dirty="0"/>
              <a:t> de </a:t>
            </a:r>
            <a:r>
              <a:rPr dirty="0" err="1"/>
              <a:t>emergencia</a:t>
            </a:r>
            <a:r>
              <a:rPr dirty="0"/>
              <a:t>, </a:t>
            </a:r>
            <a:r>
              <a:rPr dirty="0" err="1"/>
              <a:t>degradación</a:t>
            </a:r>
            <a:r>
              <a:rPr dirty="0"/>
              <a:t> elegante: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puerta</a:t>
            </a:r>
            <a:r>
              <a:rPr dirty="0"/>
              <a:t> principal </a:t>
            </a:r>
            <a:r>
              <a:rPr dirty="0" err="1"/>
              <a:t>cae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castillo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operando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básicas</a:t>
            </a:r>
            <a:r>
              <a:rPr dirty="0"/>
              <a:t>. AWS: Route 53 con failover, CloudFront y Resilience Hub. Azure: Front Door, Traffic Manager y Chaos Studio para </a:t>
            </a:r>
            <a:r>
              <a:rPr dirty="0" err="1"/>
              <a:t>probarlo</a:t>
            </a:r>
            <a:r>
              <a:rPr dirty="0"/>
              <a:t>. GCP: Cloud Load Balancing, Cloud CDN y Cloud Service Mesh.</a:t>
            </a:r>
          </a:p>
          <a:p>
            <a:endParaRPr dirty="0"/>
          </a:p>
          <a:p>
            <a:r>
              <a:rPr dirty="0"/>
              <a:t>La idea no es </a:t>
            </a:r>
            <a:r>
              <a:rPr dirty="0" err="1"/>
              <a:t>memorizar</a:t>
            </a:r>
            <a:r>
              <a:rPr dirty="0"/>
              <a:t> </a:t>
            </a:r>
            <a:r>
              <a:rPr dirty="0" err="1"/>
              <a:t>productos</a:t>
            </a:r>
            <a:r>
              <a:rPr dirty="0"/>
              <a:t>, </a:t>
            </a: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nubes</a:t>
            </a:r>
            <a:r>
              <a:rPr dirty="0"/>
              <a:t> </a:t>
            </a:r>
            <a:r>
              <a:rPr dirty="0" err="1"/>
              <a:t>ofrecen</a:t>
            </a:r>
            <a:r>
              <a:rPr dirty="0"/>
              <a:t> un </a:t>
            </a:r>
            <a:r>
              <a:rPr dirty="0" err="1"/>
              <a:t>equivalente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defensa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Juntemos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mapa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bucle</a:t>
            </a:r>
            <a:r>
              <a:rPr dirty="0"/>
              <a:t> virtuoso de SRE. Uno: </a:t>
            </a:r>
            <a:r>
              <a:rPr dirty="0" err="1"/>
              <a:t>automatizamos</a:t>
            </a:r>
            <a:r>
              <a:rPr dirty="0"/>
              <a:t> y </a:t>
            </a:r>
            <a:r>
              <a:rPr dirty="0" err="1"/>
              <a:t>eliminamos</a:t>
            </a:r>
            <a:r>
              <a:rPr dirty="0"/>
              <a:t> toil. Dos: </a:t>
            </a:r>
            <a:r>
              <a:rPr dirty="0" err="1"/>
              <a:t>eso</a:t>
            </a:r>
            <a:r>
              <a:rPr dirty="0"/>
              <a:t> libera </a:t>
            </a:r>
            <a:r>
              <a:rPr dirty="0" err="1"/>
              <a:t>tiempo</a:t>
            </a:r>
            <a:r>
              <a:rPr dirty="0"/>
              <a:t>, y </a:t>
            </a:r>
            <a:r>
              <a:rPr dirty="0" err="1"/>
              <a:t>los</a:t>
            </a:r>
            <a:r>
              <a:rPr dirty="0"/>
              <a:t> SREs se </a:t>
            </a:r>
            <a:r>
              <a:rPr dirty="0" err="1"/>
              <a:t>enfocan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50%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. Tres: </a:t>
            </a:r>
            <a:r>
              <a:rPr dirty="0" err="1"/>
              <a:t>aparecen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resilientes</a:t>
            </a:r>
            <a:r>
              <a:rPr dirty="0"/>
              <a:t>, la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soporta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la carga. Cuatro: se </a:t>
            </a:r>
            <a:r>
              <a:rPr dirty="0" err="1"/>
              <a:t>preserva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presupuesto</a:t>
            </a:r>
            <a:r>
              <a:rPr dirty="0"/>
              <a:t>, </a:t>
            </a:r>
            <a:r>
              <a:rPr dirty="0" err="1"/>
              <a:t>los</a:t>
            </a:r>
            <a:r>
              <a:rPr dirty="0"/>
              <a:t> SLIs se </a:t>
            </a:r>
            <a:r>
              <a:rPr dirty="0" err="1"/>
              <a:t>mantienen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SLOs y </a:t>
            </a:r>
            <a:r>
              <a:rPr dirty="0" err="1"/>
              <a:t>el</a:t>
            </a:r>
            <a:r>
              <a:rPr dirty="0"/>
              <a:t> HP </a:t>
            </a:r>
            <a:r>
              <a:rPr lang="en-US" dirty="0"/>
              <a:t>(Error Budget)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intacto</a:t>
            </a:r>
            <a:r>
              <a:rPr dirty="0"/>
              <a:t>. Cinco: con HP disponible,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desarrolladores</a:t>
            </a:r>
            <a:r>
              <a:rPr dirty="0"/>
              <a:t> </a:t>
            </a:r>
            <a:r>
              <a:rPr dirty="0" err="1"/>
              <a:t>despliegan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rápido</a:t>
            </a:r>
            <a:r>
              <a:rPr dirty="0"/>
              <a:t>, y </a:t>
            </a:r>
            <a:r>
              <a:rPr dirty="0" err="1"/>
              <a:t>eso</a:t>
            </a:r>
            <a:r>
              <a:rPr dirty="0"/>
              <a:t> genera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oportunidades</a:t>
            </a:r>
            <a:r>
              <a:rPr dirty="0"/>
              <a:t> de </a:t>
            </a:r>
            <a:r>
              <a:rPr dirty="0" err="1"/>
              <a:t>automatizar</a:t>
            </a:r>
            <a:r>
              <a:rPr lang="en-US" dirty="0"/>
              <a:t> (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/>
              <a:t>incidente, </a:t>
            </a:r>
            <a:r>
              <a:rPr lang="en-US" dirty="0" err="1"/>
              <a:t>mejora</a:t>
            </a:r>
            <a:r>
              <a:rPr lang="en-US" dirty="0"/>
              <a:t> continua a traves de </a:t>
            </a:r>
            <a:r>
              <a:rPr lang="en-US" dirty="0" err="1"/>
              <a:t>Blamess</a:t>
            </a:r>
            <a:r>
              <a:rPr lang="en-US" dirty="0"/>
              <a:t> Postmortem)</a:t>
            </a:r>
            <a:r>
              <a:rPr dirty="0"/>
              <a:t>. En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centro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: </a:t>
            </a:r>
            <a:r>
              <a:rPr dirty="0" err="1"/>
              <a:t>innovación</a:t>
            </a:r>
            <a:r>
              <a:rPr dirty="0"/>
              <a:t> </a:t>
            </a:r>
            <a:r>
              <a:rPr dirty="0" err="1"/>
              <a:t>sostenible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Para </a:t>
            </a:r>
            <a:r>
              <a:rPr dirty="0" err="1"/>
              <a:t>cerrar</a:t>
            </a:r>
            <a:r>
              <a:rPr dirty="0"/>
              <a:t>, </a:t>
            </a:r>
            <a:r>
              <a:rPr dirty="0" err="1"/>
              <a:t>prepar</a:t>
            </a:r>
            <a:r>
              <a:rPr lang="en-US" dirty="0" err="1"/>
              <a:t>en</a:t>
            </a:r>
            <a:r>
              <a:rPr dirty="0"/>
              <a:t> </a:t>
            </a:r>
            <a:r>
              <a:rPr lang="en-US" dirty="0" err="1"/>
              <a:t>los</a:t>
            </a:r>
            <a:r>
              <a:rPr dirty="0"/>
              <a:t> dados; </a:t>
            </a:r>
            <a:r>
              <a:rPr dirty="0" err="1"/>
              <a:t>tres</a:t>
            </a:r>
            <a:r>
              <a:rPr dirty="0"/>
              <a:t> pasos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semana</a:t>
            </a:r>
            <a:r>
              <a:rPr dirty="0"/>
              <a:t>. Paso uno: </a:t>
            </a:r>
            <a:r>
              <a:rPr dirty="0" err="1"/>
              <a:t>mide</a:t>
            </a:r>
            <a:r>
              <a:rPr dirty="0"/>
              <a:t> </a:t>
            </a:r>
            <a:r>
              <a:rPr lang="en-US" dirty="0" err="1"/>
              <a:t>s</a:t>
            </a:r>
            <a:r>
              <a:rPr dirty="0" err="1"/>
              <a:t>u</a:t>
            </a:r>
            <a:r>
              <a:rPr dirty="0"/>
              <a:t> toil. </a:t>
            </a:r>
            <a:r>
              <a:rPr dirty="0" err="1"/>
              <a:t>Identifi</a:t>
            </a:r>
            <a:r>
              <a:rPr lang="en-US" dirty="0" err="1"/>
              <a:t>que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manual </a:t>
            </a:r>
            <a:r>
              <a:rPr dirty="0" err="1"/>
              <a:t>recurrente</a:t>
            </a:r>
            <a:r>
              <a:rPr dirty="0"/>
              <a:t> y </a:t>
            </a:r>
            <a:r>
              <a:rPr dirty="0" err="1"/>
              <a:t>audit</a:t>
            </a:r>
            <a:r>
              <a:rPr lang="en-US" dirty="0" err="1"/>
              <a:t>e</a:t>
            </a:r>
            <a:r>
              <a:rPr dirty="0"/>
              <a:t> 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drena</a:t>
            </a:r>
            <a:r>
              <a:rPr dirty="0"/>
              <a:t> de </a:t>
            </a:r>
            <a:r>
              <a:rPr lang="en-US" dirty="0" err="1"/>
              <a:t>s</a:t>
            </a:r>
            <a:r>
              <a:rPr dirty="0" err="1"/>
              <a:t>u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. Paso dos: </a:t>
            </a:r>
            <a:r>
              <a:rPr dirty="0" err="1"/>
              <a:t>escrib</a:t>
            </a:r>
            <a:r>
              <a:rPr lang="en-US" dirty="0" err="1"/>
              <a:t>a</a:t>
            </a:r>
            <a:r>
              <a:rPr dirty="0"/>
              <a:t> </a:t>
            </a:r>
            <a:r>
              <a:rPr lang="en-US" dirty="0" err="1"/>
              <a:t>s</a:t>
            </a:r>
            <a:r>
              <a:rPr dirty="0" err="1"/>
              <a:t>u</a:t>
            </a:r>
            <a:r>
              <a:rPr dirty="0"/>
              <a:t> primer SLO. Elige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crítico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login, y </a:t>
            </a:r>
            <a:r>
              <a:rPr dirty="0" err="1"/>
              <a:t>establece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meta </a:t>
            </a:r>
            <a:r>
              <a:rPr dirty="0" err="1"/>
              <a:t>realista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99%. Paso </a:t>
            </a:r>
            <a:r>
              <a:rPr dirty="0" err="1"/>
              <a:t>tres</a:t>
            </a:r>
            <a:r>
              <a:rPr dirty="0"/>
              <a:t>: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defensa</a:t>
            </a:r>
            <a:r>
              <a:rPr dirty="0"/>
              <a:t>. </a:t>
            </a:r>
            <a:r>
              <a:rPr dirty="0" err="1"/>
              <a:t>Asigna</a:t>
            </a:r>
            <a:r>
              <a:rPr dirty="0"/>
              <a:t> a un </a:t>
            </a:r>
            <a:r>
              <a:rPr dirty="0" err="1"/>
              <a:t>ingeniero</a:t>
            </a:r>
            <a:r>
              <a:rPr dirty="0"/>
              <a:t> para </a:t>
            </a:r>
            <a:r>
              <a:rPr dirty="0" err="1"/>
              <a:t>reemplazar</a:t>
            </a:r>
            <a:r>
              <a:rPr dirty="0"/>
              <a:t> un script manual </a:t>
            </a:r>
            <a:r>
              <a:rPr dirty="0" err="1"/>
              <a:t>por</a:t>
            </a:r>
            <a:r>
              <a:rPr dirty="0"/>
              <a:t> un pipeline </a:t>
            </a:r>
            <a:r>
              <a:rPr dirty="0" err="1"/>
              <a:t>completamente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. Su </a:t>
            </a:r>
            <a:r>
              <a:rPr dirty="0" err="1"/>
              <a:t>infraestructura</a:t>
            </a:r>
            <a:r>
              <a:rPr dirty="0"/>
              <a:t> es </a:t>
            </a:r>
            <a:r>
              <a:rPr dirty="0" err="1"/>
              <a:t>ahora</a:t>
            </a:r>
            <a:r>
              <a:rPr dirty="0"/>
              <a:t> un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. </a:t>
            </a:r>
            <a:r>
              <a:rPr dirty="0" err="1"/>
              <a:t>Juega</a:t>
            </a:r>
            <a:r>
              <a:rPr dirty="0"/>
              <a:t> </a:t>
            </a:r>
            <a:r>
              <a:rPr dirty="0" err="1"/>
              <a:t>inteligentemente</a:t>
            </a:r>
            <a:r>
              <a:rPr dirty="0"/>
              <a:t>. Gracias, y </a:t>
            </a:r>
            <a:r>
              <a:rPr dirty="0" err="1"/>
              <a:t>quedo</a:t>
            </a:r>
            <a:r>
              <a:rPr dirty="0"/>
              <a:t> </a:t>
            </a:r>
            <a:r>
              <a:rPr dirty="0" err="1"/>
              <a:t>atento</a:t>
            </a:r>
            <a:r>
              <a:rPr dirty="0"/>
              <a:t> a sus </a:t>
            </a:r>
            <a:r>
              <a:rPr dirty="0" err="1"/>
              <a:t>preguntas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hyperlink" Target="https://linkedin.com/in/fabperez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" descr="Ilustración de fondo de la diapositiva 1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1063255" y="6272212"/>
            <a:ext cx="14129488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372"/>
              </a:lnSpc>
            </a:pPr>
            <a:r>
              <a:rPr sz="7000" b="1" i="0" dirty="0">
                <a:solidFill>
                  <a:srgbClr val="5B5448"/>
                </a:solidFill>
                <a:latin typeface="Georgia"/>
              </a:rPr>
              <a:t>S</a:t>
            </a:r>
            <a:r>
              <a:rPr lang="en-US" sz="7000" b="1" dirty="0">
                <a:solidFill>
                  <a:srgbClr val="5B5448"/>
                </a:solidFill>
                <a:latin typeface="Georgia"/>
              </a:rPr>
              <a:t>ite Reliability Engineering</a:t>
            </a:r>
            <a:endParaRPr lang="en-US" sz="7000" b="1" i="0" dirty="0">
              <a:solidFill>
                <a:srgbClr val="5B5448"/>
              </a:solidFill>
              <a:latin typeface="Georgia"/>
            </a:endParaRPr>
          </a:p>
        </p:txBody>
      </p:sp>
      <p:sp>
        <p:nvSpPr>
          <p:cNvPr id="4" name="Texto 2"/>
          <p:cNvSpPr txBox="1"/>
          <p:nvPr/>
        </p:nvSpPr>
        <p:spPr>
          <a:xfrm>
            <a:off x="1417674" y="7960617"/>
            <a:ext cx="13420651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350" b="0" i="0">
                <a:solidFill>
                  <a:srgbClr val="222222"/>
                </a:solidFill>
                <a:latin typeface="Arial"/>
              </a:rPr>
              <a:t>Operaciones de TI como un problema de ingeniería de software.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BDCC0-6149-A209-9E05-6FD4F52AA2A5}"/>
              </a:ext>
            </a:extLst>
          </p:cNvPr>
          <p:cNvSpPr txBox="1"/>
          <p:nvPr/>
        </p:nvSpPr>
        <p:spPr>
          <a:xfrm>
            <a:off x="5453228" y="63592"/>
            <a:ext cx="5349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5B5448"/>
                </a:solidFill>
                <a:latin typeface="Georgia"/>
              </a:rPr>
              <a:t>SRE: El Manual del </a:t>
            </a:r>
            <a:r>
              <a:rPr lang="en-US" sz="2800" b="1" dirty="0" err="1">
                <a:solidFill>
                  <a:srgbClr val="5B5448"/>
                </a:solidFill>
                <a:latin typeface="Georgia"/>
              </a:rPr>
              <a:t>Jugador</a:t>
            </a:r>
            <a:endParaRPr lang="en-C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4" descr="Ilustración de fondo de la diapositiva 14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400" b="0" i="0">
                <a:solidFill>
                  <a:srgbClr val="2B2016"/>
                </a:solidFill>
                <a:latin typeface="Georgia"/>
              </a:rPr>
              <a:t>Conoce al presentador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2540000" y="1891803"/>
            <a:ext cx="469013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3150" b="0" i="0">
                <a:solidFill>
                  <a:srgbClr val="2B2016"/>
                </a:solidFill>
                <a:latin typeface="Georgia"/>
              </a:rPr>
              <a:t>Fabricio Perez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2835348" y="2600225"/>
            <a:ext cx="4134883" cy="330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050" dirty="0">
                <a:solidFill>
                  <a:srgbClr val="2B2016"/>
                </a:solidFill>
                <a:latin typeface="Georgia"/>
              </a:rPr>
              <a:t>Software</a:t>
            </a:r>
            <a:r>
              <a:rPr lang="en-US" sz="2050" b="0" i="0" dirty="0">
                <a:solidFill>
                  <a:srgbClr val="2B2016"/>
                </a:solidFill>
                <a:latin typeface="Georgia"/>
              </a:rPr>
              <a:t> Architect</a:t>
            </a:r>
            <a:endParaRPr sz="2050" b="0" i="0" dirty="0">
              <a:solidFill>
                <a:srgbClr val="2B2016"/>
              </a:solidFill>
              <a:latin typeface="Georgia"/>
            </a:endParaRPr>
          </a:p>
        </p:txBody>
      </p:sp>
      <p:sp>
        <p:nvSpPr>
          <p:cNvPr id="6" name="Texto 4"/>
          <p:cNvSpPr txBox="1"/>
          <p:nvPr/>
        </p:nvSpPr>
        <p:spPr>
          <a:xfrm>
            <a:off x="3248837" y="3344068"/>
            <a:ext cx="1949302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300" b="0" i="0">
                <a:solidFill>
                  <a:srgbClr val="2B2016"/>
                </a:solidFill>
                <a:latin typeface="Georgia"/>
              </a:rPr>
              <a:t>Trayectoria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1394046" y="4002310"/>
            <a:ext cx="5398976" cy="1704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3534" indent="-283534" algn="l">
              <a:lnSpc>
                <a:spcPts val="2651"/>
              </a:lnSpc>
              <a:buFont typeface="Arial"/>
              <a:buChar char="•"/>
            </a:pP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Bach. Ingeniería </a:t>
            </a:r>
            <a:r>
              <a:rPr lang="en-US" sz="2000" b="0" i="0" dirty="0" err="1">
                <a:solidFill>
                  <a:srgbClr val="2B2016"/>
                </a:solidFill>
                <a:latin typeface="Georgia"/>
              </a:rPr>
              <a:t>Informática</a:t>
            </a: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, U. Latina ‘98</a:t>
            </a:r>
          </a:p>
          <a:p>
            <a:pPr marL="283534" indent="-283534" algn="l">
              <a:lnSpc>
                <a:spcPts val="2651"/>
              </a:lnSpc>
              <a:buFont typeface="Arial"/>
              <a:buChar char="•"/>
            </a:pPr>
            <a:r>
              <a:rPr sz="2000" b="0" i="0" dirty="0" err="1">
                <a:solidFill>
                  <a:srgbClr val="2B2016"/>
                </a:solidFill>
                <a:latin typeface="Georgia"/>
              </a:rPr>
              <a:t>Ingeniero</a:t>
            </a:r>
            <a:r>
              <a:rPr sz="2000" b="0" i="0" dirty="0">
                <a:solidFill>
                  <a:srgbClr val="2B2016"/>
                </a:solidFill>
                <a:latin typeface="Georgia"/>
              </a:rPr>
              <a:t> de Software </a:t>
            </a:r>
            <a:r>
              <a:rPr sz="2000" b="0" i="0" dirty="0" err="1">
                <a:solidFill>
                  <a:srgbClr val="2B2016"/>
                </a:solidFill>
                <a:latin typeface="Georgia"/>
              </a:rPr>
              <a:t>desde</a:t>
            </a:r>
            <a:r>
              <a:rPr sz="2000" b="0" i="0" dirty="0">
                <a:solidFill>
                  <a:srgbClr val="2B2016"/>
                </a:solidFill>
                <a:latin typeface="Georgia"/>
              </a:rPr>
              <a:t> 200</a:t>
            </a: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0</a:t>
            </a:r>
          </a:p>
          <a:p>
            <a:pPr marL="283534" indent="-283534" algn="l">
              <a:lnSpc>
                <a:spcPts val="2651"/>
              </a:lnSpc>
              <a:buFont typeface="Arial"/>
              <a:buChar char="•"/>
            </a:pP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HP: Cloud, SOA, </a:t>
            </a:r>
            <a:r>
              <a:rPr lang="en-US" sz="2000" b="0" i="0" dirty="0" err="1">
                <a:solidFill>
                  <a:srgbClr val="2B2016"/>
                </a:solidFill>
                <a:latin typeface="Georgia"/>
              </a:rPr>
              <a:t>Sillicon</a:t>
            </a: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 Valley 2006 - 09</a:t>
            </a:r>
          </a:p>
          <a:p>
            <a:pPr marL="283534" indent="-283534" algn="l">
              <a:lnSpc>
                <a:spcPts val="2651"/>
              </a:lnSpc>
              <a:buFont typeface="Arial"/>
              <a:buChar char="•"/>
            </a:pPr>
            <a:r>
              <a:rPr lang="en-US" sz="2000" dirty="0">
                <a:solidFill>
                  <a:srgbClr val="2B2016"/>
                </a:solidFill>
                <a:latin typeface="Georgia"/>
              </a:rPr>
              <a:t>Microsoft: Azure Solutions Architect 2024</a:t>
            </a:r>
            <a:endParaRPr sz="2000" b="0" i="0" dirty="0">
              <a:solidFill>
                <a:srgbClr val="2B2016"/>
              </a:solidFill>
              <a:latin typeface="Georgia"/>
            </a:endParaRPr>
          </a:p>
          <a:p>
            <a:pPr marL="283534" indent="-283534" algn="l">
              <a:lnSpc>
                <a:spcPts val="2651"/>
              </a:lnSpc>
              <a:buFont typeface="Arial"/>
              <a:buChar char="•"/>
            </a:pPr>
            <a:r>
              <a:rPr sz="2000" b="0" i="0" dirty="0">
                <a:solidFill>
                  <a:srgbClr val="2B2016"/>
                </a:solidFill>
                <a:latin typeface="Georgia"/>
              </a:rPr>
              <a:t>Hoy </a:t>
            </a:r>
            <a:r>
              <a:rPr sz="2000" b="0" i="0" dirty="0" err="1">
                <a:solidFill>
                  <a:srgbClr val="2B2016"/>
                </a:solidFill>
                <a:latin typeface="Georgia"/>
              </a:rPr>
              <a:t>en</a:t>
            </a:r>
            <a:r>
              <a:rPr sz="2000" b="0" i="0" dirty="0">
                <a:solidFill>
                  <a:srgbClr val="2B2016"/>
                </a:solidFill>
                <a:latin typeface="Georgia"/>
              </a:rPr>
              <a:t> UPS</a:t>
            </a:r>
            <a:r>
              <a:rPr lang="en-US" sz="2000" b="0" i="0" dirty="0">
                <a:solidFill>
                  <a:srgbClr val="2B2016"/>
                </a:solidFill>
                <a:latin typeface="Georgia"/>
              </a:rPr>
              <a:t>: DevOps, Logistica, </a:t>
            </a:r>
            <a:r>
              <a:rPr lang="en-US" sz="1600" b="0" i="0" dirty="0">
                <a:solidFill>
                  <a:srgbClr val="2B2016"/>
                </a:solidFill>
                <a:latin typeface="Georgia"/>
              </a:rPr>
              <a:t>Red Hat, GCP</a:t>
            </a:r>
            <a:endParaRPr sz="1600" b="0" i="0" dirty="0">
              <a:solidFill>
                <a:srgbClr val="2B2016"/>
              </a:solidFill>
              <a:latin typeface="Georgia"/>
            </a:endParaRPr>
          </a:p>
        </p:txBody>
      </p:sp>
      <p:sp>
        <p:nvSpPr>
          <p:cNvPr id="8" name="Texto 6"/>
          <p:cNvSpPr txBox="1"/>
          <p:nvPr/>
        </p:nvSpPr>
        <p:spPr>
          <a:xfrm>
            <a:off x="2776279" y="6343054"/>
            <a:ext cx="2599069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300" b="0" i="0">
                <a:solidFill>
                  <a:srgbClr val="2B2016"/>
                </a:solidFill>
                <a:latin typeface="Georgia"/>
              </a:rPr>
              <a:t>Conecta conmigo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559441" y="6859612"/>
            <a:ext cx="4961860" cy="1080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sz="2100" b="1" i="0" u="sng">
                <a:solidFill>
                  <a:srgbClr val="2B2016"/>
                </a:solidFill>
                <a:latin typeface="Georgia"/>
                <a:hlinkClick r:id="rId4"/>
              </a:rPr>
              <a:t>linkedin.com/in/fabperez</a:t>
            </a:r>
          </a:p>
          <a:p>
            <a:pPr algn="l">
              <a:lnSpc>
                <a:spcPts val="2651"/>
              </a:lnSpc>
            </a:pPr>
            <a:r>
              <a:rPr sz="2100" b="0" i="0">
                <a:solidFill>
                  <a:srgbClr val="2B2016"/>
                </a:solidFill>
                <a:latin typeface="Georgia"/>
              </a:rPr>
              <a:t>Conversemos de SRE.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0691627" y="1891803"/>
            <a:ext cx="469013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3150" b="0" i="0">
                <a:solidFill>
                  <a:srgbClr val="2B2016"/>
                </a:solidFill>
                <a:latin typeface="Georgia"/>
              </a:rPr>
              <a:t>Nube y Resiliencia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10986976" y="2600225"/>
            <a:ext cx="4134883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2200" b="0" i="0">
                <a:solidFill>
                  <a:srgbClr val="2B2016"/>
                </a:solidFill>
                <a:latin typeface="Georgia"/>
              </a:rPr>
              <a:t>Microservicios y Service Mesh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11400465" y="3344068"/>
            <a:ext cx="1949302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300" b="0" i="0">
                <a:solidFill>
                  <a:srgbClr val="2B2016"/>
                </a:solidFill>
                <a:latin typeface="Georgia"/>
              </a:rPr>
              <a:t>Credenciales</a:t>
            </a:r>
          </a:p>
        </p:txBody>
      </p:sp>
      <p:sp>
        <p:nvSpPr>
          <p:cNvPr id="13" name="Texto 11"/>
          <p:cNvSpPr txBox="1"/>
          <p:nvPr/>
        </p:nvSpPr>
        <p:spPr>
          <a:xfrm>
            <a:off x="9545674" y="4011166"/>
            <a:ext cx="5398976" cy="1771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3534" indent="-283534" algn="l">
              <a:lnSpc>
                <a:spcPts val="2511"/>
              </a:lnSpc>
              <a:buFont typeface="Arial"/>
              <a:buChar char="•"/>
            </a:pPr>
            <a:r>
              <a:rPr sz="1750" b="0" i="0">
                <a:solidFill>
                  <a:srgbClr val="2B2016"/>
                </a:solidFill>
                <a:latin typeface="Georgia"/>
              </a:rPr>
              <a:t>Microsoft: Azure Solutions Architect Expert</a:t>
            </a:r>
          </a:p>
          <a:p>
            <a:pPr marL="283534" indent="-283534" algn="l">
              <a:lnSpc>
                <a:spcPts val="2511"/>
              </a:lnSpc>
              <a:spcBef>
                <a:spcPts val="279"/>
              </a:spcBef>
              <a:buFont typeface="Arial"/>
              <a:buChar char="•"/>
            </a:pPr>
            <a:r>
              <a:rPr sz="1750" b="0" i="0">
                <a:solidFill>
                  <a:srgbClr val="2B2016"/>
                </a:solidFill>
                <a:latin typeface="Georgia"/>
              </a:rPr>
              <a:t>Microsoft: Azure Administrator Associate</a:t>
            </a:r>
          </a:p>
          <a:p>
            <a:pPr marL="283534" indent="-283534" algn="l">
              <a:lnSpc>
                <a:spcPts val="2511"/>
              </a:lnSpc>
              <a:spcBef>
                <a:spcPts val="279"/>
              </a:spcBef>
              <a:buFont typeface="Arial"/>
              <a:buChar char="•"/>
            </a:pPr>
            <a:r>
              <a:rPr sz="1750" b="0" i="0">
                <a:solidFill>
                  <a:srgbClr val="2B2016"/>
                </a:solidFill>
                <a:latin typeface="Georgia"/>
              </a:rPr>
              <a:t>Red Hat: Istio y OpenShift Service Mesh (DO328)</a:t>
            </a:r>
          </a:p>
          <a:p>
            <a:pPr marL="283534" indent="-283534" algn="l">
              <a:lnSpc>
                <a:spcPts val="2511"/>
              </a:lnSpc>
              <a:spcBef>
                <a:spcPts val="279"/>
              </a:spcBef>
              <a:buFont typeface="Arial"/>
              <a:buChar char="•"/>
            </a:pPr>
            <a:r>
              <a:rPr sz="1750" b="0" i="0">
                <a:solidFill>
                  <a:srgbClr val="2B2016"/>
                </a:solidFill>
                <a:latin typeface="Georgia"/>
              </a:rPr>
              <a:t>Google Cloud: fundamentos de DevOps</a:t>
            </a:r>
          </a:p>
        </p:txBody>
      </p:sp>
      <p:sp>
        <p:nvSpPr>
          <p:cNvPr id="14" name="Texto 12"/>
          <p:cNvSpPr txBox="1"/>
          <p:nvPr/>
        </p:nvSpPr>
        <p:spPr>
          <a:xfrm>
            <a:off x="10927906" y="6343054"/>
            <a:ext cx="2599069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500" b="0" i="0">
                <a:solidFill>
                  <a:srgbClr val="2B2016"/>
                </a:solidFill>
                <a:latin typeface="Georgia"/>
              </a:rPr>
              <a:t>Formación</a:t>
            </a:r>
          </a:p>
        </p:txBody>
      </p:sp>
      <p:pic>
        <p:nvPicPr>
          <p:cNvPr id="23" name="Picture 22" descr="A person standing in front of a sign&#10;&#10;AI-generated content may be incorrect.">
            <a:extLst>
              <a:ext uri="{FF2B5EF4-FFF2-40B4-BE49-F238E27FC236}">
                <a16:creationId xmlns:a16="http://schemas.microsoft.com/office/drawing/2014/main" id="{9AB3145A-8548-DECE-7750-E78426A6F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2"/>
          <a:stretch>
            <a:fillRect/>
          </a:stretch>
        </p:blipFill>
        <p:spPr>
          <a:xfrm>
            <a:off x="8624185" y="3200400"/>
            <a:ext cx="7165162" cy="4493260"/>
          </a:xfrm>
          <a:prstGeom prst="rect">
            <a:avLst/>
          </a:prstGeom>
        </p:spPr>
      </p:pic>
      <p:pic>
        <p:nvPicPr>
          <p:cNvPr id="25" name="Picture 24" descr="A cat lying on the floor&#10;&#10;AI-generated content may be incorrect.">
            <a:extLst>
              <a:ext uri="{FF2B5EF4-FFF2-40B4-BE49-F238E27FC236}">
                <a16:creationId xmlns:a16="http://schemas.microsoft.com/office/drawing/2014/main" id="{BBF868EA-E5F2-E08B-7723-F7B1C0EFBA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72" t="25881" r="24935" b="47763"/>
          <a:stretch>
            <a:fillRect/>
          </a:stretch>
        </p:blipFill>
        <p:spPr>
          <a:xfrm>
            <a:off x="10363600" y="6509102"/>
            <a:ext cx="2822434" cy="2045386"/>
          </a:xfrm>
          <a:prstGeom prst="rect">
            <a:avLst/>
          </a:prstGeom>
        </p:spPr>
      </p:pic>
      <p:pic>
        <p:nvPicPr>
          <p:cNvPr id="17" name="Picture 16" descr="A person standing on a sidewalk&#10;&#10;AI-generated content may be incorrect.">
            <a:extLst>
              <a:ext uri="{FF2B5EF4-FFF2-40B4-BE49-F238E27FC236}">
                <a16:creationId xmlns:a16="http://schemas.microsoft.com/office/drawing/2014/main" id="{DE64D458-4FA4-55BC-4585-B8658EB4EA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47"/>
          <a:stretch>
            <a:fillRect/>
          </a:stretch>
        </p:blipFill>
        <p:spPr>
          <a:xfrm>
            <a:off x="8651653" y="6500877"/>
            <a:ext cx="1810892" cy="2053611"/>
          </a:xfrm>
          <a:prstGeom prst="rect">
            <a:avLst/>
          </a:prstGeom>
        </p:spPr>
      </p:pic>
      <p:pic>
        <p:nvPicPr>
          <p:cNvPr id="19" name="Picture 18" descr="A person and a dog&#10;&#10;AI-generated content may be incorrect.">
            <a:extLst>
              <a:ext uri="{FF2B5EF4-FFF2-40B4-BE49-F238E27FC236}">
                <a16:creationId xmlns:a16="http://schemas.microsoft.com/office/drawing/2014/main" id="{8D505B90-D61E-B1F7-A8F5-85AC68B57D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800" y="6477000"/>
            <a:ext cx="2731456" cy="2050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2" descr="Ilustración de fondo de la diapositiva 2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5020930" y="4028876"/>
            <a:ext cx="6320465" cy="1204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2350" b="0" i="0">
                <a:solidFill>
                  <a:srgbClr val="2B2016"/>
                </a:solidFill>
                <a:latin typeface="Georgia"/>
              </a:rPr>
              <a:t>La misión de SRE es equilibrar la velocidad de entrega de los desarrolladores con la estabilidad de los sistemas.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772093" y="6402089"/>
            <a:ext cx="4489302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2400" b="0" i="0">
                <a:solidFill>
                  <a:srgbClr val="2B2016"/>
                </a:solidFill>
                <a:latin typeface="Georgia"/>
              </a:rPr>
              <a:t>El Viejo Reino: SysAdmin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9923720" y="6402089"/>
            <a:ext cx="4489302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2300" b="0" i="0">
                <a:solidFill>
                  <a:srgbClr val="2B2016"/>
                </a:solidFill>
                <a:latin typeface="Georgia"/>
              </a:rPr>
              <a:t>El Nuevo Dominio: SRE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228651" y="6911563"/>
            <a:ext cx="5505302" cy="1588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Enfoque tradicional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Operaciones manuales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Trabajo reactivo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Objetivo: Que nada se caiga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Frena la innovación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9498418" y="6911563"/>
            <a:ext cx="5505302" cy="1588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Site Reliability Engineering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Operaciones como software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Defensas automatizadas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Objetivo: Resiliencia a escala</a:t>
            </a:r>
          </a:p>
          <a:p>
            <a:pPr marL="283534" indent="-283534" algn="l">
              <a:lnSpc>
                <a:spcPts val="2390"/>
              </a:lnSpc>
              <a:buFont typeface="Arial"/>
              <a:buChar char="•"/>
            </a:pPr>
            <a:r>
              <a:rPr sz="2100" b="0" i="0">
                <a:solidFill>
                  <a:srgbClr val="2B2016"/>
                </a:solidFill>
                <a:latin typeface="Georgia"/>
              </a:rPr>
              <a:t>Acelera el desarrollo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3" descr="Ilustración de fondo de la diapositiva 3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2"/>
          <p:cNvSpPr txBox="1"/>
          <p:nvPr/>
        </p:nvSpPr>
        <p:spPr>
          <a:xfrm>
            <a:off x="3544186" y="463153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2800" b="0" i="0">
                <a:solidFill>
                  <a:srgbClr val="2B2016"/>
                </a:solidFill>
                <a:latin typeface="Georgia"/>
              </a:rPr>
              <a:t>Selección de Clase: El Guerrero vs. El Artífice</a:t>
            </a:r>
          </a:p>
        </p:txBody>
      </p:sp>
      <p:sp>
        <p:nvSpPr>
          <p:cNvPr id="4" name="Texto 3"/>
          <p:cNvSpPr txBox="1"/>
          <p:nvPr/>
        </p:nvSpPr>
        <p:spPr>
          <a:xfrm>
            <a:off x="2540000" y="1891803"/>
            <a:ext cx="469013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2950" b="0" i="0">
                <a:solidFill>
                  <a:srgbClr val="2B2016"/>
                </a:solidFill>
                <a:latin typeface="Georgia"/>
              </a:rPr>
              <a:t>Administrador de Sistemas</a:t>
            </a:r>
          </a:p>
        </p:txBody>
      </p:sp>
      <p:sp>
        <p:nvSpPr>
          <p:cNvPr id="5" name="Texto 4"/>
          <p:cNvSpPr txBox="1"/>
          <p:nvPr/>
        </p:nvSpPr>
        <p:spPr>
          <a:xfrm>
            <a:off x="2835348" y="2600225"/>
            <a:ext cx="4134883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2250" b="0" i="0">
                <a:solidFill>
                  <a:srgbClr val="2B2016"/>
                </a:solidFill>
                <a:latin typeface="Georgia"/>
              </a:rPr>
              <a:t>Clase: El Guerrero</a:t>
            </a:r>
          </a:p>
        </p:txBody>
      </p:sp>
      <p:sp>
        <p:nvSpPr>
          <p:cNvPr id="6" name="Texto 5"/>
          <p:cNvSpPr txBox="1"/>
          <p:nvPr/>
        </p:nvSpPr>
        <p:spPr>
          <a:xfrm>
            <a:off x="3248837" y="3344068"/>
            <a:ext cx="1949302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400" b="0" i="0">
                <a:solidFill>
                  <a:srgbClr val="2B2016"/>
                </a:solidFill>
                <a:latin typeface="Georgia"/>
              </a:rPr>
              <a:t>Atributos</a:t>
            </a:r>
          </a:p>
        </p:txBody>
      </p:sp>
      <p:sp>
        <p:nvSpPr>
          <p:cNvPr id="7" name="Texto 6"/>
          <p:cNvSpPr txBox="1"/>
          <p:nvPr/>
        </p:nvSpPr>
        <p:spPr>
          <a:xfrm>
            <a:off x="1394046" y="3943275"/>
            <a:ext cx="5753395" cy="1859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Estilo de Combate:</a:t>
            </a:r>
          </a:p>
          <a:p>
            <a:pPr algn="l">
              <a:lnSpc>
                <a:spcPts val="2651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Lucha cuerpo a cuerpo contra incidentes. Reacciona al daño uno a uno.</a:t>
            </a:r>
          </a:p>
          <a:p>
            <a:pPr algn="l">
              <a:lnSpc>
                <a:spcPts val="2651"/>
              </a:lnSpc>
              <a:spcBef>
                <a:spcPts val="837"/>
              </a:spcBef>
            </a:pPr>
            <a:r>
              <a:rPr sz="2000" b="1" i="0">
                <a:solidFill>
                  <a:srgbClr val="2B2016"/>
                </a:solidFill>
                <a:latin typeface="Georgia"/>
              </a:rPr>
              <a:t>Táctica: </a:t>
            </a:r>
            <a:r>
              <a:rPr sz="2000" b="0" i="0">
                <a:solidFill>
                  <a:srgbClr val="2B2016"/>
                </a:solidFill>
                <a:latin typeface="Georgia"/>
              </a:rPr>
              <a:t>Gestión manual de servidores y configuración de scripts ad hoc.</a:t>
            </a:r>
          </a:p>
        </p:txBody>
      </p:sp>
      <p:sp>
        <p:nvSpPr>
          <p:cNvPr id="8" name="Texto 7"/>
          <p:cNvSpPr txBox="1"/>
          <p:nvPr/>
        </p:nvSpPr>
        <p:spPr>
          <a:xfrm>
            <a:off x="2776279" y="6343054"/>
            <a:ext cx="2599069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400" b="0" i="0">
                <a:solidFill>
                  <a:srgbClr val="2B2016"/>
                </a:solidFill>
                <a:latin typeface="Georgia"/>
              </a:rPr>
              <a:t>Debilidad Crítica</a:t>
            </a:r>
          </a:p>
        </p:txBody>
      </p:sp>
      <p:sp>
        <p:nvSpPr>
          <p:cNvPr id="9" name="Texto 8"/>
          <p:cNvSpPr txBox="1"/>
          <p:nvPr/>
        </p:nvSpPr>
        <p:spPr>
          <a:xfrm>
            <a:off x="1559441" y="6859612"/>
            <a:ext cx="4961860" cy="141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Escala Linealmente.</a:t>
            </a:r>
          </a:p>
          <a:p>
            <a:pPr algn="l">
              <a:lnSpc>
                <a:spcPts val="2651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Si la infraestructura se duplica, el tamaño del equipo debe duplicarse para mantener el ritmo.</a:t>
            </a:r>
          </a:p>
        </p:txBody>
      </p:sp>
      <p:sp>
        <p:nvSpPr>
          <p:cNvPr id="10" name="Texto 9"/>
          <p:cNvSpPr txBox="1"/>
          <p:nvPr/>
        </p:nvSpPr>
        <p:spPr>
          <a:xfrm>
            <a:off x="10691627" y="1891803"/>
            <a:ext cx="469013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2950" b="0" i="0">
                <a:solidFill>
                  <a:srgbClr val="2B2016"/>
                </a:solidFill>
                <a:latin typeface="Georgia"/>
              </a:rPr>
              <a:t>Site Reliability Engineer</a:t>
            </a:r>
          </a:p>
        </p:txBody>
      </p:sp>
      <p:sp>
        <p:nvSpPr>
          <p:cNvPr id="11" name="Texto 10"/>
          <p:cNvSpPr txBox="1"/>
          <p:nvPr/>
        </p:nvSpPr>
        <p:spPr>
          <a:xfrm>
            <a:off x="10986976" y="2600225"/>
            <a:ext cx="4134883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2250" b="0" i="0">
                <a:solidFill>
                  <a:srgbClr val="2B2016"/>
                </a:solidFill>
                <a:latin typeface="Georgia"/>
              </a:rPr>
              <a:t>Clase: El Artífice</a:t>
            </a:r>
          </a:p>
        </p:txBody>
      </p:sp>
      <p:sp>
        <p:nvSpPr>
          <p:cNvPr id="12" name="Texto 11"/>
          <p:cNvSpPr txBox="1"/>
          <p:nvPr/>
        </p:nvSpPr>
        <p:spPr>
          <a:xfrm>
            <a:off x="11400465" y="3344068"/>
            <a:ext cx="1949302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400" b="0" i="0">
                <a:solidFill>
                  <a:srgbClr val="2B2016"/>
                </a:solidFill>
                <a:latin typeface="Georgia"/>
              </a:rPr>
              <a:t>Atributos</a:t>
            </a:r>
          </a:p>
        </p:txBody>
      </p:sp>
      <p:sp>
        <p:nvSpPr>
          <p:cNvPr id="13" name="Texto 12"/>
          <p:cNvSpPr txBox="1"/>
          <p:nvPr/>
        </p:nvSpPr>
        <p:spPr>
          <a:xfrm>
            <a:off x="9545674" y="3943275"/>
            <a:ext cx="5753395" cy="1859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Estilo de Combate:</a:t>
            </a:r>
          </a:p>
          <a:p>
            <a:pPr algn="l">
              <a:lnSpc>
                <a:spcPts val="2651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Escribe encantamientos (código) para crear defensas automatizadas.</a:t>
            </a:r>
          </a:p>
          <a:p>
            <a:pPr algn="l">
              <a:lnSpc>
                <a:spcPts val="2651"/>
              </a:lnSpc>
              <a:spcBef>
                <a:spcPts val="837"/>
              </a:spcBef>
            </a:pPr>
            <a:r>
              <a:rPr sz="2000" b="1" i="0">
                <a:solidFill>
                  <a:srgbClr val="2B2016"/>
                </a:solidFill>
                <a:latin typeface="Georgia"/>
              </a:rPr>
              <a:t>Táctica: </a:t>
            </a:r>
            <a:r>
              <a:rPr sz="2000" b="0" i="0">
                <a:solidFill>
                  <a:srgbClr val="2B2016"/>
                </a:solidFill>
                <a:latin typeface="Georgia"/>
              </a:rPr>
              <a:t>Implementa CI/CD, infraestructura como código y observabilidad.</a:t>
            </a:r>
          </a:p>
        </p:txBody>
      </p:sp>
      <p:sp>
        <p:nvSpPr>
          <p:cNvPr id="14" name="Texto 13"/>
          <p:cNvSpPr txBox="1"/>
          <p:nvPr/>
        </p:nvSpPr>
        <p:spPr>
          <a:xfrm>
            <a:off x="10927906" y="6343054"/>
            <a:ext cx="2599069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400" b="0" i="0">
                <a:solidFill>
                  <a:srgbClr val="2B2016"/>
                </a:solidFill>
                <a:latin typeface="Georgia"/>
              </a:rPr>
              <a:t>Ventaja Principal</a:t>
            </a:r>
          </a:p>
        </p:txBody>
      </p:sp>
      <p:sp>
        <p:nvSpPr>
          <p:cNvPr id="15" name="Texto 14"/>
          <p:cNvSpPr txBox="1"/>
          <p:nvPr/>
        </p:nvSpPr>
        <p:spPr>
          <a:xfrm>
            <a:off x="9711069" y="6859612"/>
            <a:ext cx="4961860" cy="1416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Crecimiento Exponencial.</a:t>
            </a:r>
          </a:p>
          <a:p>
            <a:pPr algn="l">
              <a:lnSpc>
                <a:spcPts val="2651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El mismo código gestiona eficientemente 10 o 10,000 servidores sin esfuerzo adicional.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4" descr="Ilustración de fondo de la diapositiva 4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200" b="0" i="0">
                <a:solidFill>
                  <a:srgbClr val="2B2016"/>
                </a:solidFill>
                <a:latin typeface="Georgia"/>
              </a:rPr>
              <a:t>El Bestiario: El Toil (Trabajo Rutinario)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9155813" y="1809154"/>
            <a:ext cx="265813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sz="2850" b="1" i="0">
                <a:solidFill>
                  <a:srgbClr val="7A2418"/>
                </a:solidFill>
                <a:latin typeface="Georgia"/>
              </a:rPr>
              <a:t>Toil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9155813" y="2257821"/>
            <a:ext cx="5966046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2350" b="0" i="1">
                <a:solidFill>
                  <a:srgbClr val="2B2016"/>
                </a:solidFill>
                <a:latin typeface="Georgia"/>
              </a:rPr>
              <a:t>Enemigo de enjambre (Infraestructura)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9155813" y="2833414"/>
            <a:ext cx="5966046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1" i="0">
                <a:solidFill>
                  <a:srgbClr val="2B2016"/>
                </a:solidFill>
                <a:latin typeface="Georgia"/>
              </a:rPr>
              <a:t>Definición: </a:t>
            </a:r>
            <a:r>
              <a:rPr sz="2050" b="0" i="0">
                <a:solidFill>
                  <a:srgbClr val="2B2016"/>
                </a:solidFill>
                <a:latin typeface="Georgia"/>
              </a:rPr>
              <a:t>Trabajo operativo que carece de valor duradero.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9592930" y="3718941"/>
            <a:ext cx="5528930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1" i="0">
                <a:solidFill>
                  <a:srgbClr val="2B2016"/>
                </a:solidFill>
                <a:latin typeface="Georgia"/>
              </a:rPr>
              <a:t>Manual</a:t>
            </a:r>
            <a:r>
              <a:rPr sz="2050" b="0" i="0">
                <a:solidFill>
                  <a:srgbClr val="2B2016"/>
                </a:solidFill>
                <a:latin typeface="Georgia"/>
              </a:rPr>
              <a:t>: Requiere intervención humana paso a paso.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9592930" y="4356521"/>
            <a:ext cx="5528930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1" i="0">
                <a:solidFill>
                  <a:srgbClr val="2B2016"/>
                </a:solidFill>
                <a:latin typeface="Georgia"/>
              </a:rPr>
              <a:t>Repetitivo</a:t>
            </a:r>
            <a:r>
              <a:rPr sz="2050" b="0" i="0">
                <a:solidFill>
                  <a:srgbClr val="2B2016"/>
                </a:solidFill>
                <a:latin typeface="Georgia"/>
              </a:rPr>
              <a:t>: Tareas recurrentes (ej. limpiar logs, reiniciar servicios).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9592930" y="5029522"/>
            <a:ext cx="5528930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1" i="0">
                <a:solidFill>
                  <a:srgbClr val="2B2016"/>
                </a:solidFill>
                <a:latin typeface="Georgia"/>
              </a:rPr>
              <a:t>Automatizable</a:t>
            </a:r>
            <a:r>
              <a:rPr sz="2050" b="0" i="0">
                <a:solidFill>
                  <a:srgbClr val="2B2016"/>
                </a:solidFill>
                <a:latin typeface="Georgia"/>
              </a:rPr>
              <a:t>: Una máquina podría hacerlo con el script correcto.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9592930" y="5667102"/>
            <a:ext cx="5528930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1" i="0">
                <a:solidFill>
                  <a:srgbClr val="2B2016"/>
                </a:solidFill>
                <a:latin typeface="Georgia"/>
              </a:rPr>
              <a:t>Reactivo</a:t>
            </a:r>
            <a:r>
              <a:rPr sz="2050" b="0" i="0">
                <a:solidFill>
                  <a:srgbClr val="2B2016"/>
                </a:solidFill>
                <a:latin typeface="Georgia"/>
              </a:rPr>
              <a:t>: Resuelve el momento, no deja mejoras arquitectónicas.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9356651" y="6555581"/>
            <a:ext cx="5670697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sz="2350" b="1" i="0">
                <a:solidFill>
                  <a:srgbClr val="2B2016"/>
                </a:solidFill>
                <a:latin typeface="Georgia"/>
              </a:rPr>
              <a:t>Habilidad Especial del Monstruo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9356651" y="6936358"/>
            <a:ext cx="5670697" cy="1275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Escala Linealmente</a:t>
            </a:r>
            <a:r>
              <a:rPr sz="2000" b="0" i="0">
                <a:solidFill>
                  <a:srgbClr val="2B2016"/>
                </a:solidFill>
                <a:latin typeface="Georgia"/>
              </a:rPr>
              <a:t>: Si el servicio crece al doble, la cantidad de toil se duplica instantáneamente, devorando los recursos del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5" descr="Ilustración de fondo de la diapositiva 5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050" b="0" i="0">
                <a:solidFill>
                  <a:srgbClr val="2B2016"/>
                </a:solidFill>
                <a:latin typeface="Georgia"/>
              </a:rPr>
              <a:t>La Economía de Acción: La Regla del 50%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181395" y="1879996"/>
            <a:ext cx="6438604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sz="2350" b="1" i="0">
                <a:solidFill>
                  <a:srgbClr val="2B2016"/>
                </a:solidFill>
                <a:latin typeface="Georgia"/>
              </a:rPr>
              <a:t>Combate Reactivo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1181395" y="2251918"/>
            <a:ext cx="6438604" cy="956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950" b="0" i="0">
                <a:solidFill>
                  <a:srgbClr val="2B2016"/>
                </a:solidFill>
                <a:latin typeface="Georgia"/>
              </a:rPr>
              <a:t>Apagar incendios, tareas manuales, despliegues sin automatizar y guardias (on-call). Google establece que esto nunca debe superar la mitad del tiempo.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0514418" y="1891803"/>
            <a:ext cx="4725581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sz="2300" b="1" i="0">
                <a:solidFill>
                  <a:srgbClr val="2B2016"/>
                </a:solidFill>
                <a:latin typeface="Georgia"/>
              </a:rPr>
              <a:t>Creación de Artefactos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10514418" y="2251918"/>
            <a:ext cx="4725581" cy="125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950" b="0" i="0">
                <a:solidFill>
                  <a:srgbClr val="2B2016"/>
                </a:solidFill>
                <a:latin typeface="Georgia"/>
              </a:rPr>
              <a:t>Automatizar procesos, mejorar la observabilidad, reducir el MTTR y construir arquitectura resiliente a largo plazo.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6615813" y="3615630"/>
            <a:ext cx="3024372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250" b="0" i="0">
                <a:solidFill>
                  <a:srgbClr val="F7F0DC"/>
                </a:solidFill>
                <a:latin typeface="Georgia"/>
              </a:rPr>
              <a:t>Stamina/Action Points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3071627" y="4471640"/>
            <a:ext cx="2953488" cy="897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55"/>
              </a:lnSpc>
            </a:pPr>
            <a:r>
              <a:rPr sz="2700" b="0" i="0">
                <a:solidFill>
                  <a:srgbClr val="F7EEE4"/>
                </a:solidFill>
                <a:latin typeface="Georgia"/>
              </a:rPr>
              <a:t>Toil</a:t>
            </a:r>
          </a:p>
          <a:p>
            <a:pPr algn="ctr">
              <a:lnSpc>
                <a:spcPts val="3255"/>
              </a:lnSpc>
            </a:pPr>
            <a:r>
              <a:rPr sz="2700" b="0" i="0">
                <a:solidFill>
                  <a:srgbClr val="F7EEE4"/>
                </a:solidFill>
                <a:latin typeface="Georgia"/>
              </a:rPr>
              <a:t>(Máx 50%)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0278139" y="4471640"/>
            <a:ext cx="3071627" cy="8973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55"/>
              </a:lnSpc>
            </a:pPr>
            <a:r>
              <a:rPr sz="2700" b="0" i="0">
                <a:solidFill>
                  <a:srgbClr val="F0EAF7"/>
                </a:solidFill>
                <a:latin typeface="Georgia"/>
              </a:rPr>
              <a:t>Ingeniería</a:t>
            </a:r>
          </a:p>
          <a:p>
            <a:pPr algn="ctr">
              <a:lnSpc>
                <a:spcPts val="3255"/>
              </a:lnSpc>
            </a:pPr>
            <a:r>
              <a:rPr sz="2700" b="0" i="0">
                <a:solidFill>
                  <a:srgbClr val="F0EAF7"/>
                </a:solidFill>
                <a:latin typeface="Georgia"/>
              </a:rPr>
              <a:t>(Mín 50%)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7820837" y="4725491"/>
            <a:ext cx="637953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sz="1950" b="1" i="0">
                <a:solidFill>
                  <a:srgbClr val="F7F0DC"/>
                </a:solidFill>
                <a:latin typeface="Georgia"/>
              </a:rPr>
              <a:t>50%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4961860" y="7204967"/>
            <a:ext cx="6379534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500" b="1" i="0">
                <a:solidFill>
                  <a:srgbClr val="2B2016"/>
                </a:solidFill>
                <a:latin typeface="Georgia"/>
              </a:rPr>
              <a:t>Condición: Agotamiento</a:t>
            </a:r>
            <a:r>
              <a:rPr sz="2500" b="0" i="0">
                <a:solidFill>
                  <a:srgbClr val="2B2016"/>
                </a:solidFill>
                <a:latin typeface="Georgia"/>
              </a:rPr>
              <a:t> (Exhaustion)</a:t>
            </a:r>
          </a:p>
        </p:txBody>
      </p:sp>
      <p:sp>
        <p:nvSpPr>
          <p:cNvPr id="13" name="Texto 11"/>
          <p:cNvSpPr txBox="1"/>
          <p:nvPr/>
        </p:nvSpPr>
        <p:spPr>
          <a:xfrm>
            <a:off x="3957674" y="7621165"/>
            <a:ext cx="8506046" cy="720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1950" b="0" i="0">
                <a:solidFill>
                  <a:srgbClr val="2B2016"/>
                </a:solidFill>
                <a:latin typeface="Georgia"/>
              </a:rPr>
              <a:t>Si el Toil supera el límite, el ingeniero queda atrapado en la rutina, paralizando el desarrollo de producto y poniendo en riesgo el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6" descr="Ilustración de fondo de la diapositiva 6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600" b="0" i="0">
                <a:solidFill>
                  <a:srgbClr val="2B2016"/>
                </a:solidFill>
                <a:latin typeface="Georgia"/>
              </a:rPr>
              <a:t>La Tríada de la Confiabilidad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535813" y="2068909"/>
            <a:ext cx="4075813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790"/>
              </a:lnSpc>
            </a:pPr>
            <a:r>
              <a:rPr sz="2550" b="1" i="0">
                <a:solidFill>
                  <a:srgbClr val="2B2016"/>
                </a:solidFill>
                <a:latin typeface="Georgia"/>
              </a:rPr>
              <a:t>SLI</a:t>
            </a:r>
            <a:r>
              <a:rPr sz="2550" b="0" i="0">
                <a:solidFill>
                  <a:srgbClr val="2B2016"/>
                </a:solidFill>
                <a:latin typeface="Georgia"/>
              </a:rPr>
              <a:t> (El Sentido)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1535813" y="2446734"/>
            <a:ext cx="4111255" cy="684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18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El indicador crudo y real del sistema en este instante.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472558" y="6366668"/>
            <a:ext cx="3721395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790"/>
              </a:lnSpc>
            </a:pPr>
            <a:r>
              <a:rPr sz="2600" b="1" i="0">
                <a:solidFill>
                  <a:srgbClr val="2B2016"/>
                </a:solidFill>
                <a:latin typeface="Georgia"/>
              </a:rPr>
              <a:t>SLO</a:t>
            </a:r>
            <a:r>
              <a:rPr sz="2600" b="0" i="0">
                <a:solidFill>
                  <a:srgbClr val="2B2016"/>
                </a:solidFill>
                <a:latin typeface="Georgia"/>
              </a:rPr>
              <a:t> (El Juramento)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472558" y="6759252"/>
            <a:ext cx="3756837" cy="720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558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La meta interna que hemos acordado alcanzar.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12227441" y="6089203"/>
            <a:ext cx="3012558" cy="755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97"/>
              </a:lnSpc>
            </a:pPr>
            <a:r>
              <a:rPr sz="2250" b="1" i="0">
                <a:solidFill>
                  <a:srgbClr val="2B2016"/>
                </a:solidFill>
                <a:latin typeface="Georgia"/>
              </a:rPr>
              <a:t>Presupuesto de Error</a:t>
            </a:r>
            <a:r>
              <a:rPr sz="2250" b="0" i="0">
                <a:solidFill>
                  <a:srgbClr val="2B2016"/>
                </a:solidFill>
                <a:latin typeface="Georgia"/>
              </a:rPr>
              <a:t> (La Vida)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2227441" y="6915695"/>
            <a:ext cx="3012558" cy="1027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11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El margen de falla aceptable antes del Game Over.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6320465" y="4914403"/>
            <a:ext cx="3603255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2600" b="1" i="0">
                <a:solidFill>
                  <a:srgbClr val="2B2016"/>
                </a:solidFill>
                <a:latin typeface="Georgia"/>
              </a:rPr>
              <a:t>CONFIABILIDAD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7" descr="Ilustración de fondo de la diapositiva 7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500" b="0" i="0">
                <a:solidFill>
                  <a:srgbClr val="2B2016"/>
                </a:solidFill>
                <a:latin typeface="Georgia"/>
              </a:rPr>
              <a:t>SLI: Tus Tiradas de Percepción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181395" y="1608435"/>
            <a:ext cx="13940465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550" b="1" i="0">
                <a:solidFill>
                  <a:srgbClr val="2B2016"/>
                </a:solidFill>
                <a:latin typeface="Georgia"/>
              </a:rPr>
              <a:t>Indicador de Nivel de Servicio:</a:t>
            </a:r>
            <a:r>
              <a:rPr sz="2550" b="0" i="0">
                <a:solidFill>
                  <a:srgbClr val="2B2016"/>
                </a:solidFill>
                <a:latin typeface="Georgia"/>
              </a:rPr>
              <a:t> ¿Qué métricas observamos en la infraestructura real?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354418" y="2913112"/>
            <a:ext cx="4040372" cy="48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3255"/>
              </a:lnSpc>
            </a:pPr>
            <a:r>
              <a:rPr sz="2500" b="1" i="0">
                <a:solidFill>
                  <a:srgbClr val="2B2016"/>
                </a:solidFill>
                <a:latin typeface="Georgia"/>
              </a:rPr>
              <a:t>Vitalidad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354418" y="3367682"/>
            <a:ext cx="4040372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604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(Disponibilidad / Uptime)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708837" y="3742556"/>
            <a:ext cx="3685953" cy="696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65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Proporción de solicitudes respondidas exitosamente.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12215627" y="2913112"/>
            <a:ext cx="3615069" cy="48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sz="2500" b="1" i="0">
                <a:solidFill>
                  <a:srgbClr val="2B2016"/>
                </a:solidFill>
                <a:latin typeface="Georgia"/>
              </a:rPr>
              <a:t>Tiempo de Reacción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2215627" y="3367682"/>
            <a:ext cx="3615069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(Latencia)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2215627" y="3742556"/>
            <a:ext cx="3142511" cy="100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Milisegundos que tarda el servicio en procesar y responder.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354418" y="6065589"/>
            <a:ext cx="4040372" cy="48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3255"/>
              </a:lnSpc>
            </a:pPr>
            <a:r>
              <a:rPr sz="2400" b="1" i="0">
                <a:solidFill>
                  <a:srgbClr val="2B2016"/>
                </a:solidFill>
                <a:latin typeface="Georgia"/>
              </a:rPr>
              <a:t>Fuerza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354418" y="6520160"/>
            <a:ext cx="4040372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604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(Rendimiento / Throughput)</a:t>
            </a:r>
          </a:p>
        </p:txBody>
      </p:sp>
      <p:sp>
        <p:nvSpPr>
          <p:cNvPr id="13" name="Texto 11"/>
          <p:cNvSpPr txBox="1"/>
          <p:nvPr/>
        </p:nvSpPr>
        <p:spPr>
          <a:xfrm>
            <a:off x="708837" y="6906840"/>
            <a:ext cx="3685953" cy="100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65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Volumen de datos o peticiones procesadas en un intervalo.</a:t>
            </a:r>
          </a:p>
        </p:txBody>
      </p:sp>
      <p:sp>
        <p:nvSpPr>
          <p:cNvPr id="14" name="Texto 12"/>
          <p:cNvSpPr txBox="1"/>
          <p:nvPr/>
        </p:nvSpPr>
        <p:spPr>
          <a:xfrm>
            <a:off x="12215627" y="6065589"/>
            <a:ext cx="3615069" cy="48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sz="2500" b="1" i="0">
                <a:solidFill>
                  <a:srgbClr val="2B2016"/>
                </a:solidFill>
                <a:latin typeface="Georgia"/>
              </a:rPr>
              <a:t>Precisión</a:t>
            </a:r>
          </a:p>
        </p:txBody>
      </p:sp>
      <p:sp>
        <p:nvSpPr>
          <p:cNvPr id="15" name="Texto 13"/>
          <p:cNvSpPr txBox="1"/>
          <p:nvPr/>
        </p:nvSpPr>
        <p:spPr>
          <a:xfrm>
            <a:off x="12215627" y="6520160"/>
            <a:ext cx="3615069" cy="401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(Correctitud)</a:t>
            </a:r>
          </a:p>
        </p:txBody>
      </p:sp>
      <p:sp>
        <p:nvSpPr>
          <p:cNvPr id="16" name="Texto 14"/>
          <p:cNvSpPr txBox="1"/>
          <p:nvPr/>
        </p:nvSpPr>
        <p:spPr>
          <a:xfrm>
            <a:off x="12215627" y="6906840"/>
            <a:ext cx="3142511" cy="100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Protección contra corrupción y exactitud de la información.</a:t>
            </a:r>
          </a:p>
        </p:txBody>
      </p:sp>
      <p:sp>
        <p:nvSpPr>
          <p:cNvPr id="17" name="Texto 15"/>
          <p:cNvSpPr txBox="1"/>
          <p:nvPr/>
        </p:nvSpPr>
        <p:spPr>
          <a:xfrm>
            <a:off x="5765209" y="4394894"/>
            <a:ext cx="945116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1950" b="0" i="0">
                <a:solidFill>
                  <a:srgbClr val="EFE6D2"/>
                </a:solidFill>
                <a:latin typeface="Georgia"/>
              </a:rPr>
              <a:t>99.95%</a:t>
            </a:r>
          </a:p>
        </p:txBody>
      </p:sp>
      <p:sp>
        <p:nvSpPr>
          <p:cNvPr id="18" name="Texto 16"/>
          <p:cNvSpPr txBox="1"/>
          <p:nvPr/>
        </p:nvSpPr>
        <p:spPr>
          <a:xfrm>
            <a:off x="9687441" y="4394894"/>
            <a:ext cx="1004186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1900" b="0" i="0">
                <a:solidFill>
                  <a:srgbClr val="EFE6D2"/>
                </a:solidFill>
                <a:latin typeface="Georgia"/>
              </a:rPr>
              <a:t>120ms</a:t>
            </a:r>
          </a:p>
        </p:txBody>
      </p:sp>
      <p:sp>
        <p:nvSpPr>
          <p:cNvPr id="19" name="Texto 17"/>
          <p:cNvSpPr txBox="1"/>
          <p:nvPr/>
        </p:nvSpPr>
        <p:spPr>
          <a:xfrm>
            <a:off x="5765209" y="7547371"/>
            <a:ext cx="968744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2000" b="0" i="0">
                <a:solidFill>
                  <a:srgbClr val="EFE6D2"/>
                </a:solidFill>
                <a:latin typeface="Georgia"/>
              </a:rPr>
              <a:t>5000</a:t>
            </a:r>
          </a:p>
        </p:txBody>
      </p:sp>
      <p:sp>
        <p:nvSpPr>
          <p:cNvPr id="20" name="Texto 18"/>
          <p:cNvSpPr txBox="1"/>
          <p:nvPr/>
        </p:nvSpPr>
        <p:spPr>
          <a:xfrm>
            <a:off x="5765209" y="7842547"/>
            <a:ext cx="968744" cy="30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500" b="0" i="0">
                <a:solidFill>
                  <a:srgbClr val="EFE6D2"/>
                </a:solidFill>
                <a:latin typeface="Georgia"/>
              </a:rPr>
              <a:t>req/sec</a:t>
            </a:r>
          </a:p>
        </p:txBody>
      </p:sp>
      <p:sp>
        <p:nvSpPr>
          <p:cNvPr id="21" name="Texto 19"/>
          <p:cNvSpPr txBox="1"/>
          <p:nvPr/>
        </p:nvSpPr>
        <p:spPr>
          <a:xfrm>
            <a:off x="9687441" y="7547371"/>
            <a:ext cx="1004186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2000" b="0" i="0">
                <a:solidFill>
                  <a:srgbClr val="EFE6D2"/>
                </a:solidFill>
                <a:latin typeface="Georgia"/>
              </a:rPr>
              <a:t>0.001%</a:t>
            </a:r>
          </a:p>
        </p:txBody>
      </p:sp>
      <p:sp>
        <p:nvSpPr>
          <p:cNvPr id="22" name="Texto 20"/>
          <p:cNvSpPr txBox="1"/>
          <p:nvPr/>
        </p:nvSpPr>
        <p:spPr>
          <a:xfrm>
            <a:off x="9687441" y="7830740"/>
            <a:ext cx="1004186" cy="30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500" b="0" i="0">
                <a:solidFill>
                  <a:srgbClr val="EFE6D2"/>
                </a:solidFill>
                <a:latin typeface="Georgia"/>
              </a:rPr>
              <a:t>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8" descr="Ilustración de fondo de la diapositiva 8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600" b="0" i="0">
                <a:solidFill>
                  <a:srgbClr val="2B2016"/>
                </a:solidFill>
                <a:latin typeface="Georgia"/>
              </a:rPr>
              <a:t>SLO: El Juramento de la Misión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181395" y="1620242"/>
            <a:ext cx="13940465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550" b="1" i="0">
                <a:solidFill>
                  <a:srgbClr val="2B2016"/>
                </a:solidFill>
                <a:latin typeface="Georgia"/>
              </a:rPr>
              <a:t>Objetivo de Nivel de Servicio:</a:t>
            </a:r>
            <a:r>
              <a:rPr sz="2550" b="0" i="0">
                <a:solidFill>
                  <a:srgbClr val="2B2016"/>
                </a:solidFill>
                <a:latin typeface="Georgia"/>
              </a:rPr>
              <a:t> El punto de equilibrio entre velocidad y estabilidad.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1772093" y="3485753"/>
            <a:ext cx="4701953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450" b="0" i="1">
                <a:solidFill>
                  <a:srgbClr val="2B2016"/>
                </a:solidFill>
                <a:latin typeface="Georgia"/>
              </a:rPr>
              <a:t>Acuerdo de Nivel de Servicio.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772093" y="4188271"/>
            <a:ext cx="4701953" cy="2019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sz="2250" b="0" i="1">
                <a:solidFill>
                  <a:srgbClr val="2B2016"/>
                </a:solidFill>
                <a:latin typeface="Georgia"/>
              </a:rPr>
              <a:t>Establecemos una meta numérica acordada internamente que dicta cuándo aceleramos la entrega de producto y cuándo nos detenemos a estabilizar.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2244651" y="7039669"/>
            <a:ext cx="685209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2050" b="1" i="0">
                <a:solidFill>
                  <a:srgbClr val="F0E2C4"/>
                </a:solidFill>
                <a:latin typeface="Georgia"/>
              </a:rPr>
              <a:t>Dev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4938232" y="7405687"/>
            <a:ext cx="708837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2050" b="1" i="0">
                <a:solidFill>
                  <a:srgbClr val="F6E4D8"/>
                </a:solidFill>
                <a:latin typeface="Georgia"/>
              </a:rPr>
              <a:t>Ops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9805581" y="2364085"/>
            <a:ext cx="4253023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2500" b="1" i="0">
                <a:solidFill>
                  <a:srgbClr val="F2E3C6"/>
                </a:solidFill>
                <a:latin typeface="Georgia"/>
              </a:rPr>
              <a:t>La Falacia del 100%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3586046" y="3155156"/>
            <a:ext cx="1653953" cy="637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sz="1900" b="0" i="0">
                <a:solidFill>
                  <a:srgbClr val="2B2016"/>
                </a:solidFill>
                <a:latin typeface="Georgia"/>
              </a:rPr>
              <a:t>Rendimiento</a:t>
            </a:r>
          </a:p>
          <a:p>
            <a:pPr algn="ctr">
              <a:lnSpc>
                <a:spcPts val="2232"/>
              </a:lnSpc>
            </a:pPr>
            <a:r>
              <a:rPr sz="1900" b="0" i="0">
                <a:solidFill>
                  <a:srgbClr val="2B2016"/>
                </a:solidFill>
                <a:latin typeface="Georgia"/>
              </a:rPr>
              <a:t>Decreciente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11282325" y="6307633"/>
            <a:ext cx="1264093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sz="2100" b="0" i="0">
                <a:solidFill>
                  <a:srgbClr val="EDE4D0"/>
                </a:solidFill>
                <a:latin typeface="Georgia"/>
              </a:rPr>
              <a:t>99.9%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12735441" y="6224984"/>
            <a:ext cx="708837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sz="2000" b="0" i="0">
                <a:solidFill>
                  <a:srgbClr val="7A1D1D"/>
                </a:solidFill>
                <a:latin typeface="Georgia"/>
              </a:rPr>
              <a:t>100%</a:t>
            </a:r>
          </a:p>
        </p:txBody>
      </p:sp>
      <p:sp>
        <p:nvSpPr>
          <p:cNvPr id="13" name="Texto 11"/>
          <p:cNvSpPr txBox="1"/>
          <p:nvPr/>
        </p:nvSpPr>
        <p:spPr>
          <a:xfrm>
            <a:off x="8919534" y="6921599"/>
            <a:ext cx="6379534" cy="1133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250" b="0" i="0">
                <a:solidFill>
                  <a:srgbClr val="2B2016"/>
                </a:solidFill>
                <a:latin typeface="Georgia"/>
              </a:rPr>
              <a:t>Apuntar al 100% de disponibilidad es un error costoso. Paraliza la innovación de producto y no aporta valor real al usuario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9" descr="Ilustración de fondo de la diapositiva 9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000" b="0" i="0">
                <a:solidFill>
                  <a:srgbClr val="2B2016"/>
                </a:solidFill>
                <a:latin typeface="Georgia"/>
              </a:rPr>
              <a:t>Presupuesto de Error: Tus Puntos de Golpe (HP)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535813" y="1785540"/>
            <a:ext cx="3307906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3050" b="0" i="0">
                <a:solidFill>
                  <a:srgbClr val="F3E4C4"/>
                </a:solidFill>
                <a:latin typeface="Georgia"/>
              </a:rPr>
              <a:t>100% (Perfección)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5906976" y="1785540"/>
            <a:ext cx="3248837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3250" b="0" i="0">
                <a:solidFill>
                  <a:srgbClr val="F3E4C4"/>
                </a:solidFill>
                <a:latin typeface="Georgia"/>
              </a:rPr>
              <a:t>99.9% (Tu SLO)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9900093" y="1785540"/>
            <a:ext cx="4749209" cy="543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20"/>
              </a:lnSpc>
            </a:pPr>
            <a:r>
              <a:rPr sz="2850" b="0" i="0">
                <a:solidFill>
                  <a:srgbClr val="F3E4C4"/>
                </a:solidFill>
                <a:latin typeface="Georgia"/>
              </a:rPr>
              <a:t>0.1% (Presupuesto de Error)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5198139" y="1726505"/>
            <a:ext cx="649767" cy="661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1"/>
              </a:lnSpc>
            </a:pPr>
            <a:r>
              <a:rPr sz="2900" b="1" i="0">
                <a:solidFill>
                  <a:srgbClr val="2B2016"/>
                </a:solidFill>
                <a:latin typeface="Georgia"/>
              </a:rPr>
              <a:t>[−]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9238511" y="1726505"/>
            <a:ext cx="472558" cy="661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1"/>
              </a:lnSpc>
            </a:pPr>
            <a:r>
              <a:rPr sz="4250" b="1" i="0">
                <a:solidFill>
                  <a:srgbClr val="2B2016"/>
                </a:solidFill>
                <a:latin typeface="Georgia"/>
              </a:rPr>
              <a:t>=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5552558" y="2859980"/>
            <a:ext cx="5434418" cy="42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2200" b="1" i="0">
                <a:solidFill>
                  <a:srgbClr val="F3E4C4"/>
                </a:solidFill>
                <a:latin typeface="Georgia"/>
              </a:rPr>
              <a:t>Vida Tolerable</a:t>
            </a:r>
            <a:r>
              <a:rPr sz="2200" b="0" i="0">
                <a:solidFill>
                  <a:srgbClr val="F3E4C4"/>
                </a:solidFill>
                <a:latin typeface="Georgia"/>
              </a:rPr>
              <a:t> (El 0.1% permitido)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5906976" y="4654649"/>
            <a:ext cx="4489302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300" b="1" i="0">
                <a:solidFill>
                  <a:srgbClr val="2B2016"/>
                </a:solidFill>
                <a:latin typeface="Georgia"/>
              </a:rPr>
              <a:t>Matriz de Daño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2658139" y="5451623"/>
            <a:ext cx="2445488" cy="460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9"/>
              </a:lnSpc>
            </a:pPr>
            <a:r>
              <a:rPr sz="2350" b="1" i="0">
                <a:solidFill>
                  <a:srgbClr val="2B2016"/>
                </a:solidFill>
                <a:latin typeface="Georgia"/>
              </a:rPr>
              <a:t>Ataque Menor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2658139" y="5891435"/>
            <a:ext cx="2445488" cy="13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Un bug introducido en un nuevo lanzamiento. Resta HP lentamente.</a:t>
            </a:r>
          </a:p>
        </p:txBody>
      </p:sp>
      <p:sp>
        <p:nvSpPr>
          <p:cNvPr id="13" name="Texto 11"/>
          <p:cNvSpPr txBox="1"/>
          <p:nvPr/>
        </p:nvSpPr>
        <p:spPr>
          <a:xfrm>
            <a:off x="7820837" y="5451623"/>
            <a:ext cx="2457302" cy="460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9"/>
              </a:lnSpc>
            </a:pPr>
            <a:r>
              <a:rPr sz="2450" b="1" i="0">
                <a:solidFill>
                  <a:srgbClr val="2B2016"/>
                </a:solidFill>
                <a:latin typeface="Georgia"/>
              </a:rPr>
              <a:t>Daño Crítico</a:t>
            </a:r>
          </a:p>
        </p:txBody>
      </p:sp>
      <p:sp>
        <p:nvSpPr>
          <p:cNvPr id="14" name="Texto 12"/>
          <p:cNvSpPr txBox="1"/>
          <p:nvPr/>
        </p:nvSpPr>
        <p:spPr>
          <a:xfrm>
            <a:off x="7820837" y="5891435"/>
            <a:ext cx="2457302" cy="13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Caída total de la base de datos. Resta cantidades masivas de HP.</a:t>
            </a:r>
          </a:p>
        </p:txBody>
      </p:sp>
      <p:sp>
        <p:nvSpPr>
          <p:cNvPr id="15" name="Texto 13"/>
          <p:cNvSpPr txBox="1"/>
          <p:nvPr/>
        </p:nvSpPr>
        <p:spPr>
          <a:xfrm>
            <a:off x="12723627" y="5451623"/>
            <a:ext cx="2516372" cy="460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9"/>
              </a:lnSpc>
            </a:pPr>
            <a:r>
              <a:rPr sz="2250" b="1" i="0">
                <a:solidFill>
                  <a:srgbClr val="2B2016"/>
                </a:solidFill>
                <a:latin typeface="Georgia"/>
              </a:rPr>
              <a:t>Recuperación</a:t>
            </a:r>
          </a:p>
        </p:txBody>
      </p:sp>
      <p:sp>
        <p:nvSpPr>
          <p:cNvPr id="16" name="Texto 14"/>
          <p:cNvSpPr txBox="1"/>
          <p:nvPr/>
        </p:nvSpPr>
        <p:spPr>
          <a:xfrm>
            <a:off x="12723627" y="5891435"/>
            <a:ext cx="2516372" cy="13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2000" b="0" i="0">
                <a:solidFill>
                  <a:srgbClr val="2B2016"/>
                </a:solidFill>
                <a:latin typeface="Georgia"/>
              </a:rPr>
              <a:t>El inicio de un nuevo mes o trimestre. La barra de vida se reinicia.</a:t>
            </a:r>
          </a:p>
        </p:txBody>
      </p:sp>
      <p:sp>
        <p:nvSpPr>
          <p:cNvPr id="17" name="Texto 15"/>
          <p:cNvSpPr txBox="1"/>
          <p:nvPr/>
        </p:nvSpPr>
        <p:spPr>
          <a:xfrm>
            <a:off x="4016744" y="8019653"/>
            <a:ext cx="7797209" cy="732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sz="2100" b="1" i="0">
                <a:solidFill>
                  <a:srgbClr val="2B2016"/>
                </a:solidFill>
                <a:latin typeface="Georgia"/>
              </a:rPr>
              <a:t>Regla de Oro:</a:t>
            </a:r>
            <a:r>
              <a:rPr sz="2100" b="0" i="0">
                <a:solidFill>
                  <a:srgbClr val="2B2016"/>
                </a:solidFill>
                <a:latin typeface="Georgia"/>
              </a:rPr>
              <a:t> Si tienes Presupuesto de Error, el sistema está sano. Si llega a cero, el servicio está herido de gravedad.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0" descr="Ilustración de fondo de la diapositiva 10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150" b="0" i="0">
                <a:solidFill>
                  <a:srgbClr val="2B2016"/>
                </a:solidFill>
                <a:latin typeface="Georgia"/>
              </a:rPr>
              <a:t>Reglas de Combate: Gestionando el Presupuesto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6911162" y="1915417"/>
            <a:ext cx="2445488" cy="1771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48"/>
              </a:lnSpc>
            </a:pPr>
            <a:r>
              <a:rPr sz="2500" b="0" i="0">
                <a:solidFill>
                  <a:srgbClr val="F5E9CF"/>
                </a:solidFill>
                <a:latin typeface="Georgia"/>
              </a:rPr>
              <a:t>¿Tenemos</a:t>
            </a:r>
          </a:p>
          <a:p>
            <a:pPr algn="ctr">
              <a:lnSpc>
                <a:spcPts val="3348"/>
              </a:lnSpc>
            </a:pPr>
            <a:r>
              <a:rPr sz="2500" b="0" i="0">
                <a:solidFill>
                  <a:srgbClr val="F5E9CF"/>
                </a:solidFill>
                <a:latin typeface="Georgia"/>
              </a:rPr>
              <a:t>Presupuesto de</a:t>
            </a:r>
          </a:p>
          <a:p>
            <a:pPr algn="ctr">
              <a:lnSpc>
                <a:spcPts val="3348"/>
              </a:lnSpc>
            </a:pPr>
            <a:r>
              <a:rPr sz="2500" b="0" i="0">
                <a:solidFill>
                  <a:srgbClr val="F5E9CF"/>
                </a:solidFill>
                <a:latin typeface="Georgia"/>
              </a:rPr>
              <a:t>Error disponible</a:t>
            </a:r>
          </a:p>
          <a:p>
            <a:pPr algn="ctr">
              <a:lnSpc>
                <a:spcPts val="3348"/>
              </a:lnSpc>
            </a:pPr>
            <a:r>
              <a:rPr sz="2500" b="0" i="0">
                <a:solidFill>
                  <a:srgbClr val="F5E9CF"/>
                </a:solidFill>
                <a:latin typeface="Georgia"/>
              </a:rPr>
              <a:t>(HP &gt; 0)?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5020930" y="2399506"/>
            <a:ext cx="708837" cy="495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48"/>
              </a:lnSpc>
            </a:pPr>
            <a:r>
              <a:rPr sz="2800" b="1" i="0">
                <a:solidFill>
                  <a:srgbClr val="F5E9CF"/>
                </a:solidFill>
                <a:latin typeface="Georgia"/>
              </a:rPr>
              <a:t>SÍ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0573488" y="2399506"/>
            <a:ext cx="649767" cy="495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48"/>
              </a:lnSpc>
            </a:pPr>
            <a:r>
              <a:rPr sz="2800" b="1" i="0">
                <a:solidFill>
                  <a:srgbClr val="F5E9CF"/>
                </a:solidFill>
                <a:latin typeface="Georgia"/>
              </a:rPr>
              <a:t>NO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1181395" y="5451623"/>
            <a:ext cx="5080000" cy="460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sz="2200" b="1" i="0">
                <a:solidFill>
                  <a:srgbClr val="2B2016"/>
                </a:solidFill>
                <a:latin typeface="Georgia"/>
              </a:rPr>
              <a:t>Sigue explorando la mazmorra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1630325" y="6145286"/>
            <a:ext cx="4134883" cy="1694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Autorización para lanzamientos rápidos. Los desarrolladores pueden empujar nuevas funciones a producción. El riesgo operativo es aceptable.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0041860" y="5451623"/>
            <a:ext cx="4430232" cy="460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9"/>
              </a:lnSpc>
            </a:pPr>
            <a:r>
              <a:rPr sz="2600" b="1" i="0">
                <a:solidFill>
                  <a:srgbClr val="2B2016"/>
                </a:solidFill>
                <a:latin typeface="Georgia"/>
              </a:rPr>
              <a:t>Haz un descanso largo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0254511" y="6074444"/>
            <a:ext cx="4654697" cy="1694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050" b="0" i="0">
                <a:solidFill>
                  <a:srgbClr val="2B2016"/>
                </a:solidFill>
                <a:latin typeface="Georgia"/>
              </a:rPr>
              <a:t>Congela el lanzamiento de nuevas funciones. Todo el equipo (Dev y Ops) prioriza labores de estabilidad, refactorización y pruebas de recuperación.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1" descr="Ilustración de fondo de la diapositiva 11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2600" b="0" i="0">
                <a:solidFill>
                  <a:srgbClr val="2B2016"/>
                </a:solidFill>
                <a:latin typeface="Georgia"/>
              </a:rPr>
              <a:t>Construyendo la Fortaleza (Arquitectura de Confiabilidad)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1016000" y="1903610"/>
            <a:ext cx="3307906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Murallas Expansibles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1252279" y="2491010"/>
            <a:ext cx="3048000" cy="1635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65"/>
              </a:lnSpc>
            </a:pPr>
            <a:r>
              <a:rPr sz="1650" b="1" i="0">
                <a:solidFill>
                  <a:srgbClr val="2B2016"/>
                </a:solidFill>
                <a:latin typeface="Georgia"/>
              </a:rPr>
              <a:t>Escalabilidad Horizontal:</a:t>
            </a:r>
          </a:p>
          <a:p>
            <a:pPr algn="ctr">
              <a:lnSpc>
                <a:spcPts val="2465"/>
              </a:lnSpc>
            </a:pPr>
            <a:r>
              <a:rPr sz="1650" b="0" i="0">
                <a:solidFill>
                  <a:srgbClr val="2B2016"/>
                </a:solidFill>
                <a:latin typeface="Georgia"/>
              </a:rPr>
              <a:t>Múltiples capas de muros que se clonan automáticamente ante un ataque de tráfico.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2014790" y="1903610"/>
            <a:ext cx="3307906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Torres de Vigilancia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12286511" y="2491010"/>
            <a:ext cx="2788093" cy="1635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65"/>
              </a:lnSpc>
            </a:pPr>
            <a:r>
              <a:rPr sz="1650" b="1" i="0">
                <a:solidFill>
                  <a:srgbClr val="2B2016"/>
                </a:solidFill>
                <a:latin typeface="Georgia"/>
              </a:rPr>
              <a:t>Observabilidad:</a:t>
            </a:r>
          </a:p>
          <a:p>
            <a:pPr algn="ctr">
              <a:lnSpc>
                <a:spcPts val="2465"/>
              </a:lnSpc>
            </a:pPr>
            <a:r>
              <a:rPr sz="1650" b="0" i="0">
                <a:solidFill>
                  <a:srgbClr val="2B2016"/>
                </a:solidFill>
                <a:latin typeface="Georgia"/>
              </a:rPr>
              <a:t>Detección temprana de fallos mediante monitoreo de logs y métricas para reducir el MTTR.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1016000" y="5823545"/>
            <a:ext cx="3307906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200" b="1" i="0">
                <a:solidFill>
                  <a:srgbClr val="2B2016"/>
                </a:solidFill>
                <a:latin typeface="Georgia"/>
              </a:rPr>
              <a:t>Bóvedas Espejo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252279" y="6399138"/>
            <a:ext cx="3048000" cy="1635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65"/>
              </a:lnSpc>
            </a:pPr>
            <a:r>
              <a:rPr sz="1650" b="1" i="0">
                <a:solidFill>
                  <a:srgbClr val="2B2016"/>
                </a:solidFill>
                <a:latin typeface="Georgia"/>
              </a:rPr>
              <a:t>Redundancia de Datos:</a:t>
            </a:r>
          </a:p>
          <a:p>
            <a:pPr algn="ctr">
              <a:lnSpc>
                <a:spcPts val="2465"/>
              </a:lnSpc>
            </a:pPr>
            <a:r>
              <a:rPr sz="1650" b="0" i="0">
                <a:solidFill>
                  <a:srgbClr val="2B2016"/>
                </a:solidFill>
                <a:latin typeface="Georgia"/>
              </a:rPr>
              <a:t>Alta disponibilidad replicando artefactos en distintas regiones para sobrevivir a un colapso.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1991162" y="5965229"/>
            <a:ext cx="3307906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Salidas de Emergencia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12286511" y="6529015"/>
            <a:ext cx="2788093" cy="1635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65"/>
              </a:lnSpc>
            </a:pPr>
            <a:r>
              <a:rPr sz="1650" b="1" i="0">
                <a:solidFill>
                  <a:srgbClr val="2B2016"/>
                </a:solidFill>
                <a:latin typeface="Georgia"/>
              </a:rPr>
              <a:t>Degradación Elegante:</a:t>
            </a:r>
          </a:p>
          <a:p>
            <a:pPr algn="ctr">
              <a:lnSpc>
                <a:spcPts val="2465"/>
              </a:lnSpc>
            </a:pPr>
            <a:r>
              <a:rPr sz="1650" b="0" i="0">
                <a:solidFill>
                  <a:srgbClr val="2B2016"/>
                </a:solidFill>
                <a:latin typeface="Georgia"/>
              </a:rPr>
              <a:t>Si la puerta principal cae, el castillo sigue operando funciones básicas de solo lectura.</a:t>
            </a:r>
          </a:p>
        </p:txBody>
      </p:sp>
      <p:sp>
        <p:nvSpPr>
          <p:cNvPr id="12" name="Herramientas 1"/>
          <p:cNvSpPr/>
          <p:nvPr/>
        </p:nvSpPr>
        <p:spPr>
          <a:xfrm>
            <a:off x="1181395" y="4312245"/>
            <a:ext cx="3284279" cy="637579"/>
          </a:xfrm>
          <a:prstGeom prst="roundRect">
            <a:avLst>
              <a:gd name="adj" fmla="val 12000"/>
            </a:avLst>
          </a:prstGeom>
          <a:solidFill>
            <a:srgbClr val="EFE3C6">
              <a:alpha val="93000"/>
            </a:srgbClr>
          </a:solidFill>
          <a:ln w="9525">
            <a:solidFill>
              <a:srgbClr val="6B4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697" tIns="23614" rIns="82697" bIns="23614" rtlCol="0" anchor="ctr"/>
          <a:lstStyle/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AWS: </a:t>
            </a:r>
            <a:r>
              <a:rPr sz="1000" b="0">
                <a:solidFill>
                  <a:srgbClr val="2B2016"/>
                </a:solidFill>
                <a:latin typeface="Arial"/>
              </a:rPr>
              <a:t>EC2 Auto Scaling, ELB, EKS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Azure: </a:t>
            </a:r>
            <a:r>
              <a:rPr sz="1000" b="0">
                <a:solidFill>
                  <a:srgbClr val="2B2016"/>
                </a:solidFill>
                <a:latin typeface="Arial"/>
              </a:rPr>
              <a:t>VM Scale Sets, App Gateway, AKS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GCP: </a:t>
            </a:r>
            <a:r>
              <a:rPr sz="1000" b="0">
                <a:solidFill>
                  <a:srgbClr val="2B2016"/>
                </a:solidFill>
                <a:latin typeface="Arial"/>
              </a:rPr>
              <a:t>Instance Groups, Cloud LB, GKE</a:t>
            </a:r>
          </a:p>
        </p:txBody>
      </p:sp>
      <p:sp>
        <p:nvSpPr>
          <p:cNvPr id="13" name="Herramientas 2"/>
          <p:cNvSpPr/>
          <p:nvPr/>
        </p:nvSpPr>
        <p:spPr>
          <a:xfrm>
            <a:off x="12026604" y="4312245"/>
            <a:ext cx="3284279" cy="637579"/>
          </a:xfrm>
          <a:prstGeom prst="roundRect">
            <a:avLst>
              <a:gd name="adj" fmla="val 12000"/>
            </a:avLst>
          </a:prstGeom>
          <a:solidFill>
            <a:srgbClr val="EFE3C6">
              <a:alpha val="93000"/>
            </a:srgbClr>
          </a:solidFill>
          <a:ln w="9525">
            <a:solidFill>
              <a:srgbClr val="6B4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697" tIns="23614" rIns="82697" bIns="23614" rtlCol="0" anchor="ctr"/>
          <a:lstStyle/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AWS: </a:t>
            </a:r>
            <a:r>
              <a:rPr sz="1000" b="0">
                <a:solidFill>
                  <a:srgbClr val="2B2016"/>
                </a:solidFill>
                <a:latin typeface="Arial"/>
              </a:rPr>
              <a:t>CloudWatch, X-Ray, Managed Grafana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Azure: </a:t>
            </a:r>
            <a:r>
              <a:rPr sz="1000" b="0">
                <a:solidFill>
                  <a:srgbClr val="2B2016"/>
                </a:solidFill>
                <a:latin typeface="Arial"/>
              </a:rPr>
              <a:t>Azure Monitor, Application Insights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GCP: </a:t>
            </a:r>
            <a:r>
              <a:rPr sz="1000" b="0">
                <a:solidFill>
                  <a:srgbClr val="2B2016"/>
                </a:solidFill>
                <a:latin typeface="Arial"/>
              </a:rPr>
              <a:t>Cloud Monitoring, Logging, Trace</a:t>
            </a:r>
          </a:p>
        </p:txBody>
      </p:sp>
      <p:sp>
        <p:nvSpPr>
          <p:cNvPr id="14" name="Herramientas 3"/>
          <p:cNvSpPr/>
          <p:nvPr/>
        </p:nvSpPr>
        <p:spPr>
          <a:xfrm>
            <a:off x="1181395" y="4997053"/>
            <a:ext cx="3284279" cy="637579"/>
          </a:xfrm>
          <a:prstGeom prst="roundRect">
            <a:avLst>
              <a:gd name="adj" fmla="val 12000"/>
            </a:avLst>
          </a:prstGeom>
          <a:solidFill>
            <a:srgbClr val="EFE3C6">
              <a:alpha val="93000"/>
            </a:srgbClr>
          </a:solidFill>
          <a:ln w="9525">
            <a:solidFill>
              <a:srgbClr val="6B4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697" tIns="23614" rIns="82697" bIns="23614" rtlCol="0" anchor="ctr"/>
          <a:lstStyle/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AWS: </a:t>
            </a:r>
            <a:r>
              <a:rPr sz="1000" b="0">
                <a:solidFill>
                  <a:srgbClr val="2B2016"/>
                </a:solidFill>
                <a:latin typeface="Arial"/>
              </a:rPr>
              <a:t>S3 CRR, Aurora Global, DynamoDB Global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Azure: </a:t>
            </a:r>
            <a:r>
              <a:rPr sz="1000" b="0">
                <a:solidFill>
                  <a:srgbClr val="2B2016"/>
                </a:solidFill>
                <a:latin typeface="Arial"/>
              </a:rPr>
              <a:t>Storage GRS, Cosmos DB multirregión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GCP: </a:t>
            </a:r>
            <a:r>
              <a:rPr sz="1000" b="0">
                <a:solidFill>
                  <a:srgbClr val="2B2016"/>
                </a:solidFill>
                <a:latin typeface="Arial"/>
              </a:rPr>
              <a:t>Spanner y Cloud Storage multirregión</a:t>
            </a:r>
          </a:p>
        </p:txBody>
      </p:sp>
      <p:sp>
        <p:nvSpPr>
          <p:cNvPr id="15" name="Herramientas 4"/>
          <p:cNvSpPr/>
          <p:nvPr/>
        </p:nvSpPr>
        <p:spPr>
          <a:xfrm>
            <a:off x="12026604" y="5044281"/>
            <a:ext cx="3284279" cy="637579"/>
          </a:xfrm>
          <a:prstGeom prst="roundRect">
            <a:avLst>
              <a:gd name="adj" fmla="val 12000"/>
            </a:avLst>
          </a:prstGeom>
          <a:solidFill>
            <a:srgbClr val="EFE3C6">
              <a:alpha val="93000"/>
            </a:srgbClr>
          </a:solidFill>
          <a:ln w="9525">
            <a:solidFill>
              <a:srgbClr val="6B4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697" tIns="23614" rIns="82697" bIns="23614" rtlCol="0" anchor="ctr"/>
          <a:lstStyle/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AWS: </a:t>
            </a:r>
            <a:r>
              <a:rPr sz="1000" b="0">
                <a:solidFill>
                  <a:srgbClr val="2B2016"/>
                </a:solidFill>
                <a:latin typeface="Arial"/>
              </a:rPr>
              <a:t>Route 53 failover, CloudFront, Resilience Hub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Azure: </a:t>
            </a:r>
            <a:r>
              <a:rPr sz="1000" b="0">
                <a:solidFill>
                  <a:srgbClr val="2B2016"/>
                </a:solidFill>
                <a:latin typeface="Arial"/>
              </a:rPr>
              <a:t>Front Door, Traffic Manager, Chaos Studio</a:t>
            </a:r>
          </a:p>
          <a:p>
            <a:pPr algn="l">
              <a:lnSpc>
                <a:spcPts val="1250"/>
              </a:lnSpc>
            </a:pPr>
            <a:r>
              <a:rPr sz="1000" b="1">
                <a:solidFill>
                  <a:srgbClr val="2B2016"/>
                </a:solidFill>
                <a:latin typeface="Arial"/>
              </a:rPr>
              <a:t>GCP: </a:t>
            </a:r>
            <a:r>
              <a:rPr sz="1000" b="0">
                <a:solidFill>
                  <a:srgbClr val="2B2016"/>
                </a:solidFill>
                <a:latin typeface="Arial"/>
              </a:rPr>
              <a:t>Cloud Load Balancing, CDN, Service Mesh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2" descr="Ilustración de fondo de la diapositiva 12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510381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200" b="0" i="0">
                <a:solidFill>
                  <a:srgbClr val="2B2016"/>
                </a:solidFill>
                <a:latin typeface="Georgia"/>
              </a:rPr>
              <a:t>El Mapa Completo: El Bucle Virtuoso SRE</a:t>
            </a:r>
          </a:p>
        </p:txBody>
      </p:sp>
      <p:sp>
        <p:nvSpPr>
          <p:cNvPr id="4" name="Texto 2"/>
          <p:cNvSpPr txBox="1"/>
          <p:nvPr/>
        </p:nvSpPr>
        <p:spPr>
          <a:xfrm>
            <a:off x="886046" y="2623839"/>
            <a:ext cx="3544186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1950" b="1" i="0">
                <a:solidFill>
                  <a:srgbClr val="2B2016"/>
                </a:solidFill>
                <a:latin typeface="Georgia"/>
              </a:rPr>
              <a:t>5. Velocidad de Entrega</a:t>
            </a:r>
          </a:p>
        </p:txBody>
      </p:sp>
      <p:sp>
        <p:nvSpPr>
          <p:cNvPr id="5" name="Texto 3"/>
          <p:cNvSpPr txBox="1"/>
          <p:nvPr/>
        </p:nvSpPr>
        <p:spPr>
          <a:xfrm>
            <a:off x="1240465" y="3358827"/>
            <a:ext cx="2835348" cy="104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100" b="0" i="0">
                <a:solidFill>
                  <a:srgbClr val="2B2016"/>
                </a:solidFill>
                <a:latin typeface="Georgia"/>
              </a:rPr>
              <a:t>Con HP disponible, los desarrolladores despliegan más rápido.</a:t>
            </a:r>
          </a:p>
        </p:txBody>
      </p:sp>
      <p:sp>
        <p:nvSpPr>
          <p:cNvPr id="6" name="Texto 4"/>
          <p:cNvSpPr txBox="1"/>
          <p:nvPr/>
        </p:nvSpPr>
        <p:spPr>
          <a:xfrm>
            <a:off x="11908465" y="2623839"/>
            <a:ext cx="3544186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1950" b="1" i="0" dirty="0">
                <a:solidFill>
                  <a:srgbClr val="2B2016"/>
                </a:solidFill>
                <a:latin typeface="Georgia"/>
              </a:rPr>
              <a:t>2. </a:t>
            </a:r>
            <a:r>
              <a:rPr sz="1950" b="1" i="0" dirty="0" err="1">
                <a:solidFill>
                  <a:srgbClr val="2B2016"/>
                </a:solidFill>
                <a:latin typeface="Georgia"/>
              </a:rPr>
              <a:t>Liberar</a:t>
            </a:r>
            <a:r>
              <a:rPr sz="1950" b="1" i="0" dirty="0">
                <a:solidFill>
                  <a:srgbClr val="2B2016"/>
                </a:solidFill>
                <a:latin typeface="Georgia"/>
              </a:rPr>
              <a:t> Tiempo</a:t>
            </a:r>
          </a:p>
        </p:txBody>
      </p:sp>
      <p:sp>
        <p:nvSpPr>
          <p:cNvPr id="7" name="Texto 5"/>
          <p:cNvSpPr txBox="1"/>
          <p:nvPr/>
        </p:nvSpPr>
        <p:spPr>
          <a:xfrm>
            <a:off x="12262883" y="3382441"/>
            <a:ext cx="2835348" cy="104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100" b="0" i="0">
                <a:solidFill>
                  <a:srgbClr val="2B2016"/>
                </a:solidFill>
                <a:latin typeface="Georgia"/>
              </a:rPr>
              <a:t>Los SREs se enfocan mínimo al 50% en arquitectura.</a:t>
            </a:r>
          </a:p>
        </p:txBody>
      </p:sp>
      <p:sp>
        <p:nvSpPr>
          <p:cNvPr id="8" name="Texto 6"/>
          <p:cNvSpPr txBox="1"/>
          <p:nvPr/>
        </p:nvSpPr>
        <p:spPr>
          <a:xfrm>
            <a:off x="886046" y="5988843"/>
            <a:ext cx="3544186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2000" b="1" i="0">
                <a:solidFill>
                  <a:srgbClr val="2B2016"/>
                </a:solidFill>
                <a:latin typeface="Georgia"/>
              </a:rPr>
              <a:t>4. Preservar Presupuesto</a:t>
            </a:r>
          </a:p>
        </p:txBody>
      </p:sp>
      <p:sp>
        <p:nvSpPr>
          <p:cNvPr id="9" name="Texto 7"/>
          <p:cNvSpPr txBox="1"/>
          <p:nvPr/>
        </p:nvSpPr>
        <p:spPr>
          <a:xfrm>
            <a:off x="1240465" y="6924550"/>
            <a:ext cx="2835348" cy="104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100" b="0" i="0">
                <a:solidFill>
                  <a:srgbClr val="2B2016"/>
                </a:solidFill>
                <a:latin typeface="Georgia"/>
              </a:rPr>
              <a:t>Los SLIs se mantienen dentro de los SLOs (HP intacto).</a:t>
            </a:r>
          </a:p>
        </p:txBody>
      </p:sp>
      <p:sp>
        <p:nvSpPr>
          <p:cNvPr id="10" name="Texto 8"/>
          <p:cNvSpPr txBox="1"/>
          <p:nvPr/>
        </p:nvSpPr>
        <p:spPr>
          <a:xfrm>
            <a:off x="11908465" y="5988843"/>
            <a:ext cx="3544186" cy="4486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sz="1950" b="1" i="0">
                <a:solidFill>
                  <a:srgbClr val="2B2016"/>
                </a:solidFill>
                <a:latin typeface="Georgia"/>
              </a:rPr>
              <a:t>3. Sistemas Resilientes</a:t>
            </a:r>
          </a:p>
        </p:txBody>
      </p:sp>
      <p:sp>
        <p:nvSpPr>
          <p:cNvPr id="11" name="Texto 9"/>
          <p:cNvSpPr txBox="1"/>
          <p:nvPr/>
        </p:nvSpPr>
        <p:spPr>
          <a:xfrm>
            <a:off x="12262883" y="6912743"/>
            <a:ext cx="2835348" cy="720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8"/>
              </a:lnSpc>
            </a:pPr>
            <a:r>
              <a:rPr sz="2100" b="0" i="0">
                <a:solidFill>
                  <a:srgbClr val="2B2016"/>
                </a:solidFill>
                <a:latin typeface="Georgia"/>
              </a:rPr>
              <a:t>La infraestructura soporta mejor la carga.</a:t>
            </a:r>
          </a:p>
        </p:txBody>
      </p:sp>
      <p:sp>
        <p:nvSpPr>
          <p:cNvPr id="12" name="Texto 10"/>
          <p:cNvSpPr txBox="1"/>
          <p:nvPr/>
        </p:nvSpPr>
        <p:spPr>
          <a:xfrm>
            <a:off x="5906976" y="4489350"/>
            <a:ext cx="4489302" cy="129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7"/>
              </a:lnSpc>
            </a:pPr>
            <a:r>
              <a:rPr sz="3900" b="1" i="0">
                <a:solidFill>
                  <a:srgbClr val="2B1E10"/>
                </a:solidFill>
                <a:latin typeface="Georgia"/>
              </a:rPr>
              <a:t>INNOVACIÓN</a:t>
            </a:r>
          </a:p>
          <a:p>
            <a:pPr algn="ctr">
              <a:lnSpc>
                <a:spcPts val="4837"/>
              </a:lnSpc>
            </a:pPr>
            <a:r>
              <a:rPr sz="3900" b="1" i="0">
                <a:solidFill>
                  <a:srgbClr val="2B1E10"/>
                </a:solidFill>
                <a:latin typeface="Georgia"/>
              </a:rPr>
              <a:t>SOSTENIBLE</a:t>
            </a:r>
          </a:p>
        </p:txBody>
      </p:sp>
      <p:sp>
        <p:nvSpPr>
          <p:cNvPr id="13" name="Texto 4">
            <a:extLst>
              <a:ext uri="{FF2B5EF4-FFF2-40B4-BE49-F238E27FC236}">
                <a16:creationId xmlns:a16="http://schemas.microsoft.com/office/drawing/2014/main" id="{3EF7A45A-70E0-5CD1-6C40-5597E3E3268C}"/>
              </a:ext>
            </a:extLst>
          </p:cNvPr>
          <p:cNvSpPr txBox="1"/>
          <p:nvPr/>
        </p:nvSpPr>
        <p:spPr>
          <a:xfrm>
            <a:off x="8128000" y="1413618"/>
            <a:ext cx="3544186" cy="346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1950" b="1" i="0" dirty="0">
                <a:solidFill>
                  <a:srgbClr val="2B2016"/>
                </a:solidFill>
                <a:latin typeface="Georgia"/>
              </a:rPr>
              <a:t>1</a:t>
            </a:r>
            <a:r>
              <a:rPr sz="1950" b="1" i="0" dirty="0">
                <a:solidFill>
                  <a:srgbClr val="2B2016"/>
                </a:solidFill>
                <a:latin typeface="Georgia"/>
              </a:rPr>
              <a:t>. </a:t>
            </a:r>
            <a:r>
              <a:rPr lang="en-US" sz="1950" b="1" i="0" dirty="0" err="1">
                <a:solidFill>
                  <a:srgbClr val="2B2016"/>
                </a:solidFill>
                <a:latin typeface="Georgia"/>
              </a:rPr>
              <a:t>Automatizar</a:t>
            </a:r>
            <a:endParaRPr sz="1950" b="1" i="0" dirty="0">
              <a:solidFill>
                <a:srgbClr val="2B2016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ustración 13" descr="Ilustración de fondo de la diapositiva 13 (sin texto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o 1"/>
          <p:cNvSpPr txBox="1"/>
          <p:nvPr/>
        </p:nvSpPr>
        <p:spPr>
          <a:xfrm>
            <a:off x="3544186" y="498574"/>
            <a:ext cx="9167627" cy="590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sz="3550" b="0" i="0">
                <a:solidFill>
                  <a:srgbClr val="2B2016"/>
                </a:solidFill>
                <a:latin typeface="Georgia"/>
              </a:rPr>
              <a:t>Prepara tus Dados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3898604" y="1868189"/>
            <a:ext cx="3780465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2100" b="1" i="0">
                <a:solidFill>
                  <a:srgbClr val="2B2016"/>
                </a:solidFill>
                <a:latin typeface="Georgia"/>
              </a:rPr>
              <a:t>Paso 1: Mide tu Toil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4134883" y="2582515"/>
            <a:ext cx="3485116" cy="956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750" b="0" i="0">
                <a:solidFill>
                  <a:srgbClr val="2B2016"/>
                </a:solidFill>
                <a:latin typeface="Georgia"/>
              </a:rPr>
              <a:t>Identifica esa tarea manual recurrente y audita cuánto tiempo drena de tu equipo esta semana.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143255" y="3769121"/>
            <a:ext cx="4134883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900" b="1" i="0">
                <a:solidFill>
                  <a:srgbClr val="2B2016"/>
                </a:solidFill>
                <a:latin typeface="Georgia"/>
              </a:rPr>
              <a:t>Paso 2: Escribe tu primer SLO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6438604" y="4406701"/>
            <a:ext cx="3662325" cy="991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18"/>
              </a:lnSpc>
            </a:pPr>
            <a:r>
              <a:rPr sz="1950" b="0" i="0">
                <a:solidFill>
                  <a:srgbClr val="2B2016"/>
                </a:solidFill>
                <a:latin typeface="Georgia"/>
              </a:rPr>
              <a:t>Elige el flujo más crítico para el usuario (ej. el login) y establece una meta realista (ej. 99%).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9214883" y="5422106"/>
            <a:ext cx="4253023" cy="472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62"/>
              </a:lnSpc>
            </a:pPr>
            <a:r>
              <a:rPr sz="1850" b="1" i="0">
                <a:solidFill>
                  <a:srgbClr val="2B2016"/>
                </a:solidFill>
                <a:latin typeface="Georgia"/>
              </a:rPr>
              <a:t>Paso 3: Automatiza una defensa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9333023" y="6068541"/>
            <a:ext cx="4016744" cy="938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750" b="0" i="0">
                <a:solidFill>
                  <a:srgbClr val="2B2016"/>
                </a:solidFill>
                <a:latin typeface="Georgia"/>
              </a:rPr>
              <a:t>Asigna a un ingeniero para reemplazar un script manual por un pipeline completamente automatizado.</a:t>
            </a:r>
          </a:p>
        </p:txBody>
      </p:sp>
      <p:sp>
        <p:nvSpPr>
          <p:cNvPr id="10" name="Texto 10"/>
          <p:cNvSpPr txBox="1"/>
          <p:nvPr/>
        </p:nvSpPr>
        <p:spPr>
          <a:xfrm>
            <a:off x="3071627" y="7700863"/>
            <a:ext cx="10100930" cy="1062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6"/>
              </a:lnSpc>
            </a:pPr>
            <a:r>
              <a:rPr sz="3350" b="0" i="0">
                <a:solidFill>
                  <a:srgbClr val="F6E6BC"/>
                </a:solidFill>
                <a:latin typeface="Georgia"/>
              </a:rPr>
              <a:t>Tu infraestructura es ahora un problema de código.</a:t>
            </a:r>
          </a:p>
          <a:p>
            <a:pPr algn="ctr">
              <a:lnSpc>
                <a:spcPts val="3906"/>
              </a:lnSpc>
            </a:pPr>
            <a:r>
              <a:rPr sz="3350" b="0" i="0">
                <a:solidFill>
                  <a:srgbClr val="F6E6BC"/>
                </a:solidFill>
                <a:latin typeface="Georgia"/>
              </a:rPr>
              <a:t>Juega inteligentemente.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3023</Words>
  <Application>Microsoft Macintosh PowerPoint</Application>
  <PresentationFormat>Custom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Fabricio Perez Rojas</cp:lastModifiedBy>
  <cp:revision>22</cp:revision>
  <dcterms:created xsi:type="dcterms:W3CDTF">2006-08-16T00:00:00Z</dcterms:created>
  <dcterms:modified xsi:type="dcterms:W3CDTF">2026-10-28T05:02:00Z</dcterms:modified>
</cp:coreProperties>
</file>